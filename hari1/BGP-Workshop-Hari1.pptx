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152638"/>
          </a:solidFill>
          <a:ln w="12700">
            <a:solidFill>
              <a:srgbClr val="15263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411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BGP untuk Kampus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365760" y="214884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 1 — ContainerLab &amp; eBGP Fundamentals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446227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27D98"/>
                </a:solidFill>
              </a:rPr>
              <a:t>13.00 – 17.00  |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 Juni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526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 1  •  13.30 – 14.00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Pengenalan ContainerLab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22402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27D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lab kita hari ini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 itu ContainerLab?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768096"/>
            <a:ext cx="83210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914400"/>
            <a:ext cx="45720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untuk deploy topologi jaringan berbasis container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Topologi dideskripsikan di file .clab.yml — berapa router, IP apa, link mana ke mana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ContainerLab otomatis deploy container Docker &amp; sambungkan network-nya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FRRouting (FRR): routing daemon open-source, syntax vtysh mirip Cisco IOS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394960" y="960120"/>
            <a:ext cx="3383280" cy="749808"/>
          </a:xfrm>
          <a:prstGeom prst="rect">
            <a:avLst/>
          </a:prstGeom>
          <a:solidFill>
            <a:srgbClr val="0F1D2E"/>
          </a:solidFill>
          <a:ln w="12700">
            <a:solidFill>
              <a:srgbClr val="0F1D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94960" y="100584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lab.clab.yml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394960" y="13716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27D98"/>
                </a:solidFill>
              </a:rPr>
              <a:t>definisi topologi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086600" y="1709928"/>
            <a:ext cx="0" cy="512064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94960" y="2011680"/>
            <a:ext cx="3383280" cy="749808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94960" y="205740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D2E"/>
                </a:solidFill>
              </a:rPr>
              <a:t>ContainerLab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394960" y="24231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1D2E"/>
                </a:solidFill>
              </a:rPr>
              <a:t>deploy &amp; wire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086600" y="2761488"/>
            <a:ext cx="0" cy="512064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94960" y="3063240"/>
            <a:ext cx="3383280" cy="749808"/>
          </a:xfrm>
          <a:prstGeom prst="rect">
            <a:avLst/>
          </a:prstGeom>
          <a:solidFill>
            <a:srgbClr val="0F1D2E"/>
          </a:solidFill>
          <a:ln w="12700">
            <a:solidFill>
              <a:srgbClr val="0F1D2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94960" y="310896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FRR Containers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394960" y="34747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27D98"/>
                </a:solidFill>
              </a:rPr>
              <a:t>router virtual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Struktur File Topologi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768096"/>
            <a:ext cx="83210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868680"/>
            <a:ext cx="4572000" cy="3931920"/>
          </a:xfrm>
          <a:prstGeom prst="rect">
            <a:avLst/>
          </a:prstGeom>
          <a:solidFill>
            <a:srgbClr val="1B2B3D"/>
          </a:solidFill>
          <a:ln w="12700">
            <a:solidFill>
              <a:srgbClr val="1B2B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960120"/>
            <a:ext cx="429768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lab01-ebgp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topology: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nodes: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umm-border: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kind: linux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image: frrouting/frr:latest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idren-pop: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kind: linux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image: frrouting/frr:latest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links: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 endpoints: ["umm-border:eth1", "idren-pop:eth1"]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212080" y="1133856"/>
            <a:ext cx="91440" cy="5029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94960" y="114300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9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nodes: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394960" y="1399032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daftar router/host — tiap node = satu container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212080" y="2276856"/>
            <a:ext cx="91440" cy="5029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94960" y="228600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9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links: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394960" y="2542032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koneksi antar node — tiap link = virtual eth pair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212080" y="3374136"/>
            <a:ext cx="91440" cy="5029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94960" y="338328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9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kind + image: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394960" y="3639312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FRR siap routing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Perintah Dasar ContainerLab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768096"/>
            <a:ext cx="83210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896112"/>
          <a:ext cx="8321040" cy="3291840"/>
        </p:xfrm>
        <a:graphic>
          <a:graphicData uri="http://schemas.openxmlformats.org/drawingml/2006/table">
            <a:tbl>
              <a:tblPr/>
              <a:tblGrid>
                <a:gridCol w="4754880"/>
                <a:gridCol w="356616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Perintah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Fungsi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94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containerlab deploy -t lab.clab.yml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9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 topologi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2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94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containerlab destroy -t lab.clab.yml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9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Hapus semua container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94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containerlab inspect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9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Lihat status container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2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94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docker exec -it clab-&lt;lab&gt;-&lt;node&gt; bash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9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Masuk ke container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94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docker exec -it clab-&lt;lab&gt;-&lt;node&gt; vtysh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9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Masuk langsung ke FRR shell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2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11480" y="4315968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Semua perintah dijalankan di terminal Ubuntu VM — bukan PowerShell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Deploy &amp; Masuk ke Router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768096"/>
            <a:ext cx="83210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886968"/>
            <a:ext cx="2286000" cy="3840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8869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D2E"/>
                </a:solidFill>
              </a:rPr>
              <a:t>▶  DEMO LIVE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417320"/>
            <a:ext cx="8321040" cy="2286000"/>
          </a:xfrm>
          <a:prstGeom prst="rect">
            <a:avLst/>
          </a:prstGeom>
          <a:solidFill>
            <a:srgbClr val="1B2B3D"/>
          </a:solidFill>
          <a:ln w="12700">
            <a:solidFill>
              <a:srgbClr val="1B2B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508760"/>
            <a:ext cx="8046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~/lab01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containerlab deploy -t lab01.clab.yml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exec -it clab-lab01-ebgp-umm-border bash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ping 100.64.0.1 -c 3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vtysh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 version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11480" y="3822192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Perlihatkan output table dari containerlab deploy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Tunjukkan bedanya bash vs langsung vtysh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Konfirmasi semua peserta bisa melihat output yang sama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vtysh — Mode &amp; Perintah Dasar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768096"/>
            <a:ext cx="83210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886968"/>
            <a:ext cx="8321040" cy="2331720"/>
          </a:xfrm>
          <a:prstGeom prst="rect">
            <a:avLst/>
          </a:prstGeom>
          <a:solidFill>
            <a:srgbClr val="1B2B3D"/>
          </a:solidFill>
          <a:ln w="12700">
            <a:solidFill>
              <a:srgbClr val="1B2B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978408"/>
            <a:ext cx="80467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router#                     ← privileged mode (default)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router# configure terminal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router(config)#             ← global config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router(config)# router bgp 65010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router(config-router)#      ← router config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router(config-router)# end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router# write memory        ← simpan ke frr.conf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11480" y="3383280"/>
            <a:ext cx="1554480" cy="329184"/>
          </a:xfrm>
          <a:prstGeom prst="rect">
            <a:avLst/>
          </a:prstGeom>
          <a:solidFill>
            <a:srgbClr val="0F1D2E"/>
          </a:solidFill>
          <a:ln w="12700">
            <a:solidFill>
              <a:srgbClr val="0F1D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338328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D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057400" y="3419856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setiap mode: tampilkan perintah tersedia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11480" y="3813048"/>
            <a:ext cx="1554480" cy="329184"/>
          </a:xfrm>
          <a:prstGeom prst="rect">
            <a:avLst/>
          </a:prstGeom>
          <a:solidFill>
            <a:srgbClr val="0F1D2E"/>
          </a:solidFill>
          <a:ln w="12700">
            <a:solidFill>
              <a:srgbClr val="0F1D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381304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D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057400" y="384962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kembali ke privileged mode dari manapun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11480" y="4242816"/>
            <a:ext cx="1554480" cy="329184"/>
          </a:xfrm>
          <a:prstGeom prst="rect">
            <a:avLst/>
          </a:prstGeom>
          <a:solidFill>
            <a:srgbClr val="0F1D2E"/>
          </a:solidFill>
          <a:ln w="12700">
            <a:solidFill>
              <a:srgbClr val="0F1D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4242816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D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 memory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057400" y="4279392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simpan konfigurasi — wajib sebelum destroy lab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11480" y="4672584"/>
            <a:ext cx="1554480" cy="329184"/>
          </a:xfrm>
          <a:prstGeom prst="rect">
            <a:avLst/>
          </a:prstGeom>
          <a:solidFill>
            <a:srgbClr val="0F1D2E"/>
          </a:solidFill>
          <a:ln w="12700">
            <a:solidFill>
              <a:srgbClr val="0F1D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467258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D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/ Ctrl+D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057400" y="470916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keluar satu level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526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 2  •  14.00 – 15.00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BGP Fundamentals &amp; Use Case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22402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27D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Kenapa kita butuh BGP?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Skenario: Masalah Tanpa BGP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768096"/>
            <a:ext cx="83210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566160" y="914400"/>
            <a:ext cx="2011680" cy="640080"/>
          </a:xfrm>
          <a:prstGeom prst="rect">
            <a:avLst/>
          </a:prstGeom>
          <a:solidFill>
            <a:srgbClr val="0F1D2E"/>
          </a:solidFill>
          <a:ln w="12700">
            <a:solidFill>
              <a:srgbClr val="0F1D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66160" y="9144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UMM Campus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65760" y="3108960"/>
            <a:ext cx="1645920" cy="5486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31089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IDREN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566160" y="3108960"/>
            <a:ext cx="2011680" cy="548640"/>
          </a:xfrm>
          <a:prstGeom prst="rect">
            <a:avLst/>
          </a:prstGeom>
          <a:solidFill>
            <a:srgbClr val="334E68"/>
          </a:solidFill>
          <a:ln w="12700">
            <a:solidFill>
              <a:srgbClr val="334E6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66160" y="31089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ISP Komersial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132320" y="3108960"/>
            <a:ext cx="1645920" cy="548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0" y="31089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IIX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0" y="1554480"/>
            <a:ext cx="-3383280" cy="1554480"/>
          </a:xfrm>
          <a:prstGeom prst="line">
            <a:avLst/>
          </a:prstGeom>
          <a:noFill/>
          <a:ln w="19050">
            <a:solidFill>
              <a:srgbClr val="CBD5E1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4572000" y="1554480"/>
            <a:ext cx="0" cy="1554480"/>
          </a:xfrm>
          <a:prstGeom prst="line">
            <a:avLst/>
          </a:prstGeom>
          <a:noFill/>
          <a:ln w="19050">
            <a:solidFill>
              <a:srgbClr val="CBD5E1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4572000" y="1554480"/>
            <a:ext cx="3383280" cy="1554480"/>
          </a:xfrm>
          <a:prstGeom prst="line">
            <a:avLst/>
          </a:prstGeom>
          <a:noFill/>
          <a:ln w="19050">
            <a:solidFill>
              <a:srgbClr val="CBD5E1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3383280" y="224028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F4444"/>
                </a:solidFill>
              </a:rPr>
              <a:t>Static Route?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11480" y="388620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Jika IDREN down → tidak ada failover otomatis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 bisa kontrol mana traffic ke IDREN, mana ke ISP komersial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 bisa iklankan prefix UMM ke ketiga upstream sekaligus secara dinamis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Tiga Upstream UMM, Tiga Peran Berbeda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768096"/>
            <a:ext cx="83210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886968"/>
          <a:ext cx="8321040" cy="2560320"/>
        </p:xfrm>
        <a:graphic>
          <a:graphicData uri="http://schemas.openxmlformats.org/drawingml/2006/table">
            <a:tbl>
              <a:tblPr/>
              <a:tblGrid>
                <a:gridCol w="2286000"/>
                <a:gridCol w="2743200"/>
                <a:gridCol w="3291840"/>
              </a:tblGrid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Upstream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Fungsi Utama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Contoh Traffic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2E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9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IDREN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9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Riset &amp; pendidikan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9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SINTA, e-journal, eduroam, antar kampus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2F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9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ISP Komersial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9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Internet umum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9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Google, YouTube, cloud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9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IIX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9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Peering lokal Indonesia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9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Telkom, e-commerce, media lokal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2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11480" y="365760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BGP memungkinkan kita memilih path per-tujuan → traffic engineering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11480" y="4133088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ke SINTA → lewat IDREN (lebih dekat, lebih cepat)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Netflix/AWS → ISP komersial | Traffic Tokopedia → IIX (latency lebih rendah)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BGP: Apa itu?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768096"/>
            <a:ext cx="83210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886968"/>
            <a:ext cx="4572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 Gateway Protocol — RFC 4271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Exterior Gateway Protocol (EGP) — dirancang untuk routing antar Autonomous System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vector protocol — keputusan routing berdasarkan atribut path (AS-path, local-pref, MED), bukan metrik tunggal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BGP tidak menggantikan OSPF di dalam kampus — keduanya jalan bersamaan, peran berbeda</a:t>
            </a:r>
            <a:endParaRPr lang="en-US" sz="13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886968"/>
          <a:ext cx="3931920" cy="30175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371600"/>
              </a:tblGrid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IGP (OSPF)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BGP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2E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9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9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Dalam satu 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9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Antar 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2F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9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9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9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 attributes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9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Konvergensi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9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Detik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9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Menit (by design)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2F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9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Neighbor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9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Otomatis (hello)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9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 — konfigurasi eksplisit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System (AS) &amp; Peer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768096"/>
            <a:ext cx="83210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886968"/>
            <a:ext cx="50292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= kumpulan jaringan di bawah satu administrasi dengan kebijakan routing konsisten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Setiap AS punya ASN unik secara global — dikeluarkan APNIC untuk Asia-Pasifik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ASN private (boleh di lab): 64512 – 65534 → kita pakai range ini di workshop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ASN public: harus dapat dari APNIC / IDNIC — tidak boleh digunakan sembarangan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= router di AS lain yang kita buat BGP session — dikonfigurasi manual (neighbor)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577840" y="886968"/>
            <a:ext cx="3200400" cy="1234440"/>
          </a:xfrm>
          <a:prstGeom prst="rect">
            <a:avLst/>
          </a:prstGeom>
          <a:solidFill>
            <a:srgbClr val="0F1D2E"/>
          </a:solidFill>
          <a:ln w="12700">
            <a:solidFill>
              <a:srgbClr val="0F1D2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577840" y="97840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UMM Border Router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577840" y="1307592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D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 65010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577840" y="17099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>
                    <a:alpha val="6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100.64.0.2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577840" y="2304288"/>
            <a:ext cx="3200400" cy="12344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577840" y="239572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IDREN PoP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577840" y="2724912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D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 65000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577840" y="31272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>
                    <a:alpha val="6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100.64.0.1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178040" y="2121408"/>
            <a:ext cx="0" cy="329184"/>
          </a:xfrm>
          <a:prstGeom prst="line">
            <a:avLst/>
          </a:prstGeom>
          <a:noFill/>
          <a:ln w="12700">
            <a:solidFill>
              <a:srgbClr val="627D9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26480" y="224028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27D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Topologi BGP di Jaringan UMM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768096"/>
            <a:ext cx="83210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886968"/>
            <a:ext cx="8321040" cy="1920240"/>
          </a:xfrm>
          <a:prstGeom prst="rect">
            <a:avLst/>
          </a:prstGeom>
          <a:solidFill>
            <a:srgbClr val="E1F5EE"/>
          </a:solidFill>
          <a:ln w="12700">
            <a:solidFill>
              <a:srgbClr val="0F6E5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932688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Jaringan Kampus UMM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65010  ·  prefix 100.68.1.0/24  ·  ASN &amp; IP dari APNIC / IDNIC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691640" y="1572768"/>
            <a:ext cx="1737360" cy="804672"/>
          </a:xfrm>
          <a:prstGeom prst="rect">
            <a:avLst/>
          </a:prstGeom>
          <a:solidFill>
            <a:srgbClr val="0F6E56"/>
          </a:solidFill>
          <a:ln w="12700">
            <a:solidFill>
              <a:srgbClr val="0F6E5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691640" y="163677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switch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691640" y="202082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8D8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OSPF internal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715000" y="1572768"/>
            <a:ext cx="1737360" cy="804672"/>
          </a:xfrm>
          <a:prstGeom prst="rect">
            <a:avLst/>
          </a:prstGeom>
          <a:solidFill>
            <a:srgbClr val="0F6E56"/>
          </a:solidFill>
          <a:ln w="25400">
            <a:solidFill>
              <a:srgbClr val="00D4A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15000" y="163677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 router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715000" y="202082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8D8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FRRouting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429000" y="1975104"/>
            <a:ext cx="2286000" cy="0"/>
          </a:xfrm>
          <a:prstGeom prst="line">
            <a:avLst/>
          </a:prstGeom>
          <a:noFill/>
          <a:ln w="19050">
            <a:solidFill>
              <a:srgbClr val="00D4A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023360" y="182880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OSPF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583680" y="2377440"/>
            <a:ext cx="0" cy="384048"/>
          </a:xfrm>
          <a:prstGeom prst="line">
            <a:avLst/>
          </a:prstGeom>
          <a:noFill/>
          <a:ln w="19050">
            <a:solidFill>
              <a:srgbClr val="5F5E5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83680" y="2761488"/>
            <a:ext cx="-245174" cy="26403"/>
          </a:xfrm>
          <a:prstGeom prst="line">
            <a:avLst/>
          </a:prstGeom>
          <a:noFill/>
          <a:ln w="12700">
            <a:solidFill>
              <a:srgbClr val="5F5E5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92140" y="2857500"/>
            <a:ext cx="-245174" cy="26403"/>
          </a:xfrm>
          <a:prstGeom prst="line">
            <a:avLst/>
          </a:prstGeom>
          <a:noFill/>
          <a:ln w="12700">
            <a:solidFill>
              <a:srgbClr val="5F5E5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00600" y="2953512"/>
            <a:ext cx="-245173" cy="26403"/>
          </a:xfrm>
          <a:prstGeom prst="line">
            <a:avLst/>
          </a:prstGeom>
          <a:noFill/>
          <a:ln w="12700">
            <a:solidFill>
              <a:srgbClr val="5F5E5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909060" y="3049524"/>
            <a:ext cx="-245173" cy="26403"/>
          </a:xfrm>
          <a:prstGeom prst="line">
            <a:avLst/>
          </a:prstGeom>
          <a:noFill/>
          <a:ln w="12700">
            <a:solidFill>
              <a:srgbClr val="5F5E5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17520" y="3145536"/>
            <a:ext cx="-245174" cy="26403"/>
          </a:xfrm>
          <a:prstGeom prst="line">
            <a:avLst/>
          </a:prstGeom>
          <a:noFill/>
          <a:ln w="12700">
            <a:solidFill>
              <a:srgbClr val="5F5E5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125980" y="3241548"/>
            <a:ext cx="-245174" cy="26403"/>
          </a:xfrm>
          <a:prstGeom prst="line">
            <a:avLst/>
          </a:prstGeom>
          <a:noFill/>
          <a:ln w="12700">
            <a:solidFill>
              <a:srgbClr val="5F5E5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83680" y="2761488"/>
            <a:ext cx="-92202" cy="26403"/>
          </a:xfrm>
          <a:prstGeom prst="line">
            <a:avLst/>
          </a:prstGeom>
          <a:noFill/>
          <a:ln w="12700">
            <a:solidFill>
              <a:srgbClr val="5F5E5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48400" y="2857500"/>
            <a:ext cx="-92202" cy="26403"/>
          </a:xfrm>
          <a:prstGeom prst="line">
            <a:avLst/>
          </a:prstGeom>
          <a:noFill/>
          <a:ln w="12700">
            <a:solidFill>
              <a:srgbClr val="5F5E5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13120" y="2953512"/>
            <a:ext cx="-92202" cy="26403"/>
          </a:xfrm>
          <a:prstGeom prst="line">
            <a:avLst/>
          </a:prstGeom>
          <a:noFill/>
          <a:ln w="12700">
            <a:solidFill>
              <a:srgbClr val="5F5E5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77840" y="3049524"/>
            <a:ext cx="-92202" cy="26403"/>
          </a:xfrm>
          <a:prstGeom prst="line">
            <a:avLst/>
          </a:prstGeom>
          <a:noFill/>
          <a:ln w="12700">
            <a:solidFill>
              <a:srgbClr val="5F5E5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42560" y="3145536"/>
            <a:ext cx="-92202" cy="26403"/>
          </a:xfrm>
          <a:prstGeom prst="line">
            <a:avLst/>
          </a:prstGeom>
          <a:noFill/>
          <a:ln w="12700">
            <a:solidFill>
              <a:srgbClr val="5F5E5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07280" y="3241548"/>
            <a:ext cx="-92202" cy="26403"/>
          </a:xfrm>
          <a:prstGeom prst="line">
            <a:avLst/>
          </a:prstGeom>
          <a:noFill/>
          <a:ln w="12700">
            <a:solidFill>
              <a:srgbClr val="5F5E5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583680" y="2761488"/>
            <a:ext cx="58674" cy="26403"/>
          </a:xfrm>
          <a:prstGeom prst="line">
            <a:avLst/>
          </a:prstGeom>
          <a:noFill/>
          <a:ln w="12700">
            <a:solidFill>
              <a:srgbClr val="5F5E5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97040" y="2857500"/>
            <a:ext cx="58674" cy="26403"/>
          </a:xfrm>
          <a:prstGeom prst="line">
            <a:avLst/>
          </a:prstGeom>
          <a:noFill/>
          <a:ln w="12700">
            <a:solidFill>
              <a:srgbClr val="5F5E5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10400" y="2953512"/>
            <a:ext cx="58674" cy="26403"/>
          </a:xfrm>
          <a:prstGeom prst="line">
            <a:avLst/>
          </a:prstGeom>
          <a:noFill/>
          <a:ln w="12700">
            <a:solidFill>
              <a:srgbClr val="5F5E5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223760" y="3049524"/>
            <a:ext cx="58674" cy="26403"/>
          </a:xfrm>
          <a:prstGeom prst="line">
            <a:avLst/>
          </a:prstGeom>
          <a:noFill/>
          <a:ln w="12700">
            <a:solidFill>
              <a:srgbClr val="5F5E5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437120" y="3145536"/>
            <a:ext cx="58674" cy="26403"/>
          </a:xfrm>
          <a:prstGeom prst="line">
            <a:avLst/>
          </a:prstGeom>
          <a:noFill/>
          <a:ln w="12700">
            <a:solidFill>
              <a:srgbClr val="5F5E5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650480" y="3241548"/>
            <a:ext cx="58674" cy="26403"/>
          </a:xfrm>
          <a:prstGeom prst="line">
            <a:avLst/>
          </a:prstGeom>
          <a:noFill/>
          <a:ln w="12700">
            <a:solidFill>
              <a:srgbClr val="5F5E5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00400" y="292608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eBGP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5577840" y="292608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eBGP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7269480" y="292608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eBGP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228600" y="3337560"/>
            <a:ext cx="2011680" cy="713232"/>
          </a:xfrm>
          <a:prstGeom prst="rect">
            <a:avLst/>
          </a:prstGeom>
          <a:solidFill>
            <a:srgbClr val="EEEDFE"/>
          </a:solidFill>
          <a:ln w="12700">
            <a:solidFill>
              <a:srgbClr val="3C348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28600" y="338328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IDREN PoP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228600" y="3703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C34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 65000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1234440" y="4050792"/>
            <a:ext cx="0" cy="164592"/>
          </a:xfrm>
          <a:prstGeom prst="line">
            <a:avLst/>
          </a:prstGeom>
          <a:noFill/>
          <a:ln w="6350">
            <a:solidFill>
              <a:srgbClr val="B4B2A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28600" y="4215384"/>
            <a:ext cx="2011680" cy="658368"/>
          </a:xfrm>
          <a:prstGeom prst="rect">
            <a:avLst/>
          </a:prstGeom>
          <a:solidFill>
            <a:srgbClr val="F7F5FF"/>
          </a:solidFill>
          <a:ln w="6350">
            <a:solidFill>
              <a:srgbClr val="B4B2A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28600" y="4242816"/>
            <a:ext cx="2011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SINTA, e-journal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eduroam, antar kampus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474720" y="3246120"/>
            <a:ext cx="2194560" cy="1645920"/>
          </a:xfrm>
          <a:prstGeom prst="rect">
            <a:avLst/>
          </a:prstGeom>
          <a:solidFill>
            <a:srgbClr val="FAEEDA"/>
          </a:solidFill>
          <a:ln w="12700">
            <a:solidFill>
              <a:srgbClr val="854F0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474720" y="329184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54F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ISP Komersial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3474720" y="360273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F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 internet global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3474720" y="385876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 clients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547872" y="4059936"/>
            <a:ext cx="630936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4B2A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547872" y="4059936"/>
            <a:ext cx="630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Rumahan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4251960" y="4059936"/>
            <a:ext cx="630936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4B2A9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251960" y="4059936"/>
            <a:ext cx="630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956048" y="4059936"/>
            <a:ext cx="630936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4B2A9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56048" y="4059936"/>
            <a:ext cx="630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Kampus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4572000" y="4608576"/>
            <a:ext cx="0" cy="128016"/>
          </a:xfrm>
          <a:prstGeom prst="line">
            <a:avLst/>
          </a:prstGeom>
          <a:noFill/>
          <a:ln w="6350">
            <a:solidFill>
              <a:srgbClr val="B4B2A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474720" y="4736592"/>
            <a:ext cx="2194560" cy="274320"/>
          </a:xfrm>
          <a:prstGeom prst="rect">
            <a:avLst/>
          </a:prstGeom>
          <a:solidFill>
            <a:srgbClr val="FFFBF0"/>
          </a:solidFill>
          <a:ln w="6350">
            <a:solidFill>
              <a:srgbClr val="B4B2A9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474720" y="4736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F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Google, YouTube, AWS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54F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&amp; traffic internasional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720840" y="3246120"/>
            <a:ext cx="2011680" cy="1691640"/>
          </a:xfrm>
          <a:prstGeom prst="rect">
            <a:avLst/>
          </a:prstGeom>
          <a:solidFill>
            <a:srgbClr val="FFF4F0"/>
          </a:solidFill>
          <a:ln w="12700">
            <a:solidFill>
              <a:srgbClr val="993C1D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720840" y="329184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Indonesia Internet Exchange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6720840" y="3511296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IIX</a:t>
            </a:r>
            <a:endParaRPr lang="en-US" sz="1400" dirty="0"/>
          </a:p>
        </p:txBody>
      </p:sp>
      <p:sp>
        <p:nvSpPr>
          <p:cNvPr id="60" name="Text 58"/>
          <p:cNvSpPr/>
          <p:nvPr/>
        </p:nvSpPr>
        <p:spPr>
          <a:xfrm>
            <a:off x="6720840" y="380390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Exchange point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6720840" y="4005072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ISP lokal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6793992" y="4187952"/>
            <a:ext cx="1865376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B4B2A9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793992" y="4187952"/>
            <a:ext cx="18653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Telkom / Indihome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793992" y="4425696"/>
            <a:ext cx="1865376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B4B2A9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793992" y="4425696"/>
            <a:ext cx="18653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Biznet / CBN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793992" y="4663440"/>
            <a:ext cx="1865376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B4B2A9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793992" y="4663440"/>
            <a:ext cx="18653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ISP lokal lainnya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726680" y="4901184"/>
            <a:ext cx="0" cy="73152"/>
          </a:xfrm>
          <a:prstGeom prst="line">
            <a:avLst/>
          </a:prstGeom>
          <a:noFill/>
          <a:ln w="6350">
            <a:solidFill>
              <a:srgbClr val="B4B2A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720840" y="4974336"/>
            <a:ext cx="2011680" cy="201168"/>
          </a:xfrm>
          <a:prstGeom prst="rect">
            <a:avLst/>
          </a:prstGeom>
          <a:solidFill>
            <a:srgbClr val="FFF4F0"/>
          </a:solidFill>
          <a:ln w="6350">
            <a:solidFill>
              <a:srgbClr val="B4B2A9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720840" y="497433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Detikcom · Kompas · Tokopedia · CDN lokal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eBGP vs iBGP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768096"/>
            <a:ext cx="83210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886968"/>
            <a:ext cx="3931920" cy="1828800"/>
          </a:xfrm>
          <a:prstGeom prst="rect">
            <a:avLst/>
          </a:prstGeom>
          <a:solidFill>
            <a:srgbClr val="0F1D2E"/>
          </a:solidFill>
          <a:ln w="12700">
            <a:solidFill>
              <a:srgbClr val="0F1D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00584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D4AA"/>
                </a:solidFill>
              </a:rPr>
              <a:t>eBGP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11480" y="155448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</a:rPr>
              <a:t>BGP antar AS berbeda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11480" y="196596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27D98"/>
                </a:solidFill>
              </a:rPr>
              <a:t>umm-border ↔ IDREN PoP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09160" y="886968"/>
            <a:ext cx="3931920" cy="1828800"/>
          </a:xfrm>
          <a:prstGeom prst="rect">
            <a:avLst/>
          </a:prstGeom>
          <a:solidFill>
            <a:srgbClr val="334E68"/>
          </a:solidFill>
          <a:ln w="12700">
            <a:solidFill>
              <a:srgbClr val="334E6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9160" y="100584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D4AA"/>
                </a:solidFill>
              </a:rPr>
              <a:t>iBGP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709160" y="155448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</a:rPr>
              <a:t>BGP dalam satu AS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709160" y="196596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27D98"/>
                </a:solidFill>
              </a:rPr>
              <a:t>antara border router &amp; router internal UMM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11480" y="2880360"/>
            <a:ext cx="8321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 default eBGP = 1 (harus directly connected); iBGP = 255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Next-hop behavior: eBGP ubah next-hop ke IP lokal, iBGP tidak ubah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Implikasi next-hop iBGP untuk reachability dibahas MOD-03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BGP Session — TCP &amp; State Machine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768096"/>
            <a:ext cx="83210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886968"/>
            <a:ext cx="1325880" cy="621792"/>
          </a:xfrm>
          <a:prstGeom prst="rect">
            <a:avLst/>
          </a:prstGeom>
          <a:solidFill>
            <a:srgbClr val="0F1D2E"/>
          </a:solidFill>
          <a:ln w="12700">
            <a:solidFill>
              <a:srgbClr val="0F1D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886968"/>
            <a:ext cx="1325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Idle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737360" y="1197864"/>
            <a:ext cx="27432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755648" y="886968"/>
            <a:ext cx="1325880" cy="621792"/>
          </a:xfrm>
          <a:prstGeom prst="rect">
            <a:avLst/>
          </a:prstGeom>
          <a:solidFill>
            <a:srgbClr val="0F1D2E"/>
          </a:solidFill>
          <a:ln w="12700">
            <a:solidFill>
              <a:srgbClr val="0F1D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755648" y="886968"/>
            <a:ext cx="1325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Connect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081528" y="1197864"/>
            <a:ext cx="27432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99816" y="886968"/>
            <a:ext cx="1325880" cy="621792"/>
          </a:xfrm>
          <a:prstGeom prst="rect">
            <a:avLst/>
          </a:prstGeom>
          <a:solidFill>
            <a:srgbClr val="0F1D2E"/>
          </a:solidFill>
          <a:ln w="12700">
            <a:solidFill>
              <a:srgbClr val="0F1D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99816" y="886968"/>
            <a:ext cx="1325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Active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425696" y="1197864"/>
            <a:ext cx="27432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43984" y="886968"/>
            <a:ext cx="1325880" cy="621792"/>
          </a:xfrm>
          <a:prstGeom prst="rect">
            <a:avLst/>
          </a:prstGeom>
          <a:solidFill>
            <a:srgbClr val="0F1D2E"/>
          </a:solidFill>
          <a:ln w="12700">
            <a:solidFill>
              <a:srgbClr val="0F1D2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43984" y="886968"/>
            <a:ext cx="1325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OpenSent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769864" y="1197864"/>
            <a:ext cx="27432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788152" y="886968"/>
            <a:ext cx="1325880" cy="621792"/>
          </a:xfrm>
          <a:prstGeom prst="rect">
            <a:avLst/>
          </a:prstGeom>
          <a:solidFill>
            <a:srgbClr val="0F1D2E"/>
          </a:solidFill>
          <a:ln w="12700">
            <a:solidFill>
              <a:srgbClr val="0F1D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88152" y="886968"/>
            <a:ext cx="1325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OpenConfirm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114032" y="1197864"/>
            <a:ext cx="27432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32320" y="886968"/>
            <a:ext cx="1325880" cy="621792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0" y="886968"/>
            <a:ext cx="1325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D2E"/>
                </a:solidFill>
              </a:rPr>
              <a:t>Established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11480" y="1737360"/>
            <a:ext cx="8321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BGP jalan di atas TCP port 179 — TCP harus berhasil sebelum BGP negotiate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Active: TCP connect sedang dicoba — biasanya masalah konektivitas atau konfigurasi peer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Established: normal, prefix exchange aktif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time default 90 detik, keepalive tiap 30 detik — dua router harus sepakat nilai ini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Tiga BGP Table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768096"/>
            <a:ext cx="83210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886968"/>
            <a:ext cx="1920240" cy="1280160"/>
          </a:xfrm>
          <a:prstGeom prst="rect">
            <a:avLst/>
          </a:prstGeom>
          <a:solidFill>
            <a:srgbClr val="334E68"/>
          </a:solidFill>
          <a:ln w="12700">
            <a:solidFill>
              <a:srgbClr val="334E6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9601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Adj-RIB-In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144475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Semua prefix dari peer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sebelum policy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0" y="1527048"/>
            <a:ext cx="2286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14600" y="886968"/>
            <a:ext cx="1920240" cy="128016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14600" y="9601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Policy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514600" y="144475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best-path selection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+ policy filter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434840" y="1527048"/>
            <a:ext cx="2286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886968"/>
            <a:ext cx="1920240" cy="1280160"/>
          </a:xfrm>
          <a:prstGeom prst="rect">
            <a:avLst/>
          </a:prstGeom>
          <a:solidFill>
            <a:srgbClr val="0F1D2E"/>
          </a:solidFill>
          <a:ln w="12700">
            <a:solidFill>
              <a:srgbClr val="0F1D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63440" y="9601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Loc-RIB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663440" y="144475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Prefix terbaik yang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masuk routing table OS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583680" y="1527048"/>
            <a:ext cx="2286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12280" y="886968"/>
            <a:ext cx="1920240" cy="1280160"/>
          </a:xfrm>
          <a:prstGeom prst="rect">
            <a:avLst/>
          </a:prstGeom>
          <a:solidFill>
            <a:srgbClr val="334E68"/>
          </a:solidFill>
          <a:ln w="12700">
            <a:solidFill>
              <a:srgbClr val="334E6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12280" y="9601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Adj-RIB-Out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812280" y="144475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Prefix ke peer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setelah outbound policy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11480" y="2423160"/>
            <a:ext cx="8321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Hanya prefix di Loc-RIB yang masuk routing table OS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Hanya jika next-hop reachable — jika tidak, prefix ada di BGP table tapi tidak dipakai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 kebingungan umum: "BGP Established tapi traffic tidak lewat"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BGP Message Types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768096"/>
            <a:ext cx="83210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886968"/>
          <a:ext cx="8321040" cy="2560320"/>
        </p:xfrm>
        <a:graphic>
          <a:graphicData uri="http://schemas.openxmlformats.org/drawingml/2006/table">
            <a:tbl>
              <a:tblPr/>
              <a:tblGrid>
                <a:gridCol w="2194560"/>
                <a:gridCol w="612648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Fungsi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2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9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9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Negosiasi: ASN, hold time, router ID, capabilities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2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9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9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Kirim prefix baru atau withdraw prefix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9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NOTIFICATION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9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 — session langsung ditutup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2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9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KEEPALIVE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9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Konfirmasi session masih hidup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11480" y="3657600"/>
            <a:ext cx="8321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 = sinyal ada yang salah — catat pesan error-nya untuk troubleshooting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error: Bad Peer AS (ASN salah), Hold Timer Expired (keepalive hilang)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FRR: show bgp neighbors &lt;IP&gt; → bagian Last error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Mistakes — BGP Fundamentals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768096"/>
            <a:ext cx="83210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886968"/>
            <a:ext cx="502920" cy="5943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886968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24128" y="996696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Salah ASN di konfigurasi neighbor → session tidak pernah Established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11480" y="1682496"/>
            <a:ext cx="502920" cy="5943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682496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024128" y="1792224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Lupa advertise network → session OK tapi tidak ada prefix yang dikirim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11480" y="2478024"/>
            <a:ext cx="502920" cy="5943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478024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024128" y="258775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Advertise prefix bukan milik sendiri → routing leak, serius di produksi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11480" y="3273552"/>
            <a:ext cx="502920" cy="5943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3273552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4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024128" y="33832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Bingung eBGP vs iBGP → pakai ASN sama, perilaku next-hop berbeda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11480" y="4069080"/>
            <a:ext cx="502920" cy="5943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4069080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5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024128" y="4178808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 eBGP = 1 → tidak bisa direct-connect kalau ada switch di tengah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 — BGP Fundamentals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768096"/>
            <a:ext cx="83210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960120"/>
            <a:ext cx="502920" cy="594360"/>
          </a:xfrm>
          <a:prstGeom prst="rect">
            <a:avLst/>
          </a:prstGeom>
          <a:solidFill>
            <a:srgbClr val="0F1D2E"/>
          </a:solidFill>
          <a:ln w="12700">
            <a:solidFill>
              <a:srgbClr val="0F1D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960120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D4AA"/>
                </a:solidFill>
              </a:rPr>
              <a:t>✔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24128" y="1069848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BGP untuk routing antar AS — butuh karena UMM punya 3 upstream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1874520"/>
            <a:ext cx="502920" cy="594360"/>
          </a:xfrm>
          <a:prstGeom prst="rect">
            <a:avLst/>
          </a:prstGeom>
          <a:solidFill>
            <a:srgbClr val="0F1D2E"/>
          </a:solidFill>
          <a:ln w="12700">
            <a:solidFill>
              <a:srgbClr val="0F1D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874520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D4AA"/>
                </a:solidFill>
              </a:rPr>
              <a:t>✔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24128" y="1984248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Komponen: AS, ASN, prefix, peer, session, tiga table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11480" y="2788920"/>
            <a:ext cx="502920" cy="594360"/>
          </a:xfrm>
          <a:prstGeom prst="rect">
            <a:avLst/>
          </a:prstGeom>
          <a:solidFill>
            <a:srgbClr val="0F1D2E"/>
          </a:solidFill>
          <a:ln w="12700">
            <a:solidFill>
              <a:srgbClr val="0F1D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788920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D4AA"/>
                </a:solidFill>
              </a:rPr>
              <a:t>✔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24128" y="2898648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machine: Idle → Established (via TCP 179)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11480" y="3703320"/>
            <a:ext cx="502920" cy="59436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3703320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D2E"/>
                </a:solidFill>
              </a:rPr>
              <a:t>→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24128" y="3813048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Selanjutnya: konfigurasi eBGP di FRRouting (MOD-02)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858000" y="4389120"/>
            <a:ext cx="1828800" cy="4572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0" y="43891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D2E"/>
                </a:solidFill>
              </a:rPr>
              <a:t>Q&amp;A — 10 menit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D4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4592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F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☕  BREAK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914400" y="29260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F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15.00 – 15.15  |  15 menit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526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 3  •  15.15 – 16.15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eBGP Configuration di FRRouting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22402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27D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Dari teori ke konfigurasi nyata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Skenario: Kamu adalah NOC UMM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768096"/>
            <a:ext cx="83210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14400"/>
            <a:ext cx="3017520" cy="1645920"/>
          </a:xfrm>
          <a:prstGeom prst="rect">
            <a:avLst/>
          </a:prstGeom>
          <a:solidFill>
            <a:srgbClr val="0F1D2E"/>
          </a:solidFill>
          <a:ln w="12700">
            <a:solidFill>
              <a:srgbClr val="0F1D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91440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umm-border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 65010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100.64.0.2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577840" y="914400"/>
            <a:ext cx="3017520" cy="16459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577840" y="91440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idren-pop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 65000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100.64.0.1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474720" y="1737360"/>
            <a:ext cx="2103120" cy="0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49040" y="148132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9E0B"/>
                </a:solidFill>
              </a:rPr>
              <a:t>eBGP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2834640"/>
            <a:ext cx="832104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Kamu baru terima konfirmasi dari IDREN NOC: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Peer IP mereka: 100.64.0.1  |  ASN IDREN: 65000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Tugasmu: konfigurasi border router UMM dan iklankan prefix 100.68.1.0/24 ke IDREN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Lab-01: kita kerjakan setelah sesi ini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FRRouting — Arsitektur Singkat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768096"/>
            <a:ext cx="83210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14400"/>
            <a:ext cx="2011680" cy="1097280"/>
          </a:xfrm>
          <a:prstGeom prst="rect">
            <a:avLst/>
          </a:prstGeom>
          <a:solidFill>
            <a:srgbClr val="0F1D2E"/>
          </a:solidFill>
          <a:ln w="12700">
            <a:solidFill>
              <a:srgbClr val="0F1D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9144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D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vtysh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1463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27D98"/>
                </a:solidFill>
              </a:rPr>
              <a:t>shell interaktif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468880" y="1463040"/>
            <a:ext cx="914400" cy="-274320"/>
          </a:xfrm>
          <a:prstGeom prst="line">
            <a:avLst/>
          </a:prstGeom>
          <a:noFill/>
          <a:ln w="19050">
            <a:solidFill>
              <a:srgbClr val="00D4A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83280" y="731520"/>
            <a:ext cx="2377440" cy="7772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0" y="7772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bgpd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383280" y="11612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BGP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468880" y="1463040"/>
            <a:ext cx="914400" cy="731520"/>
          </a:xfrm>
          <a:prstGeom prst="line">
            <a:avLst/>
          </a:prstGeom>
          <a:noFill/>
          <a:ln w="19050">
            <a:solidFill>
              <a:srgbClr val="00D4A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83280" y="1737360"/>
            <a:ext cx="2377440" cy="777240"/>
          </a:xfrm>
          <a:prstGeom prst="rect">
            <a:avLst/>
          </a:prstGeom>
          <a:solidFill>
            <a:srgbClr val="334E68"/>
          </a:solidFill>
          <a:ln w="12700">
            <a:solidFill>
              <a:srgbClr val="334E6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83280" y="178308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ospfd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383280" y="21671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OSPF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468880" y="1463040"/>
            <a:ext cx="914400" cy="1737360"/>
          </a:xfrm>
          <a:prstGeom prst="line">
            <a:avLst/>
          </a:prstGeom>
          <a:noFill/>
          <a:ln w="19050">
            <a:solidFill>
              <a:srgbClr val="00D4A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383280" y="2743200"/>
            <a:ext cx="2377440" cy="777240"/>
          </a:xfrm>
          <a:prstGeom prst="rect">
            <a:avLst/>
          </a:prstGeom>
          <a:solidFill>
            <a:srgbClr val="334E68"/>
          </a:solidFill>
          <a:ln w="12700">
            <a:solidFill>
              <a:srgbClr val="334E6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83280" y="27889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staticd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383280" y="31729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Static Routes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0" y="914400"/>
            <a:ext cx="28803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FRR = suite routing protocol untuk Linux, fork Quagga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Default: bgpd=no — harus aktifkan eksplisit di /etc/frr/daemons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ContainerLab kita sudah set bgpd=yes — tidak perlu ubah manual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vtysh: shell interaktif, syntax mirip Cisco IOS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Konfigurasi FRR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768096"/>
            <a:ext cx="83210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886968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942"/>
                </a:solidFill>
              </a:rPr>
              <a:t>Dua file penting: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11480" y="1353312"/>
            <a:ext cx="8321040" cy="1417320"/>
          </a:xfrm>
          <a:prstGeom prst="rect">
            <a:avLst/>
          </a:prstGeom>
          <a:solidFill>
            <a:srgbClr val="0F1D2E"/>
          </a:solidFill>
          <a:ln w="12700">
            <a:solidFill>
              <a:srgbClr val="0F1D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444752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D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/etc/frr/daemons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18288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27D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Aktifkan daemon yang dibutuhkan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0" y="1764792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bgpd=yes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11480" y="2999232"/>
            <a:ext cx="8321040" cy="1417320"/>
          </a:xfrm>
          <a:prstGeom prst="rect">
            <a:avLst/>
          </a:prstGeom>
          <a:solidFill>
            <a:srgbClr val="0F1D2E"/>
          </a:solidFill>
          <a:ln w="12700">
            <a:solidFill>
              <a:srgbClr val="0F1D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3090672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D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/etc/frr/frr.conf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48640" y="34747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27D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Konfigurasi semua protokol dalam satu file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669280" y="3410712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 bgp 65010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...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11480" y="466344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</a:rPr>
              <a:t>Di lab: jangan edit frr.conf langsung — gunakan vtysh, simpan dengan write memory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Struktur Konfigurasi eBGP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768096"/>
            <a:ext cx="83210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886968"/>
            <a:ext cx="8321040" cy="3246120"/>
          </a:xfrm>
          <a:prstGeom prst="rect">
            <a:avLst/>
          </a:prstGeom>
          <a:solidFill>
            <a:srgbClr val="1B2B3D"/>
          </a:solidFill>
          <a:ln w="12700">
            <a:solidFill>
              <a:srgbClr val="1B2B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978408"/>
            <a:ext cx="804672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 bgp 65010                          ← ASN lokal kita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no bgp ebgp-requires-policy             ← WAJIB di FRR 8.x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bgp router-id 100.64.0.2               ← set eksplisit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!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neighbor 100.64.0.1 remote-as 65000    ← IP peer + ASN peer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neighbor 100.64.0.1 description "eBGP ke IDREN PoP"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!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address-family ipv4 unicast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network 100.68.1.0/24                 ← prefix yang kita iklankan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neighbor 100.64.0.1 activate          ← aktifkan peer di AFI ini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exit-address-family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11480" y="4251960"/>
            <a:ext cx="274320" cy="2743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1480" y="4279392"/>
            <a:ext cx="274320" cy="2743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4306824"/>
            <a:ext cx="274320" cy="2743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4224528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bgp ebgp-requires-policy — paling sering dilupakan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bgp router-id harus unik per router — dari image sama bisa duplikat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statement ≠ redistribusi otomatis — prefix harus ada di routing table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WARNING: ebgp-requires-policy di FRR 8.4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768096"/>
            <a:ext cx="83210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886968"/>
            <a:ext cx="8321040" cy="2468880"/>
          </a:xfrm>
          <a:prstGeom prst="rect">
            <a:avLst/>
          </a:prstGeom>
          <a:solidFill>
            <a:srgbClr val="3B0000"/>
          </a:solidFill>
          <a:ln w="25400">
            <a:solidFill>
              <a:srgbClr val="EF444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9875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FRR 8.4 memperkenalkan enforcement ebgp-requires-policy by default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94360" y="150876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eBGP session bisa Established TAPI tidak ada prefix yang tertukar tanpa explicit policy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2029968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Gejala: kolom State/PfxRcd menampilkan (Policy)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94360" y="2441448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tambahkan no bgp ebgp-requires-policy di dalam router bgp &lt;ASN&gt;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11480" y="3520440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lab kita sudah include ini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produksi: set route-map yang benar (dibahas MOD-04)</a:t>
            </a:r>
            <a:endParaRPr lang="en-US" sz="13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Syarat Prefix Bisa Diiklankan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768096"/>
            <a:ext cx="83210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886968"/>
            <a:ext cx="8321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100.68.1.0/24 di BGP ≠ seperti network di OSPF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hanya diiklankan jika ada di routing table lokal dengan exact match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Teknik standar: tambahkan static route blackhole (null0) untuk aggregate prefix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11480" y="2560320"/>
            <a:ext cx="8321040" cy="2240280"/>
          </a:xfrm>
          <a:prstGeom prst="rect">
            <a:avLst/>
          </a:prstGeom>
          <a:solidFill>
            <a:srgbClr val="1B2B3D"/>
          </a:solidFill>
          <a:ln w="12700">
            <a:solidFill>
              <a:srgbClr val="1B2B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651760"/>
            <a:ext cx="80467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Step 1: tambahkan static route null0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 route 100.68.1.0/24 null0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Step 2: advertise di BGP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 bgp 65010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address-family ipv4 unicast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network 100.68.1.0/24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Konfigurasi eBGP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768096"/>
            <a:ext cx="83210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886968"/>
            <a:ext cx="2286000" cy="3840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8869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D2E"/>
                </a:solidFill>
              </a:rPr>
              <a:t>▶  DEMO LIVE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417320"/>
            <a:ext cx="8321040" cy="3200400"/>
          </a:xfrm>
          <a:prstGeom prst="rect">
            <a:avLst/>
          </a:prstGeom>
          <a:solidFill>
            <a:srgbClr val="1B2B3D"/>
          </a:solidFill>
          <a:ln w="12700">
            <a:solidFill>
              <a:srgbClr val="1B2B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508760"/>
            <a:ext cx="80467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configure terminal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 bgp 65010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no bgp ebgp-requires-policy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bgp router-id 100.64.0.2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neighbor 100.64.0.1 remote-as 65000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neighbor 100.64.0.1 description "eBGP ke IDREN PoP"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address-family ipv4 unicast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network 100.68.1.0/24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neighbor 100.64.0.1 activate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exit-address-family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 memory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11480" y="470916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</a:rPr>
              <a:t>Tunggu 30–60 detik, lalu lanjut ke verifikasi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Perintah Verifikasi BGP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768096"/>
            <a:ext cx="83210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886968"/>
            <a:ext cx="8321040" cy="411480"/>
          </a:xfrm>
          <a:prstGeom prst="rect">
            <a:avLst/>
          </a:prstGeom>
          <a:solidFill>
            <a:srgbClr val="1B2B3D"/>
          </a:solidFill>
          <a:ln w="12700">
            <a:solidFill>
              <a:srgbClr val="1B2B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88696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 bgp summary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325880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Lihat kolom State/PfxRcd — angka = OK, Active/Idle = masalah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11480" y="1911096"/>
            <a:ext cx="8321040" cy="411480"/>
          </a:xfrm>
          <a:prstGeom prst="rect">
            <a:avLst/>
          </a:prstGeom>
          <a:solidFill>
            <a:srgbClr val="1B2B3D"/>
          </a:solidFill>
          <a:ln w="12700">
            <a:solidFill>
              <a:srgbClr val="1B2B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911096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 bgp ipv4 unicast neighbors 100.64.0.1 advertised-routes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35000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Prefix yang kita kirim ke IDREN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11480" y="2935224"/>
            <a:ext cx="8321040" cy="411480"/>
          </a:xfrm>
          <a:prstGeom prst="rect">
            <a:avLst/>
          </a:prstGeom>
          <a:solidFill>
            <a:srgbClr val="1B2B3D"/>
          </a:solidFill>
          <a:ln w="12700">
            <a:solidFill>
              <a:srgbClr val="1B2B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935224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 ip bgp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374136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Semua prefix di BGP table (Loc-RIB)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11480" y="3959352"/>
            <a:ext cx="8321040" cy="411480"/>
          </a:xfrm>
          <a:prstGeom prst="rect">
            <a:avLst/>
          </a:prstGeom>
          <a:solidFill>
            <a:srgbClr val="1B2B3D"/>
          </a:solidFill>
          <a:ln w="12700">
            <a:solidFill>
              <a:srgbClr val="1B2B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95935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 ip route bgp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398264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Prefix BGP yang masuk routing table OS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Verifikasi Output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768096"/>
            <a:ext cx="83210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886968"/>
            <a:ext cx="2286000" cy="3840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8869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D2E"/>
                </a:solidFill>
              </a:rPr>
              <a:t>▶  DEMO LIVE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389888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942"/>
                </a:solidFill>
              </a:rPr>
              <a:t>show bgp summary — yang diharapkan: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11480" y="1764792"/>
            <a:ext cx="8321040" cy="804672"/>
          </a:xfrm>
          <a:prstGeom prst="rect">
            <a:avLst/>
          </a:prstGeom>
          <a:solidFill>
            <a:srgbClr val="1B2B3D"/>
          </a:solidFill>
          <a:ln w="12700">
            <a:solidFill>
              <a:srgbClr val="1B2B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856232"/>
            <a:ext cx="8046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Neighbor        V    AS   MsgRcvd  MsgSent  Up/Down  State/PfxRcd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100.64.0.1      4  65000        6        6 00:01:23             1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11480" y="2679192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942"/>
                </a:solidFill>
              </a:rPr>
              <a:t>show bgp ipv4 unicast neighbors ... advertised-routes: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11480" y="3054096"/>
            <a:ext cx="8321040" cy="1005840"/>
          </a:xfrm>
          <a:prstGeom prst="rect">
            <a:avLst/>
          </a:prstGeom>
          <a:solidFill>
            <a:srgbClr val="1B2B3D"/>
          </a:solidFill>
          <a:ln w="12700">
            <a:solidFill>
              <a:srgbClr val="1B2B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145536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          Next Hop    Metric  Path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100.68.1.0/24   0.0.0.0          0  i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 number of prefixes 2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11480" y="416052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PfxRcd = 1 → kita terima 1 prefix dari IDREN (100.68.0.0/16)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Jika State/PfxRcd = Active → session belum establish → buka troubleshooting guide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Mistakes — eBGP Configuration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768096"/>
            <a:ext cx="83210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886968"/>
            <a:ext cx="502920" cy="53035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886968"/>
            <a:ext cx="502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24128" y="978408"/>
            <a:ext cx="7680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Lupa no bgp ebgp-requires-policy → (Policy) di kolom State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11480" y="1591056"/>
            <a:ext cx="502920" cy="53035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591056"/>
            <a:ext cx="502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24128" y="1682496"/>
            <a:ext cx="7680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remote-as salah → session stuck Active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11480" y="2295144"/>
            <a:ext cx="502920" cy="53035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295144"/>
            <a:ext cx="502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24128" y="2386584"/>
            <a:ext cx="7680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tidak ada di routing table → lupa ip route 100.68.1.0/24 null0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11480" y="2999232"/>
            <a:ext cx="502920" cy="53035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2999232"/>
            <a:ext cx="502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24128" y="3090672"/>
            <a:ext cx="7680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neighbor activate lupa → session OK tapi tidak ada prefix exchange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11480" y="3703320"/>
            <a:ext cx="502920" cy="53035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3703320"/>
            <a:ext cx="502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24128" y="3794760"/>
            <a:ext cx="7680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 ID duplikat → session flap — selalu set eksplisit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11480" y="4407408"/>
            <a:ext cx="502920" cy="53035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4407408"/>
            <a:ext cx="502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6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024128" y="4498848"/>
            <a:ext cx="7680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 179 diblokir → cek firewall: telnet 100.64.0.1 179</a:t>
            </a:r>
            <a:endParaRPr lang="en-US" sz="13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 — eBGP Configuration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768096"/>
            <a:ext cx="83210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886968"/>
            <a:ext cx="502920" cy="59436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886968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D2E"/>
                </a:solidFill>
              </a:rPr>
              <a:t>✔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24128" y="1014984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FRR daemon model: bgpd harus aktif di /etc/frr/daemons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11480" y="1709928"/>
            <a:ext cx="502920" cy="59436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709928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D2E"/>
                </a:solidFill>
              </a:rPr>
              <a:t>✔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24128" y="1837944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Struktur config: router bgp → neighbor → address-family ipv4 unicast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11480" y="2532888"/>
            <a:ext cx="502920" cy="59436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532888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D2E"/>
                </a:solidFill>
              </a:rPr>
              <a:t>✔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24128" y="2660904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Tiga hal wajib: no bgp ebgp-requires-policy + null route + activate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11480" y="3355848"/>
            <a:ext cx="502920" cy="59436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3355848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D2E"/>
                </a:solidFill>
              </a:rPr>
              <a:t>✔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24128" y="3483864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Perintah verifikasi: show bgp summary dulu, lalu detail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11480" y="4178808"/>
            <a:ext cx="502920" cy="59436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4178808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D2E"/>
                </a:solidFill>
              </a:rPr>
              <a:t>✔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24128" y="4306824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Selanjutnya: LAB-01 — peserta konfigurasi sendiri</a:t>
            </a:r>
            <a:endParaRPr lang="en-US" sz="13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526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 4  •  16.15 – 17.00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LAB-01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22402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27D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eBGP Border Router UMM ↔ IDREN PoP</a:t>
            </a:r>
            <a:endParaRPr lang="en-US" sz="17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LAB-01 — Informasi Peering &amp; Instruksi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768096"/>
            <a:ext cx="83210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886968"/>
            <a:ext cx="8321040" cy="1417320"/>
          </a:xfrm>
          <a:prstGeom prst="rect">
            <a:avLst/>
          </a:prstGeom>
          <a:solidFill>
            <a:srgbClr val="1B2B3D"/>
          </a:solidFill>
          <a:ln w="12700">
            <a:solidFill>
              <a:srgbClr val="1B2B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978408"/>
            <a:ext cx="8046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[umm-border]  ──────────────  [idren-pop]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 65010                       AS 65000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100.64.0.2/30                  100.64.0.1/30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prefix: 100.68.1.0/24         ← dikonfigurasi trainer</a:t>
            </a:r>
            <a:endParaRPr lang="en-US" sz="115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423160"/>
          <a:ext cx="4572000" cy="2286000"/>
        </p:xfrm>
        <a:graphic>
          <a:graphicData uri="http://schemas.openxmlformats.org/drawingml/2006/table">
            <a:tbl>
              <a:tblPr/>
              <a:tblGrid>
                <a:gridCol w="2011680"/>
                <a:gridCol w="2560320"/>
              </a:tblGrid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Nilai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2E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9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 peer IDREN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94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100.64.0.1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2FA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9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ASN IDREN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94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65000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9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 UMM di link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94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100.64.0.2/30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2FA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9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ASN UMM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94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65010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9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Prefix UMM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94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100.68.1.0/24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2FA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120640" y="24231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Terima file lab dari trainer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120640" y="286207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containerlab deploy -t lab01.clab.yml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120640" y="3300984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Konfigurasi BGP di umm-border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120640" y="3739896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Verifikasi session Established &amp; prefix terkirim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120640" y="4178808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Handout LAB-01 ada di meja</a:t>
            </a:r>
            <a:endParaRPr lang="en-US" sz="12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F1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657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 1 — Selesai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143000"/>
            <a:ext cx="411480" cy="4572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14300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D2E"/>
                </a:solidFill>
              </a:rPr>
              <a:t>✔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96112" y="118872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ContainerLab: deploy, masuk container, vtysh basics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801368"/>
            <a:ext cx="411480" cy="4572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801368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D2E"/>
                </a:solidFill>
              </a:rPr>
              <a:t>✔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96112" y="184708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BGP Fundamentals: AS, ASN, state machine, tiga table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65760" y="2459736"/>
            <a:ext cx="411480" cy="4572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245973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D2E"/>
                </a:solidFill>
              </a:rPr>
              <a:t>✔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96112" y="250545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eBGP Config: router bgp, neighbor, address-family, network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3118104"/>
            <a:ext cx="411480" cy="4572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3118104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D2E"/>
                </a:solidFill>
              </a:rPr>
              <a:t>✔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96112" y="316382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LAB-01: mulai konfigurasi sendiri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749040"/>
            <a:ext cx="8412480" cy="1097280"/>
          </a:xfrm>
          <a:prstGeom prst="rect">
            <a:avLst/>
          </a:prstGeom>
          <a:solidFill>
            <a:srgbClr val="162030"/>
          </a:solidFill>
          <a:ln w="12700">
            <a:solidFill>
              <a:srgbClr val="16203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79476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Besok — Hari 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48640" y="4160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27D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08.00: Recap + LAB-01 lanjutan (60 menit)  •  iBGP &amp; Route Reflector (MOD-03)  •  BGP Policy: prefix filter &amp; community (MOD-04)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4864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Jangan hapus lab! containerlab destroy nanti kalau sudah di-submit  •  Pertanyaan malam ini → group chat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BGP Workshop Hari 1 — Fundamentals &amp; eBGP</dc:title>
  <dc:subject>PptxGenJS Presentation</dc:subject>
  <dc:creator>PptxGenJS</dc:creator>
  <cp:lastModifiedBy>PptxGenJS</cp:lastModifiedBy>
  <cp:revision>1</cp:revision>
  <dcterms:created xsi:type="dcterms:W3CDTF">2026-06-04T14:57:16Z</dcterms:created>
  <dcterms:modified xsi:type="dcterms:W3CDTF">2026-06-04T14:57:16Z</dcterms:modified>
</cp:coreProperties>
</file>
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j3ZtopAMjnpX5pqlTGtZxvhLft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A9A9CC-C0DA-4DC6-98B6-EB66385870A6}">
  <a:tblStyle styleId="{E2A9A9CC-C0DA-4DC6-98B6-EB66385870A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0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1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p1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1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p1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0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20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0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2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2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p2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p2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2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2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p2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6" name="Google Shape;496;p2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p2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0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9" name="Google Shape;529;p30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0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6" name="Google Shape;546;p3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2" name="Google Shape;572;p3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5" name="Google Shape;595;p3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4" name="Google Shape;604;p3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0" name="Google Shape;620;p3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6000" lvl="0" marL="2160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D2E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152638"/>
          </a:solidFill>
          <a:ln cap="flat" cmpd="sng" w="12700">
            <a:solidFill>
              <a:srgbClr val="1526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411480"/>
            <a:ext cx="45716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WORKSHOP</a:t>
            </a:r>
            <a:endParaRPr b="0" sz="12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960120"/>
            <a:ext cx="841212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BGP untuk Kampus</a:t>
            </a:r>
            <a:endParaRPr b="0" sz="4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2148840"/>
            <a:ext cx="841212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Hari 1 — ContainerLab &amp; eBGP Fundamentals</a:t>
            </a:r>
            <a:endParaRPr b="0" sz="20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65760" y="4462200"/>
            <a:ext cx="84121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13.00 – 17.00  |  </a:t>
            </a:r>
            <a:r>
              <a:rPr b="1" lang="en-US" sz="13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Juni 2026</a:t>
            </a:r>
            <a:endParaRPr b="0" sz="13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638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320040"/>
            <a:ext cx="82292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SESI 1  •  13.30 – 14.00</a:t>
            </a:r>
            <a:endParaRPr b="0" sz="12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57200" y="777240"/>
            <a:ext cx="8229240" cy="137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Pengenalan ContainerLab</a:t>
            </a:r>
            <a:endParaRPr b="0" sz="3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224028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Platform lab kita hari ini</a:t>
            </a:r>
            <a:endParaRPr b="0" sz="17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Apa itu ContainerLab?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p3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3"/>
          <p:cNvSpPr/>
          <p:nvPr/>
        </p:nvSpPr>
        <p:spPr>
          <a:xfrm>
            <a:off x="411480" y="914400"/>
            <a:ext cx="4571640" cy="384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Tool untuk deploy topologi jaringan berbasis container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Topologi dideskripsikan di file .clab.yml — berapa router, IP apa, link mana ke mana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ContainerLab otomatis deploy container Docker &amp; sambungkan network-nya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FRRouting (FRR): routing daemon open-source, syntax vtysh mirip Cisco IOS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5394960" y="960120"/>
            <a:ext cx="3382920" cy="74952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394960" y="1005840"/>
            <a:ext cx="338292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lab.clab.yml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5394960" y="1371600"/>
            <a:ext cx="3382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definisi topologi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45;p3"/>
          <p:cNvCxnSpPr/>
          <p:nvPr/>
        </p:nvCxnSpPr>
        <p:spPr>
          <a:xfrm>
            <a:off x="7086600" y="1709640"/>
            <a:ext cx="360" cy="512280"/>
          </a:xfrm>
          <a:prstGeom prst="straightConnector1">
            <a:avLst/>
          </a:prstGeom>
          <a:noFill/>
          <a:ln cap="flat" cmpd="sng" w="254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3"/>
          <p:cNvSpPr/>
          <p:nvPr/>
        </p:nvSpPr>
        <p:spPr>
          <a:xfrm>
            <a:off x="5394960" y="2011680"/>
            <a:ext cx="3382920" cy="74952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394960" y="2057400"/>
            <a:ext cx="338292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ContainerLab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5394960" y="2423160"/>
            <a:ext cx="3382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deploy &amp; wire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49;p3"/>
          <p:cNvCxnSpPr/>
          <p:nvPr/>
        </p:nvCxnSpPr>
        <p:spPr>
          <a:xfrm>
            <a:off x="7086600" y="2761200"/>
            <a:ext cx="360" cy="512280"/>
          </a:xfrm>
          <a:prstGeom prst="straightConnector1">
            <a:avLst/>
          </a:prstGeom>
          <a:noFill/>
          <a:ln cap="flat" cmpd="sng" w="254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3"/>
          <p:cNvSpPr/>
          <p:nvPr/>
        </p:nvSpPr>
        <p:spPr>
          <a:xfrm>
            <a:off x="5394960" y="3063240"/>
            <a:ext cx="3382920" cy="74952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394960" y="3108960"/>
            <a:ext cx="338292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FRR Containers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394960" y="3474720"/>
            <a:ext cx="3382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router virtual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Struktur File Topologi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4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4"/>
          <p:cNvSpPr/>
          <p:nvPr/>
        </p:nvSpPr>
        <p:spPr>
          <a:xfrm>
            <a:off x="411480" y="868680"/>
            <a:ext cx="4571640" cy="3931560"/>
          </a:xfrm>
          <a:prstGeom prst="rect">
            <a:avLst/>
          </a:prstGeom>
          <a:solidFill>
            <a:srgbClr val="1B2B3D"/>
          </a:solidFill>
          <a:ln cap="flat" cmpd="sng" w="12700">
            <a:solidFill>
              <a:srgbClr val="1B2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48640" y="960120"/>
            <a:ext cx="4297320" cy="374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name: lab01-ebgp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topology: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nodes: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  umm-border: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    kind: linux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    image: frrouting/frr:latest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  idren-pop: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    kind: linux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    image: frrouting/frr:latest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links: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  - endpoints: ["umm-border:eth1", "idren-pop:eth1"]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212080" y="1134000"/>
            <a:ext cx="91080" cy="5025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94960" y="1143000"/>
            <a:ext cx="33829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1A2942"/>
                </a:solidFill>
                <a:latin typeface="Courier New"/>
                <a:ea typeface="Courier New"/>
                <a:cs typeface="Courier New"/>
                <a:sym typeface="Courier New"/>
              </a:rPr>
              <a:t>nodes: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394960" y="1398960"/>
            <a:ext cx="33829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daftar router/host — tiap node = satu container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212080" y="2277000"/>
            <a:ext cx="91080" cy="5025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394960" y="2286000"/>
            <a:ext cx="33829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1A2942"/>
                </a:solidFill>
                <a:latin typeface="Courier New"/>
                <a:ea typeface="Courier New"/>
                <a:cs typeface="Courier New"/>
                <a:sym typeface="Courier New"/>
              </a:rPr>
              <a:t>links: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394960" y="2541960"/>
            <a:ext cx="33829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koneksi antar node — tiap link = virtual eth pair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212080" y="3374280"/>
            <a:ext cx="91080" cy="5025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394960" y="3383280"/>
            <a:ext cx="33829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1A2942"/>
                </a:solidFill>
                <a:latin typeface="Courier New"/>
                <a:ea typeface="Courier New"/>
                <a:cs typeface="Courier New"/>
                <a:sym typeface="Courier New"/>
              </a:rPr>
              <a:t>kind + image: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394960" y="3639240"/>
            <a:ext cx="33829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container FRR siap routing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Perintah Dasar ContainerLab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5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80" name="Google Shape;80;p5"/>
          <p:cNvGraphicFramePr/>
          <p:nvPr/>
        </p:nvGraphicFramePr>
        <p:xfrm>
          <a:off x="411480" y="896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{E2A9A9CC-C0DA-4DC6-98B6-EB66385870A6}</a:tableStyleId>
              </a:tblPr>
              <a:tblGrid>
                <a:gridCol w="4754875"/>
                <a:gridCol w="35661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Perintah</a:t>
                      </a:r>
                      <a:endParaRPr b="0" sz="13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Fungsi</a:t>
                      </a:r>
                      <a:endParaRPr b="0" sz="13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E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294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containerlab deploy -t lab.clab.yml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 topologi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294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containerlab destroy -t lab.clab.yml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Hapus semua container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294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containerlab inspect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Lihat status container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294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exec -it clab-&lt;lab&gt;-&lt;node&gt; bash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Masuk ke container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1A294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exec -it clab-&lt;lab&gt;-&lt;node&gt; vtysh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Masuk langsung ke FRR shell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81" name="Google Shape;81;p5"/>
          <p:cNvSpPr/>
          <p:nvPr/>
        </p:nvSpPr>
        <p:spPr>
          <a:xfrm>
            <a:off x="411480" y="4316040"/>
            <a:ext cx="83206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⚠  Semua perintah dijalankan di terminal Ubuntu VM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Demo: Deploy &amp; Masuk ke Router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6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6"/>
          <p:cNvSpPr/>
          <p:nvPr/>
        </p:nvSpPr>
        <p:spPr>
          <a:xfrm>
            <a:off x="411480" y="887040"/>
            <a:ext cx="2285640" cy="3837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11480" y="887040"/>
            <a:ext cx="228564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▶  DEMO LIVE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11480" y="1417320"/>
            <a:ext cx="8320680" cy="2285640"/>
          </a:xfrm>
          <a:prstGeom prst="rect">
            <a:avLst/>
          </a:prstGeom>
          <a:solidFill>
            <a:srgbClr val="1B2B3D"/>
          </a:solidFill>
          <a:ln cap="flat" cmpd="sng" w="12700">
            <a:solidFill>
              <a:srgbClr val="1B2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48640" y="1508760"/>
            <a:ext cx="8046360" cy="210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cd ~/lab01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containerlab deploy -t lab01.clab.yml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docker exec -it clab-lab01-ebgp-umm-border bash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ping 100.64.0.1 -c 3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vtysh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show version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11480" y="3822120"/>
            <a:ext cx="832068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Calibri"/>
              <a:buChar char="●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Perlihatkan output table dari containerlab deploy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Calibri"/>
              <a:buChar char="●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Tunjukkan bedanya bash vs langsung vtysh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Calibri"/>
              <a:buChar char="●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Konfirmasi semua peserta bisa melihat output yang sama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vtysh — Mode &amp; Perintah Dasar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p7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7"/>
          <p:cNvSpPr/>
          <p:nvPr/>
        </p:nvSpPr>
        <p:spPr>
          <a:xfrm>
            <a:off x="411480" y="887040"/>
            <a:ext cx="8320680" cy="2331360"/>
          </a:xfrm>
          <a:prstGeom prst="rect">
            <a:avLst/>
          </a:prstGeom>
          <a:solidFill>
            <a:srgbClr val="1B2B3D"/>
          </a:solidFill>
          <a:ln cap="flat" cmpd="sng" w="12700">
            <a:solidFill>
              <a:srgbClr val="1B2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48640" y="978480"/>
            <a:ext cx="8046360" cy="2148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router#                     ← privileged mode (default)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router# configure terminal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router(config)#             ← global config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router(config)# router bgp 65010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router(config-router)#      ← router config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router(config-router)# end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router# write memory        ← simpan ke frr.conf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11480" y="3383280"/>
            <a:ext cx="1554120" cy="32868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11480" y="3383280"/>
            <a:ext cx="1554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D4AA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2057400" y="3420000"/>
            <a:ext cx="66747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di setiap mode: tampilkan perintah tersedia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11480" y="3813120"/>
            <a:ext cx="1554120" cy="32868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11480" y="3813120"/>
            <a:ext cx="1554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D4AA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2057400" y="3849480"/>
            <a:ext cx="66747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kembali ke privileged mode dari manapun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11480" y="4242960"/>
            <a:ext cx="1554120" cy="32868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11480" y="4242960"/>
            <a:ext cx="1554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D4AA"/>
                </a:solidFill>
                <a:latin typeface="Courier New"/>
                <a:ea typeface="Courier New"/>
                <a:cs typeface="Courier New"/>
                <a:sym typeface="Courier New"/>
              </a:rPr>
              <a:t>write memory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2057400" y="4279320"/>
            <a:ext cx="66747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simpan konfigurasi — wajib sebelum destroy lab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11480" y="4672440"/>
            <a:ext cx="1554120" cy="32868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11480" y="4672440"/>
            <a:ext cx="155412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D4AA"/>
                </a:solidFill>
                <a:latin typeface="Courier New"/>
                <a:ea typeface="Courier New"/>
                <a:cs typeface="Courier New"/>
                <a:sym typeface="Courier New"/>
              </a:rPr>
              <a:t>exit / Ctrl+D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2057400" y="4709160"/>
            <a:ext cx="667476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keluar satu level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638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457200" y="320040"/>
            <a:ext cx="82292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SESI 2  •  14.00 – 15.00</a:t>
            </a:r>
            <a:endParaRPr b="0" sz="12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57200" y="777240"/>
            <a:ext cx="8229240" cy="137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BGP Fundamentals &amp; Use Case</a:t>
            </a:r>
            <a:endParaRPr b="0" sz="3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57200" y="224028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Kenapa kita butuh BGP?</a:t>
            </a:r>
            <a:endParaRPr b="0" sz="17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Skenario: Masalah Tanpa BGP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p9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9"/>
          <p:cNvSpPr/>
          <p:nvPr/>
        </p:nvSpPr>
        <p:spPr>
          <a:xfrm>
            <a:off x="2371494" y="914400"/>
            <a:ext cx="1260600" cy="519900"/>
          </a:xfrm>
          <a:prstGeom prst="rect">
            <a:avLst/>
          </a:prstGeom>
          <a:solidFill>
            <a:srgbClr val="0F1D2E"/>
          </a:solidFill>
          <a:ln cap="flat" cmpd="sng" w="10325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73125" spcFirstLastPara="1" rIns="7312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63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2371494" y="914400"/>
            <a:ext cx="1260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UMM Campus</a:t>
            </a:r>
            <a:endParaRPr b="1" sz="1016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AS46057</a:t>
            </a:r>
            <a:endParaRPr b="1" sz="1016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365750" y="2697600"/>
            <a:ext cx="1031400" cy="445500"/>
          </a:xfrm>
          <a:prstGeom prst="rect">
            <a:avLst/>
          </a:prstGeom>
          <a:solidFill>
            <a:srgbClr val="00D4AA"/>
          </a:solidFill>
          <a:ln cap="flat" cmpd="sng" w="10325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73125" spcFirstLastPara="1" rIns="7312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63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365750" y="2697600"/>
            <a:ext cx="10314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IDREN</a:t>
            </a:r>
            <a:endParaRPr b="0" sz="1016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2371494" y="2697600"/>
            <a:ext cx="1260600" cy="445500"/>
          </a:xfrm>
          <a:prstGeom prst="rect">
            <a:avLst/>
          </a:prstGeom>
          <a:solidFill>
            <a:srgbClr val="334E68"/>
          </a:solidFill>
          <a:ln cap="flat" cmpd="sng" w="10325">
            <a:solidFill>
              <a:srgbClr val="334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73125" spcFirstLastPara="1" rIns="7312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63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2371494" y="2697600"/>
            <a:ext cx="12606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ISP Komersial</a:t>
            </a:r>
            <a:endParaRPr b="1" sz="1016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4606466" y="2697600"/>
            <a:ext cx="1031400" cy="445500"/>
          </a:xfrm>
          <a:prstGeom prst="rect">
            <a:avLst/>
          </a:prstGeom>
          <a:solidFill>
            <a:srgbClr val="F59E0B"/>
          </a:solidFill>
          <a:ln cap="flat" cmpd="sng" w="103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575" lIns="73125" spcFirstLastPara="1" rIns="73125" wrap="square" tIns="36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63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4606466" y="2697600"/>
            <a:ext cx="10314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6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IIX</a:t>
            </a:r>
            <a:endParaRPr b="0" sz="1016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9"/>
          <p:cNvCxnSpPr/>
          <p:nvPr/>
        </p:nvCxnSpPr>
        <p:spPr>
          <a:xfrm flipH="1">
            <a:off x="881171" y="1434500"/>
            <a:ext cx="2120700" cy="1263000"/>
          </a:xfrm>
          <a:prstGeom prst="straightConnector1">
            <a:avLst/>
          </a:prstGeom>
          <a:noFill/>
          <a:ln cap="flat" cmpd="sng" w="1547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3" name="Google Shape;143;p9"/>
          <p:cNvCxnSpPr/>
          <p:nvPr/>
        </p:nvCxnSpPr>
        <p:spPr>
          <a:xfrm>
            <a:off x="3001871" y="1434500"/>
            <a:ext cx="300" cy="1263000"/>
          </a:xfrm>
          <a:prstGeom prst="straightConnector1">
            <a:avLst/>
          </a:prstGeom>
          <a:noFill/>
          <a:ln cap="flat" cmpd="sng" w="1547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44" name="Google Shape;144;p9"/>
          <p:cNvCxnSpPr/>
          <p:nvPr/>
        </p:nvCxnSpPr>
        <p:spPr>
          <a:xfrm>
            <a:off x="3001871" y="1434500"/>
            <a:ext cx="2120700" cy="1263000"/>
          </a:xfrm>
          <a:prstGeom prst="straightConnector1">
            <a:avLst/>
          </a:prstGeom>
          <a:noFill/>
          <a:ln cap="flat" cmpd="sng" w="15475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5" name="Google Shape;145;p9"/>
          <p:cNvSpPr/>
          <p:nvPr/>
        </p:nvSpPr>
        <p:spPr>
          <a:xfrm>
            <a:off x="2256880" y="1991750"/>
            <a:ext cx="14895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38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Static Route?</a:t>
            </a:r>
            <a:endParaRPr b="0" sz="1138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11480" y="3886200"/>
            <a:ext cx="832068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Calibri"/>
              <a:buChar char="●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Jika </a:t>
            </a:r>
            <a:r>
              <a:rPr lang="en-US" sz="1300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ada salah satu peer</a:t>
            </a: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 down → tidak ada failover otomatis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Calibri"/>
              <a:buChar char="●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Tidak bisa kontrol </a:t>
            </a:r>
            <a:r>
              <a:rPr lang="en-US" sz="1300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inbound atau outbound</a:t>
            </a: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 traffic ke IDREN, mana ke ISP komersial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Calibri"/>
              <a:buChar char="●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Tidak bisa </a:t>
            </a:r>
            <a:r>
              <a:rPr lang="en-US" sz="1300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advertise (iklankan)</a:t>
            </a: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 prefix UMM ke ketiga upstream sekaligus secara dinamis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1525775" y="1879080"/>
            <a:ext cx="7311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peer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2480225" y="1809355"/>
            <a:ext cx="7311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peer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3643883" y="1800637"/>
            <a:ext cx="7311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peer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Tiga Upstream UMM, Tiga Peran Berbeda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10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58" name="Google Shape;158;p10"/>
          <p:cNvGraphicFramePr/>
          <p:nvPr/>
        </p:nvGraphicFramePr>
        <p:xfrm>
          <a:off x="411480" y="887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{E2A9A9CC-C0DA-4DC6-98B6-EB66385870A6}</a:tableStyleId>
              </a:tblPr>
              <a:tblGrid>
                <a:gridCol w="2286000"/>
                <a:gridCol w="2743200"/>
                <a:gridCol w="329185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Upstream</a:t>
                      </a:r>
                      <a:endParaRPr b="0" sz="13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Fungsi Utama</a:t>
                      </a:r>
                      <a:endParaRPr b="0" sz="13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Contoh Traffic</a:t>
                      </a:r>
                      <a:endParaRPr b="0" sz="13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E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IDREN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Riset &amp; pendidikan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eduroam, antar kampus, BRIN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ISP Komersial (Internasional dan Domestik)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Internet umum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Google, YouTube, cloud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IIX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Peering lokal Indonesia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e-commerce, media lokal, META, Cloudflare, Tencent Global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10"/>
          <p:cNvSpPr/>
          <p:nvPr/>
        </p:nvSpPr>
        <p:spPr>
          <a:xfrm>
            <a:off x="411480" y="3657600"/>
            <a:ext cx="83206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BGP memungkinkan kita memilih path per-tujuan → traffic engineering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411480" y="4133160"/>
            <a:ext cx="832068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Calibri"/>
              <a:buChar char="●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Traffic ke antar kampus, eduroam → lewat IDREN (lebih dekat, lebih cepat)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Calibri"/>
              <a:buChar char="●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Traffic Netflix/AWS → ISP komersial 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Calibri"/>
              <a:buChar char="●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Traffic Media Lokal, Tokopedia → IIX (latency lebih rendah)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BGP: Apa itu?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11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11"/>
          <p:cNvSpPr/>
          <p:nvPr/>
        </p:nvSpPr>
        <p:spPr>
          <a:xfrm>
            <a:off x="411480" y="887040"/>
            <a:ext cx="4571640" cy="2742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Border Gateway Protocol — RFC 4271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Exterior Gateway Protocol (EGP) — dirancang untuk routing antar Autonomous System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Path vector protocol — keputusan routing berdasarkan atribut path (</a:t>
            </a:r>
            <a:r>
              <a:rPr b="1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AS-path</a:t>
            </a: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local-pref</a:t>
            </a: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MED</a:t>
            </a: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BGP tidak menggantikan OSPF di dalam kampus — keduanya jalan bersamaan, dengan peran berbeda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0" name="Google Shape;170;p11"/>
          <p:cNvGraphicFramePr/>
          <p:nvPr/>
        </p:nvGraphicFramePr>
        <p:xfrm>
          <a:off x="5105160" y="938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{E2A9A9CC-C0DA-4DC6-98B6-EB66385870A6}</a:tableStyleId>
              </a:tblPr>
              <a:tblGrid>
                <a:gridCol w="1280150"/>
                <a:gridCol w="1280150"/>
                <a:gridCol w="1371600"/>
              </a:tblGrid>
              <a:tr h="60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300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IGP (OSPF)</a:t>
                      </a:r>
                      <a:endParaRPr b="0" sz="1300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BGP</a:t>
                      </a:r>
                      <a:endParaRPr b="0" sz="1300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E"/>
                    </a:solidFill>
                  </a:tcPr>
                </a:tc>
              </a:tr>
              <a:tr h="6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Scope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Dalam satu AS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Antar AS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</a:tr>
              <a:tr h="6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Metrik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Path attributes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Konvergensi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Detik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Menit (by design)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</a:tr>
              <a:tr h="603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Neighbor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Otomatis (hello)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 — konfigurasi eksplisit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Autonomous System (AS) &amp; Peer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12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12"/>
          <p:cNvSpPr/>
          <p:nvPr/>
        </p:nvSpPr>
        <p:spPr>
          <a:xfrm>
            <a:off x="411480" y="887040"/>
            <a:ext cx="5028840" cy="393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AS = kumpulan jaringan di bawah satu administrasi dengan kebijakan routing konsisten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Setiap AS punya ASN unik secara global — dikeluarkan APNIC untuk Asia-Pasifik, Indonesia </a:t>
            </a:r>
            <a:r>
              <a:rPr lang="en-US" sz="1350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dikelola</a:t>
            </a: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 oleh IDNIC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○"/>
            </a:pPr>
            <a:r>
              <a:rPr b="0" i="0" lang="en-US" sz="1350" u="none" cap="none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ASN public: harus dapat dari APNIC / IDNIC — tidak boleh digunakan sembarangan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ASN private (boleh di lab): 64512 – 65534 → kita pakai range ini di workshop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Peer = router di AS lain yang kita buat BGP session — dikonfigurasi manual (neighbor)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5577840" y="887040"/>
            <a:ext cx="3200040" cy="123408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5577840" y="978480"/>
            <a:ext cx="320004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UMM Border Router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5577840" y="1307520"/>
            <a:ext cx="320004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D4AA"/>
                </a:solidFill>
                <a:latin typeface="Courier New"/>
                <a:ea typeface="Courier New"/>
                <a:cs typeface="Courier New"/>
                <a:sym typeface="Courier New"/>
              </a:rPr>
              <a:t>AS 65010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5577840" y="1710000"/>
            <a:ext cx="32000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100.64.0.2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5577840" y="2304360"/>
            <a:ext cx="3200040" cy="123408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8100000" dist="37674">
              <a:srgbClr val="000000">
                <a:alpha val="18039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5577840" y="2395800"/>
            <a:ext cx="320004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IDREN PoP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5577840" y="2724840"/>
            <a:ext cx="3200040" cy="402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F1D2E"/>
                </a:solidFill>
                <a:latin typeface="Courier New"/>
                <a:ea typeface="Courier New"/>
                <a:cs typeface="Courier New"/>
                <a:sym typeface="Courier New"/>
              </a:rPr>
              <a:t>AS 65000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5577840" y="3127320"/>
            <a:ext cx="32000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100.64.0.1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12"/>
          <p:cNvCxnSpPr/>
          <p:nvPr/>
        </p:nvCxnSpPr>
        <p:spPr>
          <a:xfrm>
            <a:off x="7178040" y="2121120"/>
            <a:ext cx="360" cy="329400"/>
          </a:xfrm>
          <a:prstGeom prst="straightConnector1">
            <a:avLst/>
          </a:prstGeom>
          <a:noFill/>
          <a:ln cap="flat" cmpd="sng" w="12700">
            <a:solidFill>
              <a:srgbClr val="627D9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12"/>
          <p:cNvSpPr/>
          <p:nvPr/>
        </p:nvSpPr>
        <p:spPr>
          <a:xfrm>
            <a:off x="6126480" y="2240280"/>
            <a:ext cx="2102760" cy="20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peer</a:t>
            </a:r>
            <a:endParaRPr b="0" sz="9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Topologi BGP di Jaringan UMM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13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13"/>
          <p:cNvSpPr/>
          <p:nvPr/>
        </p:nvSpPr>
        <p:spPr>
          <a:xfrm>
            <a:off x="1234800" y="887050"/>
            <a:ext cx="6586500" cy="1694100"/>
          </a:xfrm>
          <a:prstGeom prst="rect">
            <a:avLst/>
          </a:prstGeom>
          <a:solidFill>
            <a:srgbClr val="E1F5EE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411480" y="932760"/>
            <a:ext cx="83206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Jaringan Kampus UMM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411480" y="1261800"/>
            <a:ext cx="8320680" cy="22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AS 65010  ·  prefix 100.68.1.0/24  ·  ASN &amp; IP dari APNIC / IDNIC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1691640" y="1572840"/>
            <a:ext cx="1737000" cy="804240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1691640" y="1636920"/>
            <a:ext cx="173700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 switch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1691640" y="2020680"/>
            <a:ext cx="17370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A8D8B9"/>
                </a:solidFill>
                <a:latin typeface="Calibri"/>
                <a:ea typeface="Calibri"/>
                <a:cs typeface="Calibri"/>
                <a:sym typeface="Calibri"/>
              </a:rPr>
              <a:t>OSPF internal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5715000" y="1572840"/>
            <a:ext cx="1737000" cy="804240"/>
          </a:xfrm>
          <a:prstGeom prst="rect">
            <a:avLst/>
          </a:prstGeom>
          <a:solidFill>
            <a:srgbClr val="0F6E56"/>
          </a:solidFill>
          <a:ln cap="flat" cmpd="sng" w="254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5715000" y="1636920"/>
            <a:ext cx="173700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Border router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5715000" y="2020680"/>
            <a:ext cx="17370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A8D8B9"/>
                </a:solidFill>
                <a:latin typeface="Calibri"/>
                <a:ea typeface="Calibri"/>
                <a:cs typeface="Calibri"/>
                <a:sym typeface="Calibri"/>
              </a:rPr>
              <a:t>BGP r</a:t>
            </a:r>
            <a:r>
              <a:rPr b="0" lang="en-US" sz="900" strike="noStrike">
                <a:solidFill>
                  <a:srgbClr val="A8D8B9"/>
                </a:solidFill>
                <a:latin typeface="Calibri"/>
                <a:ea typeface="Calibri"/>
                <a:cs typeface="Calibri"/>
                <a:sym typeface="Calibri"/>
              </a:rPr>
              <a:t>outing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p13"/>
          <p:cNvCxnSpPr/>
          <p:nvPr/>
        </p:nvCxnSpPr>
        <p:spPr>
          <a:xfrm>
            <a:off x="3429000" y="1974960"/>
            <a:ext cx="2286000" cy="360"/>
          </a:xfrm>
          <a:prstGeom prst="straightConnector1">
            <a:avLst/>
          </a:prstGeom>
          <a:noFill/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3"/>
          <p:cNvSpPr/>
          <p:nvPr/>
        </p:nvSpPr>
        <p:spPr>
          <a:xfrm>
            <a:off x="4023360" y="1762371"/>
            <a:ext cx="1096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OSPF</a:t>
            </a:r>
            <a:endParaRPr b="0" sz="9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13"/>
          <p:cNvCxnSpPr/>
          <p:nvPr/>
        </p:nvCxnSpPr>
        <p:spPr>
          <a:xfrm>
            <a:off x="7650360" y="3241440"/>
            <a:ext cx="58680" cy="26280"/>
          </a:xfrm>
          <a:prstGeom prst="straightConnector1">
            <a:avLst/>
          </a:prstGeom>
          <a:noFill/>
          <a:ln cap="flat" cmpd="sng" w="12700">
            <a:solidFill>
              <a:srgbClr val="5F5E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13"/>
          <p:cNvSpPr/>
          <p:nvPr/>
        </p:nvSpPr>
        <p:spPr>
          <a:xfrm>
            <a:off x="2194600" y="2898605"/>
            <a:ext cx="7311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eBGP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6812769" y="2925828"/>
            <a:ext cx="7311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eBGP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4955855" y="2909230"/>
            <a:ext cx="7311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eBGP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228600" y="3337560"/>
            <a:ext cx="2011320" cy="712800"/>
          </a:xfrm>
          <a:prstGeom prst="rect">
            <a:avLst/>
          </a:prstGeom>
          <a:solidFill>
            <a:srgbClr val="EEEDFE"/>
          </a:solidFill>
          <a:ln cap="flat" cmpd="sng" w="12700">
            <a:solidFill>
              <a:srgbClr val="3C34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228600" y="3383280"/>
            <a:ext cx="201132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strike="noStrike">
                <a:solidFill>
                  <a:srgbClr val="3C3489"/>
                </a:solidFill>
                <a:latin typeface="Calibri"/>
                <a:ea typeface="Calibri"/>
                <a:cs typeface="Calibri"/>
                <a:sym typeface="Calibri"/>
              </a:rPr>
              <a:t>IDREN PoP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228600" y="3703320"/>
            <a:ext cx="201132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 strike="noStrike">
                <a:solidFill>
                  <a:srgbClr val="3C3489"/>
                </a:solidFill>
                <a:latin typeface="Courier New"/>
                <a:ea typeface="Courier New"/>
                <a:cs typeface="Courier New"/>
                <a:sym typeface="Courier New"/>
              </a:rPr>
              <a:t>AS 65000</a:t>
            </a:r>
            <a:endParaRPr b="0" sz="9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13"/>
          <p:cNvCxnSpPr/>
          <p:nvPr/>
        </p:nvCxnSpPr>
        <p:spPr>
          <a:xfrm>
            <a:off x="1234440" y="4050720"/>
            <a:ext cx="360" cy="164520"/>
          </a:xfrm>
          <a:prstGeom prst="straightConnector1">
            <a:avLst/>
          </a:prstGeom>
          <a:noFill/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13"/>
          <p:cNvSpPr/>
          <p:nvPr/>
        </p:nvSpPr>
        <p:spPr>
          <a:xfrm>
            <a:off x="228600" y="4215240"/>
            <a:ext cx="2011320" cy="658080"/>
          </a:xfrm>
          <a:prstGeom prst="rect">
            <a:avLst/>
          </a:prstGeom>
          <a:solidFill>
            <a:srgbClr val="F7F5FF"/>
          </a:solidFill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228600" y="4242960"/>
            <a:ext cx="201132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3C3489"/>
                </a:solidFill>
                <a:latin typeface="Calibri"/>
                <a:ea typeface="Calibri"/>
                <a:cs typeface="Calibri"/>
                <a:sym typeface="Calibri"/>
              </a:rPr>
              <a:t>eduroam, antar kampus, lembaga riset</a:t>
            </a:r>
            <a:r>
              <a:rPr lang="en-US" sz="900">
                <a:solidFill>
                  <a:srgbClr val="3C3489"/>
                </a:solidFill>
                <a:latin typeface="Calibri"/>
                <a:ea typeface="Calibri"/>
                <a:cs typeface="Calibri"/>
                <a:sym typeface="Calibri"/>
              </a:rPr>
              <a:t> BRIN, Repository Linux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2962273" y="3331531"/>
            <a:ext cx="2194200" cy="621300"/>
          </a:xfrm>
          <a:prstGeom prst="rect">
            <a:avLst/>
          </a:prstGeom>
          <a:solidFill>
            <a:srgbClr val="FAEEDA"/>
          </a:solidFill>
          <a:ln cap="flat" cmpd="sng" w="12700">
            <a:solidFill>
              <a:srgbClr val="854F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2962268" y="3377249"/>
            <a:ext cx="2194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ISP Komersial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2962268" y="3555431"/>
            <a:ext cx="2194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Transit internet global / Domestik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2465957" y="4117019"/>
            <a:ext cx="630600" cy="54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2465957" y="4117019"/>
            <a:ext cx="630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Rumahan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3179607" y="4135999"/>
            <a:ext cx="630600" cy="54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3179607" y="4135999"/>
            <a:ext cx="630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3902746" y="4145489"/>
            <a:ext cx="630600" cy="54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3902746" y="4145489"/>
            <a:ext cx="6306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Kampus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13"/>
          <p:cNvCxnSpPr>
            <a:stCxn id="219" idx="2"/>
            <a:endCxn id="229" idx="0"/>
          </p:cNvCxnSpPr>
          <p:nvPr/>
        </p:nvCxnSpPr>
        <p:spPr>
          <a:xfrm>
            <a:off x="4059373" y="3952831"/>
            <a:ext cx="1205400" cy="192600"/>
          </a:xfrm>
          <a:prstGeom prst="straightConnector1">
            <a:avLst/>
          </a:prstGeom>
          <a:noFill/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3"/>
          <p:cNvSpPr/>
          <p:nvPr/>
        </p:nvSpPr>
        <p:spPr>
          <a:xfrm>
            <a:off x="4625898" y="4145484"/>
            <a:ext cx="1278000" cy="548400"/>
          </a:xfrm>
          <a:prstGeom prst="rect">
            <a:avLst/>
          </a:prstGeom>
          <a:solidFill>
            <a:srgbClr val="FFFBF0"/>
          </a:solidFill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4625898" y="4145484"/>
            <a:ext cx="12780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Google, </a:t>
            </a:r>
            <a:r>
              <a:rPr lang="en-US" sz="900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r>
              <a:rPr b="0" lang="en-US" sz="900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, AWS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 strike="noStrike">
                <a:solidFill>
                  <a:srgbClr val="854F0B"/>
                </a:solidFill>
                <a:latin typeface="Calibri"/>
                <a:ea typeface="Calibri"/>
                <a:cs typeface="Calibri"/>
                <a:sym typeface="Calibri"/>
              </a:rPr>
              <a:t>cloud, Cloudflare &amp; traffic internasional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6720850" y="3246125"/>
            <a:ext cx="2011200" cy="621300"/>
          </a:xfrm>
          <a:prstGeom prst="rect">
            <a:avLst/>
          </a:prstGeom>
          <a:solidFill>
            <a:srgbClr val="FFF4F0"/>
          </a:solidFill>
          <a:ln cap="flat" cmpd="sng" w="12700">
            <a:solidFill>
              <a:srgbClr val="993C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6720840" y="3491127"/>
            <a:ext cx="20112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 strike="noStrike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Indonesia Internet Exchange</a:t>
            </a:r>
            <a:endParaRPr b="0" sz="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6720840" y="3331133"/>
            <a:ext cx="2011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IIX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6281473" y="4187875"/>
            <a:ext cx="432000" cy="24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6281473" y="4187875"/>
            <a:ext cx="432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Indosat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6815739" y="4604376"/>
            <a:ext cx="2011200" cy="201000"/>
          </a:xfrm>
          <a:prstGeom prst="rect">
            <a:avLst/>
          </a:prstGeom>
          <a:solidFill>
            <a:srgbClr val="FFF4F0"/>
          </a:solidFill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6815739" y="4604376"/>
            <a:ext cx="20112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0" strike="noStrike">
                <a:solidFill>
                  <a:srgbClr val="993C1D"/>
                </a:solidFill>
                <a:latin typeface="Calibri"/>
                <a:ea typeface="Calibri"/>
                <a:cs typeface="Calibri"/>
                <a:sym typeface="Calibri"/>
              </a:rPr>
              <a:t>Detikcom · Kompas · Tokopedia · CDN lokal</a:t>
            </a:r>
            <a:endParaRPr b="0" sz="7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" name="Google Shape;238;p13"/>
          <p:cNvCxnSpPr>
            <a:endCxn id="213" idx="0"/>
          </p:cNvCxnSpPr>
          <p:nvPr/>
        </p:nvCxnSpPr>
        <p:spPr>
          <a:xfrm flipH="1">
            <a:off x="1234260" y="2376960"/>
            <a:ext cx="5349300" cy="96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13"/>
          <p:cNvCxnSpPr>
            <a:stCxn id="204" idx="2"/>
            <a:endCxn id="219" idx="0"/>
          </p:cNvCxnSpPr>
          <p:nvPr/>
        </p:nvCxnSpPr>
        <p:spPr>
          <a:xfrm flipH="1">
            <a:off x="4059300" y="2377080"/>
            <a:ext cx="2524200" cy="95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13"/>
          <p:cNvCxnSpPr>
            <a:stCxn id="204" idx="2"/>
            <a:endCxn id="231" idx="0"/>
          </p:cNvCxnSpPr>
          <p:nvPr/>
        </p:nvCxnSpPr>
        <p:spPr>
          <a:xfrm>
            <a:off x="6583500" y="2377080"/>
            <a:ext cx="1143000" cy="86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13"/>
          <p:cNvCxnSpPr>
            <a:stCxn id="219" idx="2"/>
            <a:endCxn id="223" idx="0"/>
          </p:cNvCxnSpPr>
          <p:nvPr/>
        </p:nvCxnSpPr>
        <p:spPr>
          <a:xfrm flipH="1">
            <a:off x="2781373" y="3952831"/>
            <a:ext cx="1278000" cy="164100"/>
          </a:xfrm>
          <a:prstGeom prst="straightConnector1">
            <a:avLst/>
          </a:prstGeom>
          <a:noFill/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13"/>
          <p:cNvCxnSpPr>
            <a:stCxn id="219" idx="2"/>
            <a:endCxn id="225" idx="0"/>
          </p:cNvCxnSpPr>
          <p:nvPr/>
        </p:nvCxnSpPr>
        <p:spPr>
          <a:xfrm flipH="1">
            <a:off x="3494773" y="3952831"/>
            <a:ext cx="564600" cy="183300"/>
          </a:xfrm>
          <a:prstGeom prst="straightConnector1">
            <a:avLst/>
          </a:prstGeom>
          <a:noFill/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13"/>
          <p:cNvCxnSpPr>
            <a:stCxn id="219" idx="2"/>
            <a:endCxn id="227" idx="0"/>
          </p:cNvCxnSpPr>
          <p:nvPr/>
        </p:nvCxnSpPr>
        <p:spPr>
          <a:xfrm>
            <a:off x="4059373" y="3952831"/>
            <a:ext cx="158700" cy="192600"/>
          </a:xfrm>
          <a:prstGeom prst="straightConnector1">
            <a:avLst/>
          </a:prstGeom>
          <a:noFill/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13"/>
          <p:cNvSpPr/>
          <p:nvPr/>
        </p:nvSpPr>
        <p:spPr>
          <a:xfrm>
            <a:off x="6747760" y="4190191"/>
            <a:ext cx="432000" cy="24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6747760" y="4190191"/>
            <a:ext cx="432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Telkom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7214035" y="4191428"/>
            <a:ext cx="432000" cy="24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7214035" y="4191428"/>
            <a:ext cx="432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Moratel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8012455" y="4199080"/>
            <a:ext cx="432000" cy="24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8012455" y="4199080"/>
            <a:ext cx="432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Icon+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13"/>
          <p:cNvCxnSpPr>
            <a:stCxn id="231" idx="2"/>
            <a:endCxn id="235" idx="0"/>
          </p:cNvCxnSpPr>
          <p:nvPr/>
        </p:nvCxnSpPr>
        <p:spPr>
          <a:xfrm flipH="1">
            <a:off x="6497350" y="3867425"/>
            <a:ext cx="1229100" cy="320400"/>
          </a:xfrm>
          <a:prstGeom prst="straightConnector1">
            <a:avLst/>
          </a:prstGeom>
          <a:noFill/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13"/>
          <p:cNvCxnSpPr>
            <a:stCxn id="231" idx="2"/>
            <a:endCxn id="245" idx="0"/>
          </p:cNvCxnSpPr>
          <p:nvPr/>
        </p:nvCxnSpPr>
        <p:spPr>
          <a:xfrm flipH="1">
            <a:off x="6963850" y="3867425"/>
            <a:ext cx="762600" cy="322800"/>
          </a:xfrm>
          <a:prstGeom prst="straightConnector1">
            <a:avLst/>
          </a:prstGeom>
          <a:noFill/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13"/>
          <p:cNvCxnSpPr>
            <a:stCxn id="231" idx="2"/>
            <a:endCxn id="247" idx="0"/>
          </p:cNvCxnSpPr>
          <p:nvPr/>
        </p:nvCxnSpPr>
        <p:spPr>
          <a:xfrm flipH="1">
            <a:off x="7430050" y="3867425"/>
            <a:ext cx="296400" cy="324000"/>
          </a:xfrm>
          <a:prstGeom prst="straightConnector1">
            <a:avLst/>
          </a:prstGeom>
          <a:noFill/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13"/>
          <p:cNvCxnSpPr>
            <a:stCxn id="231" idx="2"/>
            <a:endCxn id="249" idx="0"/>
          </p:cNvCxnSpPr>
          <p:nvPr/>
        </p:nvCxnSpPr>
        <p:spPr>
          <a:xfrm>
            <a:off x="7726450" y="3867425"/>
            <a:ext cx="501900" cy="331800"/>
          </a:xfrm>
          <a:prstGeom prst="straightConnector1">
            <a:avLst/>
          </a:prstGeom>
          <a:noFill/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13"/>
          <p:cNvSpPr/>
          <p:nvPr/>
        </p:nvSpPr>
        <p:spPr>
          <a:xfrm>
            <a:off x="8478730" y="4203884"/>
            <a:ext cx="432000" cy="246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8478730" y="4203884"/>
            <a:ext cx="4320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ISP Lokal</a:t>
            </a:r>
            <a:endParaRPr b="0" sz="9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p13"/>
          <p:cNvCxnSpPr>
            <a:stCxn id="231" idx="2"/>
            <a:endCxn id="255" idx="0"/>
          </p:cNvCxnSpPr>
          <p:nvPr/>
        </p:nvCxnSpPr>
        <p:spPr>
          <a:xfrm>
            <a:off x="7726450" y="3867425"/>
            <a:ext cx="968400" cy="336600"/>
          </a:xfrm>
          <a:prstGeom prst="straightConnector1">
            <a:avLst/>
          </a:prstGeom>
          <a:noFill/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13"/>
          <p:cNvCxnSpPr>
            <a:stCxn id="231" idx="2"/>
            <a:endCxn id="237" idx="0"/>
          </p:cNvCxnSpPr>
          <p:nvPr/>
        </p:nvCxnSpPr>
        <p:spPr>
          <a:xfrm>
            <a:off x="7726450" y="3867425"/>
            <a:ext cx="94800" cy="737100"/>
          </a:xfrm>
          <a:prstGeom prst="straightConnector1">
            <a:avLst/>
          </a:prstGeom>
          <a:noFill/>
          <a:ln cap="flat" cmpd="sng" w="9525">
            <a:solidFill>
              <a:srgbClr val="B4B2A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eBGP vs iBGP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14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14"/>
          <p:cNvSpPr/>
          <p:nvPr/>
        </p:nvSpPr>
        <p:spPr>
          <a:xfrm>
            <a:off x="411480" y="887040"/>
            <a:ext cx="3931560" cy="182844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411480" y="1005840"/>
            <a:ext cx="393156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eBGP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411480" y="1554480"/>
            <a:ext cx="393156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BGP antar AS berbeda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411480" y="1965960"/>
            <a:ext cx="393156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UMM</a:t>
            </a:r>
            <a:r>
              <a:rPr b="0" lang="en-US" sz="120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1200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lang="en-US" sz="120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order-Router ↔ IDREN PoP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4709160" y="887040"/>
            <a:ext cx="3931560" cy="1828440"/>
          </a:xfrm>
          <a:prstGeom prst="rect">
            <a:avLst/>
          </a:prstGeom>
          <a:solidFill>
            <a:srgbClr val="334E68"/>
          </a:solidFill>
          <a:ln cap="flat" cmpd="sng" w="12700">
            <a:solidFill>
              <a:srgbClr val="334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4709160" y="1005840"/>
            <a:ext cx="393156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iBGP</a:t>
            </a:r>
            <a:endParaRPr b="0" sz="2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4709160" y="1554480"/>
            <a:ext cx="393156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BGP dalam satu AS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4709160" y="1965960"/>
            <a:ext cx="393156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lang="en-US" sz="120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ntara </a:t>
            </a:r>
            <a:r>
              <a:rPr lang="en-US" sz="1200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lang="en-US" sz="120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order </a:t>
            </a:r>
            <a:r>
              <a:rPr lang="en-US" sz="1200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lang="en-US" sz="120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outer &amp; </a:t>
            </a:r>
            <a:r>
              <a:rPr lang="en-US" sz="1200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lang="en-US" sz="120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outer </a:t>
            </a:r>
            <a:r>
              <a:rPr lang="en-US" sz="1200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lang="en-US" sz="120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nternal UMM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411475" y="2880349"/>
            <a:ext cx="8320800" cy="14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TTL default </a:t>
            </a:r>
            <a:endParaRPr b="0" sz="1350" strike="noStrike">
              <a:solidFill>
                <a:srgbClr val="1A29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○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eBGP = 1 (harus directly connected); </a:t>
            </a:r>
            <a:endParaRPr b="0" sz="1350" strike="noStrike">
              <a:solidFill>
                <a:srgbClr val="1A29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○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iBGP = 255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Next-hop behavior: </a:t>
            </a:r>
            <a:endParaRPr b="0" sz="1350" strike="noStrike">
              <a:solidFill>
                <a:srgbClr val="1A29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○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eBGP ubah next-hop ke IP lokal, </a:t>
            </a:r>
            <a:endParaRPr b="0" sz="1350" strike="noStrike">
              <a:solidFill>
                <a:srgbClr val="1A29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○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iBGP tidak ubah (Next-hop-sel</a:t>
            </a:r>
            <a:r>
              <a:rPr lang="en-US" sz="1350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Implikasi next-hop iBGP untuk reachability dibahas MOD-03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BGP Session — TCP &amp; State Machine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15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15"/>
          <p:cNvSpPr/>
          <p:nvPr/>
        </p:nvSpPr>
        <p:spPr>
          <a:xfrm>
            <a:off x="411480" y="887040"/>
            <a:ext cx="1325520" cy="62136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411480" y="887040"/>
            <a:ext cx="132552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Idle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p15"/>
          <p:cNvCxnSpPr/>
          <p:nvPr/>
        </p:nvCxnSpPr>
        <p:spPr>
          <a:xfrm>
            <a:off x="1737360" y="1197720"/>
            <a:ext cx="27360" cy="360"/>
          </a:xfrm>
          <a:prstGeom prst="straightConnector1">
            <a:avLst/>
          </a:prstGeom>
          <a:noFill/>
          <a:ln cap="flat" cmpd="sng" w="254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15"/>
          <p:cNvSpPr/>
          <p:nvPr/>
        </p:nvSpPr>
        <p:spPr>
          <a:xfrm>
            <a:off x="1755720" y="887040"/>
            <a:ext cx="1325520" cy="62136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1755720" y="887040"/>
            <a:ext cx="132552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15"/>
          <p:cNvCxnSpPr/>
          <p:nvPr/>
        </p:nvCxnSpPr>
        <p:spPr>
          <a:xfrm>
            <a:off x="3081240" y="1197720"/>
            <a:ext cx="27720" cy="360"/>
          </a:xfrm>
          <a:prstGeom prst="straightConnector1">
            <a:avLst/>
          </a:prstGeom>
          <a:noFill/>
          <a:ln cap="flat" cmpd="sng" w="254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5"/>
          <p:cNvSpPr/>
          <p:nvPr/>
        </p:nvSpPr>
        <p:spPr>
          <a:xfrm>
            <a:off x="3099960" y="887040"/>
            <a:ext cx="1325520" cy="62136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3099960" y="887040"/>
            <a:ext cx="132552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15"/>
          <p:cNvCxnSpPr/>
          <p:nvPr/>
        </p:nvCxnSpPr>
        <p:spPr>
          <a:xfrm>
            <a:off x="4425480" y="1197720"/>
            <a:ext cx="27360" cy="360"/>
          </a:xfrm>
          <a:prstGeom prst="straightConnector1">
            <a:avLst/>
          </a:prstGeom>
          <a:noFill/>
          <a:ln cap="flat" cmpd="sng" w="254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5"/>
          <p:cNvSpPr/>
          <p:nvPr/>
        </p:nvSpPr>
        <p:spPr>
          <a:xfrm>
            <a:off x="4443840" y="887040"/>
            <a:ext cx="1325520" cy="62136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4443840" y="887040"/>
            <a:ext cx="132552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OpenSent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15"/>
          <p:cNvCxnSpPr/>
          <p:nvPr/>
        </p:nvCxnSpPr>
        <p:spPr>
          <a:xfrm>
            <a:off x="5769720" y="1197720"/>
            <a:ext cx="27360" cy="360"/>
          </a:xfrm>
          <a:prstGeom prst="straightConnector1">
            <a:avLst/>
          </a:prstGeom>
          <a:noFill/>
          <a:ln cap="flat" cmpd="sng" w="254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5"/>
          <p:cNvSpPr/>
          <p:nvPr/>
        </p:nvSpPr>
        <p:spPr>
          <a:xfrm>
            <a:off x="5788080" y="887040"/>
            <a:ext cx="1325520" cy="62136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5788080" y="887040"/>
            <a:ext cx="132552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OpenConfirm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15"/>
          <p:cNvCxnSpPr/>
          <p:nvPr/>
        </p:nvCxnSpPr>
        <p:spPr>
          <a:xfrm>
            <a:off x="7113960" y="1197720"/>
            <a:ext cx="27360" cy="360"/>
          </a:xfrm>
          <a:prstGeom prst="straightConnector1">
            <a:avLst/>
          </a:prstGeom>
          <a:noFill/>
          <a:ln cap="flat" cmpd="sng" w="254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5"/>
          <p:cNvSpPr/>
          <p:nvPr/>
        </p:nvSpPr>
        <p:spPr>
          <a:xfrm>
            <a:off x="7132320" y="887040"/>
            <a:ext cx="1325520" cy="621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7132320" y="887040"/>
            <a:ext cx="132552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Established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411480" y="1737360"/>
            <a:ext cx="832068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BGP jalan di atas TCP port 179 — TCP harus berhasil sebelum BGP negotiate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State Active: TCP connect sedang dicoba — biasanya masalah konektivitas atau konfigurasi peer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State Established: normal, prefix exchange aktif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Hold time default 90 detik, keepalive tiap 30 detik — dua router harus sepakat nilai ini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"/>
          <p:cNvSpPr/>
          <p:nvPr/>
        </p:nvSpPr>
        <p:spPr>
          <a:xfrm>
            <a:off x="307150" y="915500"/>
            <a:ext cx="8484000" cy="1828500"/>
          </a:xfrm>
          <a:prstGeom prst="rect">
            <a:avLst/>
          </a:prstGeom>
          <a:solidFill>
            <a:srgbClr val="E1F5EE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Tiga BGP Table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16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16"/>
          <p:cNvSpPr/>
          <p:nvPr/>
        </p:nvSpPr>
        <p:spPr>
          <a:xfrm>
            <a:off x="365760" y="1399492"/>
            <a:ext cx="1920000" cy="1279800"/>
          </a:xfrm>
          <a:prstGeom prst="rect">
            <a:avLst/>
          </a:prstGeom>
          <a:solidFill>
            <a:srgbClr val="334E68"/>
          </a:solidFill>
          <a:ln cap="flat" cmpd="sng" w="12700">
            <a:solidFill>
              <a:srgbClr val="334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365760" y="1472572"/>
            <a:ext cx="19200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Adj-RIB-In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365760" y="1957132"/>
            <a:ext cx="1920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Semua prefix dari peer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sebelum policy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p16"/>
          <p:cNvCxnSpPr/>
          <p:nvPr/>
        </p:nvCxnSpPr>
        <p:spPr>
          <a:xfrm>
            <a:off x="2286000" y="2039212"/>
            <a:ext cx="228600" cy="300"/>
          </a:xfrm>
          <a:prstGeom prst="straightConnector1">
            <a:avLst/>
          </a:prstGeom>
          <a:noFill/>
          <a:ln cap="flat" cmpd="sng" w="254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6"/>
          <p:cNvSpPr/>
          <p:nvPr/>
        </p:nvSpPr>
        <p:spPr>
          <a:xfrm>
            <a:off x="2514600" y="1399492"/>
            <a:ext cx="1920000" cy="12798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2514600" y="1472572"/>
            <a:ext cx="19200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2514600" y="1957132"/>
            <a:ext cx="1920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best-path selection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policy filter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p16"/>
          <p:cNvCxnSpPr/>
          <p:nvPr/>
        </p:nvCxnSpPr>
        <p:spPr>
          <a:xfrm>
            <a:off x="4434840" y="2039212"/>
            <a:ext cx="228600" cy="300"/>
          </a:xfrm>
          <a:prstGeom prst="straightConnector1">
            <a:avLst/>
          </a:prstGeom>
          <a:noFill/>
          <a:ln cap="flat" cmpd="sng" w="254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16"/>
          <p:cNvSpPr/>
          <p:nvPr/>
        </p:nvSpPr>
        <p:spPr>
          <a:xfrm>
            <a:off x="4663440" y="1399492"/>
            <a:ext cx="1920000" cy="127980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4663440" y="1472572"/>
            <a:ext cx="19200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Loc-RIB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4663440" y="1957132"/>
            <a:ext cx="1920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Prefix terbaik yang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masuk routing table OS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16"/>
          <p:cNvCxnSpPr/>
          <p:nvPr/>
        </p:nvCxnSpPr>
        <p:spPr>
          <a:xfrm>
            <a:off x="6583680" y="2039212"/>
            <a:ext cx="228600" cy="300"/>
          </a:xfrm>
          <a:prstGeom prst="straightConnector1">
            <a:avLst/>
          </a:prstGeom>
          <a:noFill/>
          <a:ln cap="flat" cmpd="sng" w="254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16"/>
          <p:cNvSpPr/>
          <p:nvPr/>
        </p:nvSpPr>
        <p:spPr>
          <a:xfrm>
            <a:off x="6812280" y="1399492"/>
            <a:ext cx="1920000" cy="1279800"/>
          </a:xfrm>
          <a:prstGeom prst="rect">
            <a:avLst/>
          </a:prstGeom>
          <a:solidFill>
            <a:srgbClr val="334E68"/>
          </a:solidFill>
          <a:ln cap="flat" cmpd="sng" w="12700">
            <a:solidFill>
              <a:srgbClr val="334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6812280" y="1472572"/>
            <a:ext cx="19200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Adj-RIB-Out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6"/>
          <p:cNvSpPr/>
          <p:nvPr/>
        </p:nvSpPr>
        <p:spPr>
          <a:xfrm>
            <a:off x="6812280" y="1957132"/>
            <a:ext cx="1920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Prefix ke peer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setelah outbound policy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6"/>
          <p:cNvSpPr/>
          <p:nvPr/>
        </p:nvSpPr>
        <p:spPr>
          <a:xfrm>
            <a:off x="411480" y="3058980"/>
            <a:ext cx="83208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Hanya prefix di Loc-RIB (Routing Information Base) yang masuk routing table OS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Hanya jika next-hop reachable — jika tidak, prefix ada di BGP table tapi tidak dipakai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1" lang="en-US" sz="1350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r>
              <a:rPr b="1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 "BGP Established tapi traffic tidak lewat"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2670101" y="946863"/>
            <a:ext cx="37581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Border Router</a:t>
            </a:r>
            <a:r>
              <a:rPr b="1" lang="en-US" sz="1200" strike="noStrike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 UMM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7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BGP Message Types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17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35" name="Google Shape;335;p17"/>
          <p:cNvGraphicFramePr/>
          <p:nvPr/>
        </p:nvGraphicFramePr>
        <p:xfrm>
          <a:off x="411480" y="887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{E2A9A9CC-C0DA-4DC6-98B6-EB66385870A6}</a:tableStyleId>
              </a:tblPr>
              <a:tblGrid>
                <a:gridCol w="2194550"/>
                <a:gridCol w="6126475"/>
              </a:tblGrid>
              <a:tr h="51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Tipe</a:t>
                      </a:r>
                      <a:endParaRPr b="0" sz="1300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Fungsi</a:t>
                      </a:r>
                      <a:endParaRPr b="0" sz="1300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E"/>
                    </a:solidFill>
                  </a:tcPr>
                </a:tc>
              </a:tr>
              <a:tr h="51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Negosiasi: ASN, hold time, router ID, capabilities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</a:tr>
              <a:tr h="51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Kirim prefix baru atau withdraw prefix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NOTIFICATION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 — session langsung ditutup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</a:tr>
              <a:tr h="511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KEEPALIVE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Konfirmasi session masih hidup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6" name="Google Shape;336;p17"/>
          <p:cNvSpPr/>
          <p:nvPr/>
        </p:nvSpPr>
        <p:spPr>
          <a:xfrm>
            <a:off x="411480" y="3657600"/>
            <a:ext cx="8320680" cy="123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Noto Sans Symbols"/>
              <a:buChar char="∙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NOTIFICATION = sinyal ada yang salah — catat pesan error-nya untuk troubleshooting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Noto Sans Symbols"/>
              <a:buChar char="∙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Common error: Bad Peer AS (ASN salah), Hold Timer Expired (keepalive hilang)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Noto Sans Symbols"/>
              <a:buChar char="∙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Di FRR: show bgp neighbors &lt;IP&gt; → bagian Last error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8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Common Mistakes — BGP Fundamentals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18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18"/>
          <p:cNvSpPr/>
          <p:nvPr/>
        </p:nvSpPr>
        <p:spPr>
          <a:xfrm>
            <a:off x="411480" y="887040"/>
            <a:ext cx="502560" cy="5940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411480" y="887040"/>
            <a:ext cx="50256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1024200" y="996840"/>
            <a:ext cx="76806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Salah ASN di konfigurasi neighbor → session tidak pernah Established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411480" y="1682640"/>
            <a:ext cx="502560" cy="5940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411480" y="1682640"/>
            <a:ext cx="50256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1024200" y="1792080"/>
            <a:ext cx="76806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Lupa advertise network → session OK tapi tidak ada prefix yang dikirim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411480" y="2477880"/>
            <a:ext cx="502560" cy="5940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411480" y="2477880"/>
            <a:ext cx="50256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1024200" y="2587680"/>
            <a:ext cx="76806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Advertise prefix bukan milik sendiri → routing leak, serius di produksi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411480" y="3273480"/>
            <a:ext cx="502560" cy="5940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411480" y="3273480"/>
            <a:ext cx="50256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1024200" y="3383280"/>
            <a:ext cx="76806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Bingung eBGP vs iBGP → pakai ASN sama, perilaku next-hop berbeda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411480" y="4069080"/>
            <a:ext cx="502560" cy="5940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411480" y="4069080"/>
            <a:ext cx="50256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1024200" y="4178880"/>
            <a:ext cx="76806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TTL eBGP = 1 → tidak bisa direct-connect kalau ada switch di tengah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9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Wrap-up — BGP Fundamentals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p19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19"/>
          <p:cNvSpPr/>
          <p:nvPr/>
        </p:nvSpPr>
        <p:spPr>
          <a:xfrm>
            <a:off x="411480" y="960120"/>
            <a:ext cx="502560" cy="59400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411480" y="960120"/>
            <a:ext cx="50256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1024200" y="1069920"/>
            <a:ext cx="76806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BGP untuk routing antar AS — butuh karena UMM punya 3 upstream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411480" y="1874520"/>
            <a:ext cx="502560" cy="59400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411480" y="1874520"/>
            <a:ext cx="50256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1024200" y="1984320"/>
            <a:ext cx="76806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Komponen: AS, ASN, prefix, peer, session, tiga table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411480" y="2788920"/>
            <a:ext cx="502560" cy="59400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411480" y="2788920"/>
            <a:ext cx="50256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1024200" y="2898720"/>
            <a:ext cx="76806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State machine: Idle → Established (via TCP 179)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411480" y="3703320"/>
            <a:ext cx="502560" cy="5940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411480" y="3703320"/>
            <a:ext cx="50256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1024200" y="3813120"/>
            <a:ext cx="76806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Selanjutnya: konfigurasi eBGP di FRRouting (MOD-02)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6858000" y="4389120"/>
            <a:ext cx="1828440" cy="4568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6858000" y="4389120"/>
            <a:ext cx="18284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Q&amp;A — 10 menit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4AA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0"/>
          <p:cNvSpPr/>
          <p:nvPr/>
        </p:nvSpPr>
        <p:spPr>
          <a:xfrm>
            <a:off x="914400" y="1645920"/>
            <a:ext cx="731484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☕  BREAK</a:t>
            </a:r>
            <a:endParaRPr b="0" sz="5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914400" y="2926080"/>
            <a:ext cx="73148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15.00 – 15.15  |  15 menit</a:t>
            </a:r>
            <a:endParaRPr b="0" sz="22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638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457200" y="320040"/>
            <a:ext cx="82292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SESI 3  •  15.15 – 16.15</a:t>
            </a:r>
            <a:endParaRPr b="0" sz="12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457200" y="777240"/>
            <a:ext cx="8229240" cy="137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eBGP Configuration di FRRouting</a:t>
            </a:r>
            <a:endParaRPr b="0" sz="3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457200" y="224028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Dari teori ke konfigurasi nyata</a:t>
            </a:r>
            <a:endParaRPr b="0" sz="17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2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Skenario: Kamu adalah NOC UMM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22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22"/>
          <p:cNvSpPr/>
          <p:nvPr/>
        </p:nvSpPr>
        <p:spPr>
          <a:xfrm>
            <a:off x="457200" y="914400"/>
            <a:ext cx="3017160" cy="164556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457200" y="914400"/>
            <a:ext cx="3017160" cy="164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umm-border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AS 65010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100.64.0.2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5577840" y="914400"/>
            <a:ext cx="3017160" cy="16455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5577840" y="914400"/>
            <a:ext cx="3017160" cy="1645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idren-pop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AS 65000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100.64.0.1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0" name="Google Shape;410;p22"/>
          <p:cNvCxnSpPr/>
          <p:nvPr/>
        </p:nvCxnSpPr>
        <p:spPr>
          <a:xfrm>
            <a:off x="3474720" y="1737360"/>
            <a:ext cx="2103120" cy="36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22"/>
          <p:cNvSpPr/>
          <p:nvPr/>
        </p:nvSpPr>
        <p:spPr>
          <a:xfrm>
            <a:off x="3749040" y="1481400"/>
            <a:ext cx="15541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eBGP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411480" y="2834640"/>
            <a:ext cx="832068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Kamu baru terima konfirmasi dari IDREN NOC: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○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Peer IP </a:t>
            </a:r>
            <a:r>
              <a:rPr lang="en-US" sz="1350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IDREN</a:t>
            </a: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: 100.64.0.1  |  ASN IDREN: 65000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1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Tugas:</a:t>
            </a: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 konfigurasi border router UMM dan </a:t>
            </a:r>
            <a:r>
              <a:rPr lang="en-US" sz="1350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advertise</a:t>
            </a: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 prefix 100.68.1.0/24 ke IDREN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Lab-01: kita kerjakan setelah sesi ini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3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FRRouting — Arsitektur Singkat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p23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p23"/>
          <p:cNvSpPr/>
          <p:nvPr/>
        </p:nvSpPr>
        <p:spPr>
          <a:xfrm>
            <a:off x="457200" y="914400"/>
            <a:ext cx="2011320" cy="109692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3"/>
          <p:cNvSpPr/>
          <p:nvPr/>
        </p:nvSpPr>
        <p:spPr>
          <a:xfrm>
            <a:off x="457200" y="914400"/>
            <a:ext cx="201132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strike="noStrike">
                <a:solidFill>
                  <a:srgbClr val="00D4AA"/>
                </a:solidFill>
                <a:latin typeface="Courier New"/>
                <a:ea typeface="Courier New"/>
                <a:cs typeface="Courier New"/>
                <a:sym typeface="Courier New"/>
              </a:rPr>
              <a:t>vtysh</a:t>
            </a:r>
            <a:endParaRPr b="0" sz="20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3"/>
          <p:cNvSpPr/>
          <p:nvPr/>
        </p:nvSpPr>
        <p:spPr>
          <a:xfrm>
            <a:off x="457200" y="1463040"/>
            <a:ext cx="20113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shell interaktif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4" name="Google Shape;424;p23"/>
          <p:cNvCxnSpPr/>
          <p:nvPr/>
        </p:nvCxnSpPr>
        <p:spPr>
          <a:xfrm flipH="1" rot="10800000">
            <a:off x="2468880" y="1188720"/>
            <a:ext cx="914400" cy="274320"/>
          </a:xfrm>
          <a:prstGeom prst="straightConnector1">
            <a:avLst/>
          </a:prstGeom>
          <a:noFill/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5" name="Google Shape;425;p23"/>
          <p:cNvSpPr/>
          <p:nvPr/>
        </p:nvSpPr>
        <p:spPr>
          <a:xfrm>
            <a:off x="3383280" y="731520"/>
            <a:ext cx="2377080" cy="77688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3383280" y="777240"/>
            <a:ext cx="23770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bgpd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3383280" y="1161360"/>
            <a:ext cx="23770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BGP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23"/>
          <p:cNvCxnSpPr/>
          <p:nvPr/>
        </p:nvCxnSpPr>
        <p:spPr>
          <a:xfrm>
            <a:off x="2468880" y="1463040"/>
            <a:ext cx="914400" cy="731520"/>
          </a:xfrm>
          <a:prstGeom prst="straightConnector1">
            <a:avLst/>
          </a:prstGeom>
          <a:noFill/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23"/>
          <p:cNvSpPr/>
          <p:nvPr/>
        </p:nvSpPr>
        <p:spPr>
          <a:xfrm>
            <a:off x="3383280" y="1737360"/>
            <a:ext cx="2377080" cy="776880"/>
          </a:xfrm>
          <a:prstGeom prst="rect">
            <a:avLst/>
          </a:prstGeom>
          <a:solidFill>
            <a:srgbClr val="334E68"/>
          </a:solidFill>
          <a:ln cap="flat" cmpd="sng" w="12700">
            <a:solidFill>
              <a:srgbClr val="334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3"/>
          <p:cNvSpPr/>
          <p:nvPr/>
        </p:nvSpPr>
        <p:spPr>
          <a:xfrm>
            <a:off x="3383280" y="1783080"/>
            <a:ext cx="23770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ospfd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3"/>
          <p:cNvSpPr/>
          <p:nvPr/>
        </p:nvSpPr>
        <p:spPr>
          <a:xfrm>
            <a:off x="3383280" y="2167200"/>
            <a:ext cx="23770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OSPF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2" name="Google Shape;432;p23"/>
          <p:cNvCxnSpPr/>
          <p:nvPr/>
        </p:nvCxnSpPr>
        <p:spPr>
          <a:xfrm>
            <a:off x="2468880" y="1463040"/>
            <a:ext cx="914400" cy="1737360"/>
          </a:xfrm>
          <a:prstGeom prst="straightConnector1">
            <a:avLst/>
          </a:prstGeom>
          <a:noFill/>
          <a:ln cap="flat" cmpd="sng" w="1905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23"/>
          <p:cNvSpPr/>
          <p:nvPr/>
        </p:nvSpPr>
        <p:spPr>
          <a:xfrm>
            <a:off x="3383280" y="2743200"/>
            <a:ext cx="2377080" cy="776880"/>
          </a:xfrm>
          <a:prstGeom prst="rect">
            <a:avLst/>
          </a:prstGeom>
          <a:solidFill>
            <a:srgbClr val="334E68"/>
          </a:solidFill>
          <a:ln cap="flat" cmpd="sng" w="12700">
            <a:solidFill>
              <a:srgbClr val="334E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3"/>
          <p:cNvSpPr/>
          <p:nvPr/>
        </p:nvSpPr>
        <p:spPr>
          <a:xfrm>
            <a:off x="3383280" y="2788920"/>
            <a:ext cx="23770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staticd</a:t>
            </a:r>
            <a:endParaRPr b="0" sz="16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3383280" y="3173040"/>
            <a:ext cx="23770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Static Routes</a:t>
            </a:r>
            <a:endParaRPr b="0" sz="11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5943600" y="914400"/>
            <a:ext cx="2880000" cy="320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Calibri"/>
              <a:buChar char="●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FRR = suite routing protocol untuk Linux, fork Quagga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Calibri"/>
              <a:buChar char="●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Default: bgpd=no — harus aktifkan eksplisit di /etc/frr/daemons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Calibri"/>
              <a:buChar char="●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Di ContainerLab kita sudah set bgpd=yes — tidak perlu ubah manual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Calibri"/>
              <a:buChar char="●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vtysh: shell interaktif, syntax mirip Cisco IOS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4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File Konfigurasi FRR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4" name="Google Shape;444;p24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" name="Google Shape;445;p24"/>
          <p:cNvSpPr/>
          <p:nvPr/>
        </p:nvSpPr>
        <p:spPr>
          <a:xfrm>
            <a:off x="411480" y="887040"/>
            <a:ext cx="832068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Dua file penting: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411480" y="1353240"/>
            <a:ext cx="8320680" cy="141696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4"/>
          <p:cNvSpPr/>
          <p:nvPr/>
        </p:nvSpPr>
        <p:spPr>
          <a:xfrm>
            <a:off x="548640" y="1444680"/>
            <a:ext cx="804636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strike="noStrike">
                <a:solidFill>
                  <a:srgbClr val="00D4AA"/>
                </a:solidFill>
                <a:latin typeface="Courier New"/>
                <a:ea typeface="Courier New"/>
                <a:cs typeface="Courier New"/>
                <a:sym typeface="Courier New"/>
              </a:rPr>
              <a:t>/etc/frr/daemons</a:t>
            </a:r>
            <a:endParaRPr b="0" sz="15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548640" y="1828800"/>
            <a:ext cx="50288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Aktifkan daemon yang dibutuhkan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5669280" y="1764720"/>
            <a:ext cx="283428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bgpd=yes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411480" y="2999160"/>
            <a:ext cx="8320680" cy="1416960"/>
          </a:xfrm>
          <a:prstGeom prst="rect">
            <a:avLst/>
          </a:prstGeom>
          <a:solidFill>
            <a:srgbClr val="0F1D2E"/>
          </a:solidFill>
          <a:ln cap="flat" cmpd="sng" w="12700">
            <a:solidFill>
              <a:srgbClr val="0F1D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548640" y="3090600"/>
            <a:ext cx="804636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strike="noStrike">
                <a:solidFill>
                  <a:srgbClr val="00D4AA"/>
                </a:solidFill>
                <a:latin typeface="Courier New"/>
                <a:ea typeface="Courier New"/>
                <a:cs typeface="Courier New"/>
                <a:sym typeface="Courier New"/>
              </a:rPr>
              <a:t>/etc/frr/frr.conf</a:t>
            </a:r>
            <a:endParaRPr b="0" sz="15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548640" y="3474720"/>
            <a:ext cx="50288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Konfigurasi semua protokol dalam satu file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5669280" y="3410640"/>
            <a:ext cx="283428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router bgp 65010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...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411480" y="4663440"/>
            <a:ext cx="83206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Di lab: jangan edit frr.conf langsung — gunakan vtysh, simpan dengan write memory</a:t>
            </a:r>
            <a:endParaRPr b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5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5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Struktur Konfigurasi eBGP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" name="Google Shape;462;p25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p25"/>
          <p:cNvSpPr/>
          <p:nvPr/>
        </p:nvSpPr>
        <p:spPr>
          <a:xfrm>
            <a:off x="411480" y="887040"/>
            <a:ext cx="8320680" cy="3245760"/>
          </a:xfrm>
          <a:prstGeom prst="rect">
            <a:avLst/>
          </a:prstGeom>
          <a:solidFill>
            <a:srgbClr val="1B2B3D"/>
          </a:solidFill>
          <a:ln cap="flat" cmpd="sng" w="12700">
            <a:solidFill>
              <a:srgbClr val="1B2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5"/>
          <p:cNvSpPr/>
          <p:nvPr/>
        </p:nvSpPr>
        <p:spPr>
          <a:xfrm>
            <a:off x="548640" y="978480"/>
            <a:ext cx="8046360" cy="306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router bgp 65010                          ← ASN lokal kita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no bgp ebgp-requires-policy             ← WAJIB di FRR 8.x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bgp router-id 100.64.0.2               ← set eksplisit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!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neighbor 100.64.0.1 remote-as 65000    ← IP peer + ASN peer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neighbor 100.64.0.1 description "eBGP ke IDREN PoP"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!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address-family ipv4 unicast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network 100.68.1.0/24                 ← prefix yang kita iklankan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neighbor 100.64.0.1 activate          ← aktifkan peer di AFI ini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exit-address-family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5"/>
          <p:cNvSpPr/>
          <p:nvPr/>
        </p:nvSpPr>
        <p:spPr>
          <a:xfrm>
            <a:off x="411480" y="4251960"/>
            <a:ext cx="273960" cy="2739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411480" y="4279320"/>
            <a:ext cx="273960" cy="2739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411480" y="4306680"/>
            <a:ext cx="273960" cy="2739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411480" y="4224600"/>
            <a:ext cx="832068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250"/>
              <a:buFont typeface="Calibri"/>
              <a:buChar char="●"/>
            </a:pPr>
            <a:r>
              <a:rPr b="0" lang="en-US" sz="12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no bgp ebgp-requires-policy — paling sering dilupakan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250"/>
              <a:buFont typeface="Calibri"/>
              <a:buChar char="●"/>
            </a:pPr>
            <a:r>
              <a:rPr b="0" lang="en-US" sz="12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bgp router-id harus unik per router — dari image sama bisa duplikat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250"/>
              <a:buFont typeface="Calibri"/>
              <a:buChar char="●"/>
            </a:pPr>
            <a:r>
              <a:rPr b="0" lang="en-US" sz="12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network statement ≠ redistribusi otomatis — prefix harus ada di routing table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⚠  WARNING: ebgp-requires-policy di FRR 8.4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6" name="Google Shape;476;p26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7" name="Google Shape;477;p26"/>
          <p:cNvSpPr/>
          <p:nvPr/>
        </p:nvSpPr>
        <p:spPr>
          <a:xfrm>
            <a:off x="411480" y="887040"/>
            <a:ext cx="8320680" cy="2468520"/>
          </a:xfrm>
          <a:prstGeom prst="rect">
            <a:avLst/>
          </a:prstGeom>
          <a:solidFill>
            <a:srgbClr val="3B0000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594360" y="987480"/>
            <a:ext cx="795492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FRR 8.4 memperkenalkan enforcement ebgp-requires-policy by default</a:t>
            </a:r>
            <a:endParaRPr b="0" sz="15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594360" y="1508760"/>
            <a:ext cx="795492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eBGP session bisa Established TAPI tidak ada prefix yang tertukar tanpa explicit policy</a:t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594360" y="2030040"/>
            <a:ext cx="795492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strike="noStrike">
                <a:solidFill>
                  <a:srgbClr val="F59E0B"/>
                </a:solidFill>
                <a:latin typeface="Courier New"/>
                <a:ea typeface="Courier New"/>
                <a:cs typeface="Courier New"/>
                <a:sym typeface="Courier New"/>
              </a:rPr>
              <a:t>Gejala: kolom State/PfxRcd menampilkan (Policy)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594360" y="2441520"/>
            <a:ext cx="795492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Fix: tambahkan no bgp ebgp-requires-policy di dalam router bgp &lt;ASN&gt;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411480" y="3520440"/>
            <a:ext cx="832068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Di lab kita sudah include ini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50"/>
              <a:buFont typeface="Calibri"/>
              <a:buChar char="●"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Di produksi: set route-map yang benar (dibahas MOD-04)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7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Syarat Prefix Bisa Diiklankan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0" name="Google Shape;490;p27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p27"/>
          <p:cNvSpPr/>
          <p:nvPr/>
        </p:nvSpPr>
        <p:spPr>
          <a:xfrm>
            <a:off x="411480" y="887040"/>
            <a:ext cx="8320680" cy="155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60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850"/>
              <a:buFont typeface="Calibri"/>
              <a:buChar char="●"/>
            </a:pPr>
            <a:r>
              <a:rPr b="0" lang="en-US" sz="18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network 100.68.1.0/24 di BGP ≠ seperti network di OSPF</a:t>
            </a:r>
            <a:endParaRPr b="0" sz="1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850"/>
              <a:buFont typeface="Calibri"/>
              <a:buChar char="●"/>
            </a:pPr>
            <a:r>
              <a:rPr b="0" lang="en-US" sz="18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Prefix hanya diiklankan jika ada di routing table lokal dengan exact match</a:t>
            </a:r>
            <a:endParaRPr b="0" sz="1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60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850"/>
              <a:buFont typeface="Calibri"/>
              <a:buChar char="●"/>
            </a:pPr>
            <a:r>
              <a:rPr b="0" lang="en-US" sz="18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Teknik standar: tambahkan static route blackhole (null0) untuk aggregate prefix</a:t>
            </a:r>
            <a:endParaRPr b="0" sz="18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411480" y="2560320"/>
            <a:ext cx="8320680" cy="2239920"/>
          </a:xfrm>
          <a:prstGeom prst="rect">
            <a:avLst/>
          </a:prstGeom>
          <a:solidFill>
            <a:srgbClr val="1B2B3D"/>
          </a:solidFill>
          <a:ln cap="flat" cmpd="sng" w="12700">
            <a:solidFill>
              <a:srgbClr val="1B2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548640" y="2651760"/>
            <a:ext cx="804636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# Step 1: tambahkan static route null0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ip route 100.68.1.0/24 null0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# Step 2: advertise di BGP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router bgp 65010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address-family ipv4 unicast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  network 100.68.1.0/24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8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8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Demo: Konfigurasi eBGP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1" name="Google Shape;501;p28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28"/>
          <p:cNvSpPr/>
          <p:nvPr/>
        </p:nvSpPr>
        <p:spPr>
          <a:xfrm>
            <a:off x="411480" y="887040"/>
            <a:ext cx="2285640" cy="3837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8"/>
          <p:cNvSpPr/>
          <p:nvPr/>
        </p:nvSpPr>
        <p:spPr>
          <a:xfrm>
            <a:off x="411480" y="887040"/>
            <a:ext cx="228564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▶  DEMO LIVE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8"/>
          <p:cNvSpPr/>
          <p:nvPr/>
        </p:nvSpPr>
        <p:spPr>
          <a:xfrm>
            <a:off x="411480" y="1417320"/>
            <a:ext cx="8320680" cy="3200040"/>
          </a:xfrm>
          <a:prstGeom prst="rect">
            <a:avLst/>
          </a:prstGeom>
          <a:solidFill>
            <a:srgbClr val="1B2B3D"/>
          </a:solidFill>
          <a:ln cap="flat" cmpd="sng" w="12700">
            <a:solidFill>
              <a:srgbClr val="1B2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8"/>
          <p:cNvSpPr/>
          <p:nvPr/>
        </p:nvSpPr>
        <p:spPr>
          <a:xfrm>
            <a:off x="548640" y="1508760"/>
            <a:ext cx="8046360" cy="301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configure terminal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router bgp 65010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no bgp ebgp-requires-policy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bgp router-id 100.64.0.2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neighbor 100.64.0.1 remote-as 65000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neighbor 100.64.0.1 description "eBGP ke IDREN PoP"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address-family ipv4 unicast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network 100.68.1.0/24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neighbor 100.64.0.1 activate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exit-address-family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write memory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8"/>
          <p:cNvSpPr/>
          <p:nvPr/>
        </p:nvSpPr>
        <p:spPr>
          <a:xfrm>
            <a:off x="411480" y="4709160"/>
            <a:ext cx="83206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Tunggu 30–60 detik, lalu lanjut ke verifikasi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9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9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Perintah Verifikasi BGP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4" name="Google Shape;514;p29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5" name="Google Shape;515;p29"/>
          <p:cNvSpPr/>
          <p:nvPr/>
        </p:nvSpPr>
        <p:spPr>
          <a:xfrm>
            <a:off x="411480" y="887040"/>
            <a:ext cx="8320680" cy="411120"/>
          </a:xfrm>
          <a:prstGeom prst="rect">
            <a:avLst/>
          </a:prstGeom>
          <a:solidFill>
            <a:srgbClr val="1B2B3D"/>
          </a:solidFill>
          <a:ln cap="flat" cmpd="sng" w="12700">
            <a:solidFill>
              <a:srgbClr val="1B2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9"/>
          <p:cNvSpPr/>
          <p:nvPr/>
        </p:nvSpPr>
        <p:spPr>
          <a:xfrm>
            <a:off x="548640" y="887040"/>
            <a:ext cx="8046360" cy="4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00D4AA"/>
                </a:solidFill>
                <a:latin typeface="Courier New"/>
                <a:ea typeface="Courier New"/>
                <a:cs typeface="Courier New"/>
                <a:sym typeface="Courier New"/>
              </a:rPr>
              <a:t>show bgp summary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9"/>
          <p:cNvSpPr/>
          <p:nvPr/>
        </p:nvSpPr>
        <p:spPr>
          <a:xfrm>
            <a:off x="548640" y="1325880"/>
            <a:ext cx="804636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→  Lihat kolom State/PfxRcd — angka = OK, Active/Idle = masalah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9"/>
          <p:cNvSpPr/>
          <p:nvPr/>
        </p:nvSpPr>
        <p:spPr>
          <a:xfrm>
            <a:off x="411480" y="1911240"/>
            <a:ext cx="8320680" cy="411120"/>
          </a:xfrm>
          <a:prstGeom prst="rect">
            <a:avLst/>
          </a:prstGeom>
          <a:solidFill>
            <a:srgbClr val="1B2B3D"/>
          </a:solidFill>
          <a:ln cap="flat" cmpd="sng" w="12700">
            <a:solidFill>
              <a:srgbClr val="1B2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9"/>
          <p:cNvSpPr/>
          <p:nvPr/>
        </p:nvSpPr>
        <p:spPr>
          <a:xfrm>
            <a:off x="548640" y="1911240"/>
            <a:ext cx="8046360" cy="4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00D4AA"/>
                </a:solidFill>
                <a:latin typeface="Courier New"/>
                <a:ea typeface="Courier New"/>
                <a:cs typeface="Courier New"/>
                <a:sym typeface="Courier New"/>
              </a:rPr>
              <a:t>show bgp ipv4 unicast neighbors 100.64.0.1 advertised-routes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9"/>
          <p:cNvSpPr/>
          <p:nvPr/>
        </p:nvSpPr>
        <p:spPr>
          <a:xfrm>
            <a:off x="548640" y="2350080"/>
            <a:ext cx="804636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→  Prefix yang kita kirim ke IDREN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9"/>
          <p:cNvSpPr/>
          <p:nvPr/>
        </p:nvSpPr>
        <p:spPr>
          <a:xfrm>
            <a:off x="411480" y="2935080"/>
            <a:ext cx="8320680" cy="411120"/>
          </a:xfrm>
          <a:prstGeom prst="rect">
            <a:avLst/>
          </a:prstGeom>
          <a:solidFill>
            <a:srgbClr val="1B2B3D"/>
          </a:solidFill>
          <a:ln cap="flat" cmpd="sng" w="12700">
            <a:solidFill>
              <a:srgbClr val="1B2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9"/>
          <p:cNvSpPr/>
          <p:nvPr/>
        </p:nvSpPr>
        <p:spPr>
          <a:xfrm>
            <a:off x="548640" y="2935080"/>
            <a:ext cx="8046360" cy="4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00D4AA"/>
                </a:solidFill>
                <a:latin typeface="Courier New"/>
                <a:ea typeface="Courier New"/>
                <a:cs typeface="Courier New"/>
                <a:sym typeface="Courier New"/>
              </a:rPr>
              <a:t>show ip bgp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9"/>
          <p:cNvSpPr/>
          <p:nvPr/>
        </p:nvSpPr>
        <p:spPr>
          <a:xfrm>
            <a:off x="548640" y="3374280"/>
            <a:ext cx="804636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→  Semua prefix di BGP table (Loc-RIB)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9"/>
          <p:cNvSpPr/>
          <p:nvPr/>
        </p:nvSpPr>
        <p:spPr>
          <a:xfrm>
            <a:off x="411480" y="3959280"/>
            <a:ext cx="8320680" cy="411120"/>
          </a:xfrm>
          <a:prstGeom prst="rect">
            <a:avLst/>
          </a:prstGeom>
          <a:solidFill>
            <a:srgbClr val="1B2B3D"/>
          </a:solidFill>
          <a:ln cap="flat" cmpd="sng" w="12700">
            <a:solidFill>
              <a:srgbClr val="1B2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9"/>
          <p:cNvSpPr/>
          <p:nvPr/>
        </p:nvSpPr>
        <p:spPr>
          <a:xfrm>
            <a:off x="548640" y="3959280"/>
            <a:ext cx="8046360" cy="411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00D4AA"/>
                </a:solidFill>
                <a:latin typeface="Courier New"/>
                <a:ea typeface="Courier New"/>
                <a:cs typeface="Courier New"/>
                <a:sym typeface="Courier New"/>
              </a:rPr>
              <a:t>show ip route bgp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9"/>
          <p:cNvSpPr/>
          <p:nvPr/>
        </p:nvSpPr>
        <p:spPr>
          <a:xfrm>
            <a:off x="548640" y="4398120"/>
            <a:ext cx="804636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334E68"/>
                </a:solidFill>
                <a:latin typeface="Calibri"/>
                <a:ea typeface="Calibri"/>
                <a:cs typeface="Calibri"/>
                <a:sym typeface="Calibri"/>
              </a:rPr>
              <a:t>→  Prefix BGP yang masuk routing table OS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0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0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Demo: Verifikasi Output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4" name="Google Shape;534;p30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5" name="Google Shape;535;p30"/>
          <p:cNvSpPr/>
          <p:nvPr/>
        </p:nvSpPr>
        <p:spPr>
          <a:xfrm>
            <a:off x="411480" y="887040"/>
            <a:ext cx="2285640" cy="3837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0"/>
          <p:cNvSpPr/>
          <p:nvPr/>
        </p:nvSpPr>
        <p:spPr>
          <a:xfrm>
            <a:off x="411480" y="887040"/>
            <a:ext cx="228564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▶  DEMO LIVE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0"/>
          <p:cNvSpPr/>
          <p:nvPr/>
        </p:nvSpPr>
        <p:spPr>
          <a:xfrm>
            <a:off x="411480" y="1389960"/>
            <a:ext cx="83206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show bgp summary — yang diharapkan: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0"/>
          <p:cNvSpPr/>
          <p:nvPr/>
        </p:nvSpPr>
        <p:spPr>
          <a:xfrm>
            <a:off x="411480" y="1764720"/>
            <a:ext cx="8320680" cy="804240"/>
          </a:xfrm>
          <a:prstGeom prst="rect">
            <a:avLst/>
          </a:prstGeom>
          <a:solidFill>
            <a:srgbClr val="1B2B3D"/>
          </a:solidFill>
          <a:ln cap="flat" cmpd="sng" w="12700">
            <a:solidFill>
              <a:srgbClr val="1B2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0"/>
          <p:cNvSpPr/>
          <p:nvPr/>
        </p:nvSpPr>
        <p:spPr>
          <a:xfrm>
            <a:off x="548640" y="1856160"/>
            <a:ext cx="8046360" cy="62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Neighbor        V    AS   MsgRcvd  MsgSent  Up/Down  State/PfxRcd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100.64.0.1      4  65000        6        6 00:01:23             1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0"/>
          <p:cNvSpPr/>
          <p:nvPr/>
        </p:nvSpPr>
        <p:spPr>
          <a:xfrm>
            <a:off x="411480" y="2679120"/>
            <a:ext cx="832068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show bgp ipv4 unicast neighbors ... advertised-routes: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0"/>
          <p:cNvSpPr/>
          <p:nvPr/>
        </p:nvSpPr>
        <p:spPr>
          <a:xfrm>
            <a:off x="411480" y="3054240"/>
            <a:ext cx="8320680" cy="1005480"/>
          </a:xfrm>
          <a:prstGeom prst="rect">
            <a:avLst/>
          </a:prstGeom>
          <a:solidFill>
            <a:srgbClr val="1B2B3D"/>
          </a:solidFill>
          <a:ln cap="flat" cmpd="sng" w="12700">
            <a:solidFill>
              <a:srgbClr val="1B2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0"/>
          <p:cNvSpPr/>
          <p:nvPr/>
        </p:nvSpPr>
        <p:spPr>
          <a:xfrm>
            <a:off x="548640" y="3145680"/>
            <a:ext cx="804636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Network          Next Hop    Metric  Path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100.68.1.0/24   0.0.0.0          0  i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Total number of prefixes 2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0"/>
          <p:cNvSpPr/>
          <p:nvPr/>
        </p:nvSpPr>
        <p:spPr>
          <a:xfrm>
            <a:off x="411480" y="4160520"/>
            <a:ext cx="8320680" cy="776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Noto Sans Symbols"/>
              <a:buChar char="∙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PfxRcd = 1 → kita terima 1 prefix dari IDREN (100.68.0.0/16)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942"/>
              </a:buClr>
              <a:buSzPts val="1300"/>
              <a:buFont typeface="Noto Sans Symbols"/>
              <a:buChar char="∙"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Jika State/PfxRcd = Active → session belum establish → buka troubleshooting guide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1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1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Common Mistakes — eBGP Configuration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1" name="Google Shape;551;p31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2" name="Google Shape;552;p31"/>
          <p:cNvSpPr/>
          <p:nvPr/>
        </p:nvSpPr>
        <p:spPr>
          <a:xfrm>
            <a:off x="411480" y="887040"/>
            <a:ext cx="502560" cy="5299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1"/>
          <p:cNvSpPr/>
          <p:nvPr/>
        </p:nvSpPr>
        <p:spPr>
          <a:xfrm>
            <a:off x="411480" y="887040"/>
            <a:ext cx="5025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1"/>
          <p:cNvSpPr/>
          <p:nvPr/>
        </p:nvSpPr>
        <p:spPr>
          <a:xfrm>
            <a:off x="1024200" y="978480"/>
            <a:ext cx="76806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Lupa no bgp ebgp-requires-policy → (Policy) di kolom State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1"/>
          <p:cNvSpPr/>
          <p:nvPr/>
        </p:nvSpPr>
        <p:spPr>
          <a:xfrm>
            <a:off x="411480" y="1591200"/>
            <a:ext cx="502560" cy="5299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1"/>
          <p:cNvSpPr/>
          <p:nvPr/>
        </p:nvSpPr>
        <p:spPr>
          <a:xfrm>
            <a:off x="411480" y="1591200"/>
            <a:ext cx="5025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1"/>
          <p:cNvSpPr/>
          <p:nvPr/>
        </p:nvSpPr>
        <p:spPr>
          <a:xfrm>
            <a:off x="1024200" y="1682640"/>
            <a:ext cx="76806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remote-as salah → session stuck Active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31"/>
          <p:cNvSpPr/>
          <p:nvPr/>
        </p:nvSpPr>
        <p:spPr>
          <a:xfrm>
            <a:off x="411480" y="2295000"/>
            <a:ext cx="502560" cy="5299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1"/>
          <p:cNvSpPr/>
          <p:nvPr/>
        </p:nvSpPr>
        <p:spPr>
          <a:xfrm>
            <a:off x="411480" y="2295000"/>
            <a:ext cx="5025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1"/>
          <p:cNvSpPr/>
          <p:nvPr/>
        </p:nvSpPr>
        <p:spPr>
          <a:xfrm>
            <a:off x="1024200" y="2386440"/>
            <a:ext cx="76806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Prefix tidak ada di routing table → lupa ip route 100.68.1.0/24 null0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1"/>
          <p:cNvSpPr/>
          <p:nvPr/>
        </p:nvSpPr>
        <p:spPr>
          <a:xfrm>
            <a:off x="411480" y="2999160"/>
            <a:ext cx="502560" cy="5299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1"/>
          <p:cNvSpPr/>
          <p:nvPr/>
        </p:nvSpPr>
        <p:spPr>
          <a:xfrm>
            <a:off x="411480" y="2999160"/>
            <a:ext cx="5025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1"/>
          <p:cNvSpPr/>
          <p:nvPr/>
        </p:nvSpPr>
        <p:spPr>
          <a:xfrm>
            <a:off x="1024200" y="3090600"/>
            <a:ext cx="76806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neighbor activate lupa → session OK tapi tidak ada prefix exchange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1"/>
          <p:cNvSpPr/>
          <p:nvPr/>
        </p:nvSpPr>
        <p:spPr>
          <a:xfrm>
            <a:off x="411480" y="3703320"/>
            <a:ext cx="502560" cy="5299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1"/>
          <p:cNvSpPr/>
          <p:nvPr/>
        </p:nvSpPr>
        <p:spPr>
          <a:xfrm>
            <a:off x="411480" y="3703320"/>
            <a:ext cx="5025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1"/>
          <p:cNvSpPr/>
          <p:nvPr/>
        </p:nvSpPr>
        <p:spPr>
          <a:xfrm>
            <a:off x="1024200" y="3794760"/>
            <a:ext cx="76806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Router ID duplikat → session flap — selalu set eksplisit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411480" y="4407480"/>
            <a:ext cx="502560" cy="5299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1"/>
          <p:cNvSpPr/>
          <p:nvPr/>
        </p:nvSpPr>
        <p:spPr>
          <a:xfrm>
            <a:off x="411480" y="4407480"/>
            <a:ext cx="50256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1"/>
          <p:cNvSpPr/>
          <p:nvPr/>
        </p:nvSpPr>
        <p:spPr>
          <a:xfrm>
            <a:off x="1024200" y="4498920"/>
            <a:ext cx="7680600" cy="438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TCP 179 diblokir → cek firewall: telnet 100.64.0.1 179</a:t>
            </a:r>
            <a:endParaRPr b="0" sz="13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2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2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Wrap-up — eBGP Configuration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7" name="Google Shape;577;p32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8" name="Google Shape;578;p32"/>
          <p:cNvSpPr/>
          <p:nvPr/>
        </p:nvSpPr>
        <p:spPr>
          <a:xfrm>
            <a:off x="411480" y="887040"/>
            <a:ext cx="502560" cy="5940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2"/>
          <p:cNvSpPr/>
          <p:nvPr/>
        </p:nvSpPr>
        <p:spPr>
          <a:xfrm>
            <a:off x="411480" y="887040"/>
            <a:ext cx="50256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2"/>
          <p:cNvSpPr/>
          <p:nvPr/>
        </p:nvSpPr>
        <p:spPr>
          <a:xfrm>
            <a:off x="1024200" y="1014840"/>
            <a:ext cx="76806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FRR daemon model: bgpd harus aktif di /etc/frr/daemons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2"/>
          <p:cNvSpPr/>
          <p:nvPr/>
        </p:nvSpPr>
        <p:spPr>
          <a:xfrm>
            <a:off x="411480" y="1710000"/>
            <a:ext cx="502560" cy="5940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2"/>
          <p:cNvSpPr/>
          <p:nvPr/>
        </p:nvSpPr>
        <p:spPr>
          <a:xfrm>
            <a:off x="411480" y="1710000"/>
            <a:ext cx="50256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2"/>
          <p:cNvSpPr/>
          <p:nvPr/>
        </p:nvSpPr>
        <p:spPr>
          <a:xfrm>
            <a:off x="1024200" y="1837800"/>
            <a:ext cx="76806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Struktur config: router bgp → neighbor → address-family ipv4 unicast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2"/>
          <p:cNvSpPr/>
          <p:nvPr/>
        </p:nvSpPr>
        <p:spPr>
          <a:xfrm>
            <a:off x="411480" y="2532960"/>
            <a:ext cx="502560" cy="5940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2"/>
          <p:cNvSpPr/>
          <p:nvPr/>
        </p:nvSpPr>
        <p:spPr>
          <a:xfrm>
            <a:off x="411480" y="2532960"/>
            <a:ext cx="50256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2"/>
          <p:cNvSpPr/>
          <p:nvPr/>
        </p:nvSpPr>
        <p:spPr>
          <a:xfrm>
            <a:off x="1024200" y="2660760"/>
            <a:ext cx="76806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Tiga hal wajib: no bgp ebgp-requires-policy + null route + activate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2"/>
          <p:cNvSpPr/>
          <p:nvPr/>
        </p:nvSpPr>
        <p:spPr>
          <a:xfrm>
            <a:off x="411480" y="3355920"/>
            <a:ext cx="502560" cy="5940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2"/>
          <p:cNvSpPr/>
          <p:nvPr/>
        </p:nvSpPr>
        <p:spPr>
          <a:xfrm>
            <a:off x="411480" y="3355920"/>
            <a:ext cx="50256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2"/>
          <p:cNvSpPr/>
          <p:nvPr/>
        </p:nvSpPr>
        <p:spPr>
          <a:xfrm>
            <a:off x="1024200" y="3483720"/>
            <a:ext cx="76806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Perintah verifikasi: show bgp summary dulu, lalu detail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2"/>
          <p:cNvSpPr/>
          <p:nvPr/>
        </p:nvSpPr>
        <p:spPr>
          <a:xfrm>
            <a:off x="411480" y="4178880"/>
            <a:ext cx="502560" cy="59400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2"/>
          <p:cNvSpPr/>
          <p:nvPr/>
        </p:nvSpPr>
        <p:spPr>
          <a:xfrm>
            <a:off x="411480" y="4178880"/>
            <a:ext cx="50256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2"/>
          <p:cNvSpPr/>
          <p:nvPr/>
        </p:nvSpPr>
        <p:spPr>
          <a:xfrm>
            <a:off x="1024200" y="4306680"/>
            <a:ext cx="76806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Selanjutnya: LAB-01 — peserta konfigurasi sendiri</a:t>
            </a:r>
            <a:endParaRPr b="0" sz="13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2638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3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3"/>
          <p:cNvSpPr/>
          <p:nvPr/>
        </p:nvSpPr>
        <p:spPr>
          <a:xfrm>
            <a:off x="457200" y="320040"/>
            <a:ext cx="82292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SESI 4  •  16.15 – 17.00</a:t>
            </a:r>
            <a:endParaRPr b="0" sz="12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3"/>
          <p:cNvSpPr/>
          <p:nvPr/>
        </p:nvSpPr>
        <p:spPr>
          <a:xfrm>
            <a:off x="457200" y="777240"/>
            <a:ext cx="8229240" cy="1371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LAB-01</a:t>
            </a:r>
            <a:endParaRPr b="0" sz="3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3"/>
          <p:cNvSpPr/>
          <p:nvPr/>
        </p:nvSpPr>
        <p:spPr>
          <a:xfrm>
            <a:off x="457200" y="2240280"/>
            <a:ext cx="822924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Setup eBGP Border Router UMM ↔ IDREN PoP</a:t>
            </a:r>
            <a:endParaRPr b="0" sz="17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4"/>
          <p:cNvSpPr/>
          <p:nvPr/>
        </p:nvSpPr>
        <p:spPr>
          <a:xfrm>
            <a:off x="0" y="0"/>
            <a:ext cx="9143640" cy="5436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00" lIns="90000" spcFirstLastPara="1" rIns="90000" wrap="square" tIns="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4"/>
          <p:cNvSpPr/>
          <p:nvPr/>
        </p:nvSpPr>
        <p:spPr>
          <a:xfrm>
            <a:off x="411480" y="164520"/>
            <a:ext cx="8320680" cy="56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LAB-01 — Informasi Peering &amp; Instruksi</a:t>
            </a:r>
            <a:endParaRPr b="0" sz="2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p34"/>
          <p:cNvCxnSpPr/>
          <p:nvPr/>
        </p:nvCxnSpPr>
        <p:spPr>
          <a:xfrm>
            <a:off x="411480" y="767880"/>
            <a:ext cx="8321040" cy="36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0" name="Google Shape;610;p34"/>
          <p:cNvSpPr/>
          <p:nvPr/>
        </p:nvSpPr>
        <p:spPr>
          <a:xfrm>
            <a:off x="411480" y="887040"/>
            <a:ext cx="8320680" cy="1416960"/>
          </a:xfrm>
          <a:prstGeom prst="rect">
            <a:avLst/>
          </a:prstGeom>
          <a:solidFill>
            <a:srgbClr val="1B2B3D"/>
          </a:solidFill>
          <a:ln cap="flat" cmpd="sng" w="12700">
            <a:solidFill>
              <a:srgbClr val="1B2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4"/>
          <p:cNvSpPr/>
          <p:nvPr/>
        </p:nvSpPr>
        <p:spPr>
          <a:xfrm>
            <a:off x="548640" y="978480"/>
            <a:ext cx="8046360" cy="123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[umm-border]  ──────────────  [idren-pop]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AS 65010                       AS 65000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100.64.0.2/30                  100.64.0.1/30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strike="noStrike">
                <a:solidFill>
                  <a:srgbClr val="A8D8B9"/>
                </a:solidFill>
                <a:latin typeface="Courier New"/>
                <a:ea typeface="Courier New"/>
                <a:cs typeface="Courier New"/>
                <a:sym typeface="Courier New"/>
              </a:rPr>
              <a:t>  prefix: 100.68.1.0/24         ← dikonfigurasi trainer</a:t>
            </a:r>
            <a:endParaRPr b="0" sz="11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12" name="Google Shape;612;p34"/>
          <p:cNvGraphicFramePr/>
          <p:nvPr/>
        </p:nvGraphicFramePr>
        <p:xfrm>
          <a:off x="41148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{E2A9A9CC-C0DA-4DC6-98B6-EB66385870A6}</a:tableStyleId>
              </a:tblPr>
              <a:tblGrid>
                <a:gridCol w="2011675"/>
                <a:gridCol w="2560325"/>
              </a:tblGrid>
              <a:tr h="38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 b="0" sz="1300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Nilai</a:t>
                      </a:r>
                      <a:endParaRPr b="0" sz="1300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D2E"/>
                    </a:solidFill>
                  </a:tcPr>
                </a:tc>
              </a:tr>
              <a:tr h="38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peer IDREN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100.64.0.1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</a:tr>
              <a:tr h="38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ASN IDREN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65000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UMM di link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100.64.0.2/30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</a:tr>
              <a:tr h="38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ASN UMM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65010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Prefix UMM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strike="noStrike">
                          <a:solidFill>
                            <a:srgbClr val="1A294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100.68.1.0/24</a:t>
                      </a:r>
                      <a:endParaRPr b="0" sz="130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  <p:sp>
        <p:nvSpPr>
          <p:cNvPr id="613" name="Google Shape;613;p34"/>
          <p:cNvSpPr/>
          <p:nvPr/>
        </p:nvSpPr>
        <p:spPr>
          <a:xfrm>
            <a:off x="5120640" y="2423160"/>
            <a:ext cx="36115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1. Terima file lab dari trainer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4"/>
          <p:cNvSpPr/>
          <p:nvPr/>
        </p:nvSpPr>
        <p:spPr>
          <a:xfrm>
            <a:off x="5120640" y="2862000"/>
            <a:ext cx="36115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2. containerlab deploy -t lab01.clab.yml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4"/>
          <p:cNvSpPr/>
          <p:nvPr/>
        </p:nvSpPr>
        <p:spPr>
          <a:xfrm>
            <a:off x="5120640" y="3300840"/>
            <a:ext cx="36115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3. Konfigurasi BGP di umm-border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4"/>
          <p:cNvSpPr/>
          <p:nvPr/>
        </p:nvSpPr>
        <p:spPr>
          <a:xfrm>
            <a:off x="5120640" y="3740040"/>
            <a:ext cx="36115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4. Verifikasi session Established &amp; prefix terkirim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4"/>
          <p:cNvSpPr/>
          <p:nvPr/>
        </p:nvSpPr>
        <p:spPr>
          <a:xfrm>
            <a:off x="5120640" y="4178880"/>
            <a:ext cx="36115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1A2942"/>
                </a:solidFill>
                <a:latin typeface="Calibri"/>
                <a:ea typeface="Calibri"/>
                <a:cs typeface="Calibri"/>
                <a:sym typeface="Calibri"/>
              </a:rPr>
              <a:t>5. Handout LAB-01 ada di meja</a:t>
            </a:r>
            <a:endParaRPr b="0" sz="125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D2E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5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5"/>
          <p:cNvSpPr/>
          <p:nvPr/>
        </p:nvSpPr>
        <p:spPr>
          <a:xfrm>
            <a:off x="365760" y="365760"/>
            <a:ext cx="8412120" cy="63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Hari 1 — Selesai</a:t>
            </a:r>
            <a:endParaRPr b="0" sz="30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5"/>
          <p:cNvSpPr/>
          <p:nvPr/>
        </p:nvSpPr>
        <p:spPr>
          <a:xfrm>
            <a:off x="365760" y="1143000"/>
            <a:ext cx="411120" cy="45684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5"/>
          <p:cNvSpPr/>
          <p:nvPr/>
        </p:nvSpPr>
        <p:spPr>
          <a:xfrm>
            <a:off x="365760" y="1143000"/>
            <a:ext cx="41112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sz="1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5"/>
          <p:cNvSpPr/>
          <p:nvPr/>
        </p:nvSpPr>
        <p:spPr>
          <a:xfrm>
            <a:off x="896040" y="1188720"/>
            <a:ext cx="78634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ContainerLab: deploy, masuk container, vtysh basics</a:t>
            </a:r>
            <a:endParaRPr b="0" sz="1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5"/>
          <p:cNvSpPr/>
          <p:nvPr/>
        </p:nvSpPr>
        <p:spPr>
          <a:xfrm>
            <a:off x="365760" y="1801440"/>
            <a:ext cx="411120" cy="45684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5"/>
          <p:cNvSpPr/>
          <p:nvPr/>
        </p:nvSpPr>
        <p:spPr>
          <a:xfrm>
            <a:off x="365760" y="1801440"/>
            <a:ext cx="41112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sz="1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5"/>
          <p:cNvSpPr/>
          <p:nvPr/>
        </p:nvSpPr>
        <p:spPr>
          <a:xfrm>
            <a:off x="896040" y="1847160"/>
            <a:ext cx="78634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BGP Fundamentals: AS, ASN, state machine, tiga table</a:t>
            </a:r>
            <a:endParaRPr b="0" sz="1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5"/>
          <p:cNvSpPr/>
          <p:nvPr/>
        </p:nvSpPr>
        <p:spPr>
          <a:xfrm>
            <a:off x="365760" y="2459880"/>
            <a:ext cx="411120" cy="45684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5"/>
          <p:cNvSpPr/>
          <p:nvPr/>
        </p:nvSpPr>
        <p:spPr>
          <a:xfrm>
            <a:off x="365760" y="2459880"/>
            <a:ext cx="41112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sz="1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5"/>
          <p:cNvSpPr/>
          <p:nvPr/>
        </p:nvSpPr>
        <p:spPr>
          <a:xfrm>
            <a:off x="896040" y="2505600"/>
            <a:ext cx="78634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eBGP Config: router bgp, neighbor, address-family, network</a:t>
            </a:r>
            <a:endParaRPr b="0" sz="1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5"/>
          <p:cNvSpPr/>
          <p:nvPr/>
        </p:nvSpPr>
        <p:spPr>
          <a:xfrm>
            <a:off x="365760" y="3117960"/>
            <a:ext cx="411120" cy="456840"/>
          </a:xfrm>
          <a:prstGeom prst="rect">
            <a:avLst/>
          </a:prstGeom>
          <a:solidFill>
            <a:srgbClr val="00D4AA"/>
          </a:solidFill>
          <a:ln cap="flat" cmpd="sng" w="12700">
            <a:solidFill>
              <a:srgbClr val="00D4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5"/>
          <p:cNvSpPr/>
          <p:nvPr/>
        </p:nvSpPr>
        <p:spPr>
          <a:xfrm>
            <a:off x="365760" y="3117960"/>
            <a:ext cx="41112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0F1D2E"/>
                </a:solidFill>
                <a:latin typeface="Calibri"/>
                <a:ea typeface="Calibri"/>
                <a:cs typeface="Calibri"/>
                <a:sym typeface="Calibri"/>
              </a:rPr>
              <a:t>✔</a:t>
            </a:r>
            <a:endParaRPr b="0" sz="1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5"/>
          <p:cNvSpPr/>
          <p:nvPr/>
        </p:nvSpPr>
        <p:spPr>
          <a:xfrm>
            <a:off x="896040" y="3163680"/>
            <a:ext cx="78634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LAB-01: mulai konfigurasi sendiri</a:t>
            </a:r>
            <a:endParaRPr b="0" sz="14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5"/>
          <p:cNvSpPr/>
          <p:nvPr/>
        </p:nvSpPr>
        <p:spPr>
          <a:xfrm>
            <a:off x="365760" y="3749040"/>
            <a:ext cx="8412120" cy="1096920"/>
          </a:xfrm>
          <a:prstGeom prst="rect">
            <a:avLst/>
          </a:prstGeom>
          <a:solidFill>
            <a:srgbClr val="162030"/>
          </a:solidFill>
          <a:ln cap="flat" cmpd="sng" w="12700">
            <a:solidFill>
              <a:srgbClr val="162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5"/>
          <p:cNvSpPr/>
          <p:nvPr/>
        </p:nvSpPr>
        <p:spPr>
          <a:xfrm>
            <a:off x="548640" y="3794760"/>
            <a:ext cx="8229240" cy="34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Besok — Hari 2</a:t>
            </a:r>
            <a:endParaRPr b="0" sz="150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5"/>
          <p:cNvSpPr/>
          <p:nvPr/>
        </p:nvSpPr>
        <p:spPr>
          <a:xfrm>
            <a:off x="548640" y="4160520"/>
            <a:ext cx="822924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strike="noStrike">
                <a:solidFill>
                  <a:srgbClr val="627D98"/>
                </a:solidFill>
                <a:latin typeface="Calibri"/>
                <a:ea typeface="Calibri"/>
                <a:cs typeface="Calibri"/>
                <a:sym typeface="Calibri"/>
              </a:rPr>
              <a:t>08.00: Recap + LAB-01 lanjutan (60 menit)  •  iBGP &amp; Route Reflector (MOD-03)  •  BGP Policy: prefix filter &amp; community (MOD-04)</a:t>
            </a:r>
            <a:endParaRPr b="0" sz="125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2026-06-04T14:57:16Z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35</vt:i4>
  </property>
  <property fmtid="{D5CDD505-2E9C-101B-9397-08002B2CF9AE}" pid="3" name="PresentationFormat">
    <vt:lpwstr>On-screen Show (16:9)</vt:lpwstr>
  </property>
  <property fmtid="{D5CDD505-2E9C-101B-9397-08002B2CF9AE}" pid="4" name="Slides">
    <vt:i4>35</vt:i4>
  </property>
</Properties>
</file>
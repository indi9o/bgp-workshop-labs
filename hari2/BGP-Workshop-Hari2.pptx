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8" r:id="rId43"/>
    <p:sldId id="286" r:id="rId36"/>
    <p:sldId id="287" r:id="rId37"/>
  </p:sldIdLst>
  <p:sldSz cy="9144000" cx="16256000"/>
  <p:notesSz cx="9144000" cy="16256000"/>
  <p:embeddedFontLst>
    <p:embeddedFont>
      <p:font typeface="Quattrocento Sans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2" roundtripDataSignature="AMtx7mgoYhBqwsaUL3J4gATBjK8VuAng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F551868-BB50-41E4-9F51-36898D543EC5}">
  <a:tblStyle styleId="{4F551868-BB50-41E4-9F51-36898D543EC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font" Target="fonts/QuattrocentoSans-regular.fntdata"/><Relationship Id="rId39" Type="http://schemas.openxmlformats.org/officeDocument/2006/relationships/font" Target="fonts/QuattrocentoSans-bold.fntdata"/><Relationship Id="rId40" Type="http://schemas.openxmlformats.org/officeDocument/2006/relationships/font" Target="fonts/QuattrocentoSans-italic.fntdata"/><Relationship Id="rId41" Type="http://schemas.openxmlformats.org/officeDocument/2006/relationships/font" Target="fonts/QuattrocentoSans-boldItalic.fntdata"/><Relationship Id="rId42" Type="http://customschemas.google.com/relationships/presentationmetadata" Target="metadata"/><Relationship Id="rId43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" name="Google Shape;1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" name="Google Shape;1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" name="Google Shape;5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" name="Google Shape;6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" name="Google Shape;8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" name="Google Shape;10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" name="Google Shape;11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9" name="Google Shape;17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4" name="Google Shape;19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3" name="Google Shape;21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4" name="Google Shape;23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3" name="Google Shape;26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4" name="Google Shape;27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5" name="Google Shape;295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6" name="Google Shape;306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6" name="Google Shape;326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7" name="Google Shape;347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" name="Google Shape;36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8" name="Google Shape;368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9" name="Google Shape;389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3" name="Google Shape;403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4" name="Google Shape;404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4" name="Google Shape;414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5" name="Google Shape;415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4" name="Google Shape;434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5" name="Google Shape;435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5" name="Google Shape;445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6" name="Google Shape;446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7" name="Google Shape;467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8" name="Google Shape;468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2" name="Google Shape;482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3" name="Google Shape;483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1" name="Google Shape;501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2" name="Google Shape;502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0" name="Google Shape;520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1" name="Google Shape;521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9" name="Google Shape;549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0" name="Google Shape;550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0" name="Google Shape;560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1" name="Google Shape;561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9" name="Google Shape;579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0" name="Google Shape;580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8" name="Google Shape;608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9" name="Google Shape;609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PTIST_MASTER">
  <p:cSld name="PPTIST_MASTER">
    <p:bg>
      <p:bgPr>
        <a:solidFill>
          <a:srgbClr val="FFFFF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8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1"/>
          <p:cNvCxnSpPr/>
          <p:nvPr/>
        </p:nvCxnSpPr>
        <p:spPr>
          <a:xfrm>
            <a:off x="0" y="0"/>
            <a:ext cx="16256000" cy="0"/>
          </a:xfrm>
          <a:prstGeom prst="straightConnector1">
            <a:avLst/>
          </a:prstGeom>
          <a:noFill/>
          <a:ln cap="flat" cmpd="sng" w="50800">
            <a:solidFill>
              <a:srgbClr val="455A6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1"/>
          <p:cNvSpPr/>
          <p:nvPr/>
        </p:nvSpPr>
        <p:spPr>
          <a:xfrm>
            <a:off x="980281" y="635000"/>
            <a:ext cx="642938" cy="571500"/>
          </a:xfrm>
          <a:custGeom>
            <a:rect b="b" l="l" r="r" t="t"/>
            <a:pathLst>
              <a:path extrusionOk="0" h="571500" w="642938">
                <a:moveTo>
                  <a:pt x="276820" y="98227"/>
                </a:moveTo>
                <a:lnTo>
                  <a:pt x="366117" y="98227"/>
                </a:lnTo>
                <a:lnTo>
                  <a:pt x="366117" y="151805"/>
                </a:lnTo>
                <a:lnTo>
                  <a:pt x="276820" y="151805"/>
                </a:lnTo>
                <a:lnTo>
                  <a:pt x="276820" y="98227"/>
                </a:lnTo>
                <a:close/>
                <a:moveTo>
                  <a:pt x="267891" y="35719"/>
                </a:moveTo>
                <a:cubicBezTo>
                  <a:pt x="238311" y="35719"/>
                  <a:pt x="214313" y="59717"/>
                  <a:pt x="214313" y="89297"/>
                </a:cubicBezTo>
                <a:lnTo>
                  <a:pt x="214313" y="160734"/>
                </a:lnTo>
                <a:cubicBezTo>
                  <a:pt x="214313" y="190314"/>
                  <a:pt x="238311" y="214313"/>
                  <a:pt x="267891" y="214313"/>
                </a:cubicBezTo>
                <a:lnTo>
                  <a:pt x="285750" y="214313"/>
                </a:lnTo>
                <a:lnTo>
                  <a:pt x="285750" y="250031"/>
                </a:lnTo>
                <a:lnTo>
                  <a:pt x="35719" y="250031"/>
                </a:lnTo>
                <a:cubicBezTo>
                  <a:pt x="15962" y="250031"/>
                  <a:pt x="0" y="265993"/>
                  <a:pt x="0" y="285750"/>
                </a:cubicBezTo>
                <a:cubicBezTo>
                  <a:pt x="0" y="305507"/>
                  <a:pt x="15962" y="321469"/>
                  <a:pt x="35719" y="321469"/>
                </a:cubicBezTo>
                <a:lnTo>
                  <a:pt x="142875" y="321469"/>
                </a:lnTo>
                <a:lnTo>
                  <a:pt x="142875" y="357188"/>
                </a:lnTo>
                <a:lnTo>
                  <a:pt x="125016" y="357188"/>
                </a:lnTo>
                <a:cubicBezTo>
                  <a:pt x="95436" y="357188"/>
                  <a:pt x="71438" y="381186"/>
                  <a:pt x="71438" y="410766"/>
                </a:cubicBezTo>
                <a:lnTo>
                  <a:pt x="71438" y="482203"/>
                </a:lnTo>
                <a:cubicBezTo>
                  <a:pt x="71438" y="511783"/>
                  <a:pt x="95436" y="535781"/>
                  <a:pt x="125016" y="535781"/>
                </a:cubicBezTo>
                <a:lnTo>
                  <a:pt x="232172" y="535781"/>
                </a:lnTo>
                <a:cubicBezTo>
                  <a:pt x="261751" y="535781"/>
                  <a:pt x="285750" y="511783"/>
                  <a:pt x="285750" y="482203"/>
                </a:cubicBezTo>
                <a:lnTo>
                  <a:pt x="285750" y="410766"/>
                </a:lnTo>
                <a:cubicBezTo>
                  <a:pt x="285750" y="381186"/>
                  <a:pt x="261751" y="357188"/>
                  <a:pt x="232172" y="357188"/>
                </a:cubicBezTo>
                <a:lnTo>
                  <a:pt x="214313" y="357188"/>
                </a:lnTo>
                <a:lnTo>
                  <a:pt x="214313" y="321469"/>
                </a:lnTo>
                <a:lnTo>
                  <a:pt x="428625" y="321469"/>
                </a:lnTo>
                <a:lnTo>
                  <a:pt x="428625" y="357188"/>
                </a:lnTo>
                <a:lnTo>
                  <a:pt x="410766" y="357188"/>
                </a:lnTo>
                <a:cubicBezTo>
                  <a:pt x="381186" y="357188"/>
                  <a:pt x="357188" y="381186"/>
                  <a:pt x="357188" y="410766"/>
                </a:cubicBezTo>
                <a:lnTo>
                  <a:pt x="357188" y="482203"/>
                </a:lnTo>
                <a:cubicBezTo>
                  <a:pt x="357188" y="511783"/>
                  <a:pt x="381186" y="535781"/>
                  <a:pt x="410766" y="535781"/>
                </a:cubicBezTo>
                <a:lnTo>
                  <a:pt x="517922" y="535781"/>
                </a:lnTo>
                <a:cubicBezTo>
                  <a:pt x="547501" y="535781"/>
                  <a:pt x="571500" y="511783"/>
                  <a:pt x="571500" y="482203"/>
                </a:cubicBezTo>
                <a:lnTo>
                  <a:pt x="571500" y="410766"/>
                </a:lnTo>
                <a:cubicBezTo>
                  <a:pt x="571500" y="381186"/>
                  <a:pt x="547501" y="357188"/>
                  <a:pt x="517922" y="357188"/>
                </a:cubicBezTo>
                <a:lnTo>
                  <a:pt x="500063" y="357188"/>
                </a:lnTo>
                <a:lnTo>
                  <a:pt x="500063" y="321469"/>
                </a:lnTo>
                <a:lnTo>
                  <a:pt x="607219" y="321469"/>
                </a:lnTo>
                <a:cubicBezTo>
                  <a:pt x="626976" y="321469"/>
                  <a:pt x="642938" y="305507"/>
                  <a:pt x="642938" y="285750"/>
                </a:cubicBezTo>
                <a:cubicBezTo>
                  <a:pt x="642938" y="265993"/>
                  <a:pt x="626976" y="250031"/>
                  <a:pt x="607219" y="250031"/>
                </a:cubicBezTo>
                <a:lnTo>
                  <a:pt x="357188" y="250031"/>
                </a:lnTo>
                <a:lnTo>
                  <a:pt x="357188" y="214313"/>
                </a:lnTo>
                <a:lnTo>
                  <a:pt x="375047" y="214313"/>
                </a:lnTo>
                <a:cubicBezTo>
                  <a:pt x="404626" y="214313"/>
                  <a:pt x="428625" y="190314"/>
                  <a:pt x="428625" y="160734"/>
                </a:cubicBezTo>
                <a:lnTo>
                  <a:pt x="428625" y="89297"/>
                </a:lnTo>
                <a:cubicBezTo>
                  <a:pt x="428625" y="59717"/>
                  <a:pt x="404626" y="35719"/>
                  <a:pt x="375047" y="35719"/>
                </a:cubicBezTo>
                <a:lnTo>
                  <a:pt x="267891" y="35719"/>
                </a:lnTo>
                <a:close/>
                <a:moveTo>
                  <a:pt x="500063" y="419695"/>
                </a:moveTo>
                <a:lnTo>
                  <a:pt x="508992" y="419695"/>
                </a:lnTo>
                <a:lnTo>
                  <a:pt x="508992" y="473273"/>
                </a:lnTo>
                <a:lnTo>
                  <a:pt x="419695" y="473273"/>
                </a:lnTo>
                <a:lnTo>
                  <a:pt x="419695" y="419695"/>
                </a:lnTo>
                <a:lnTo>
                  <a:pt x="500063" y="419695"/>
                </a:lnTo>
                <a:close/>
                <a:moveTo>
                  <a:pt x="214313" y="419695"/>
                </a:moveTo>
                <a:lnTo>
                  <a:pt x="223242" y="419695"/>
                </a:lnTo>
                <a:lnTo>
                  <a:pt x="223242" y="473273"/>
                </a:lnTo>
                <a:lnTo>
                  <a:pt x="133945" y="473273"/>
                </a:lnTo>
                <a:lnTo>
                  <a:pt x="133945" y="419695"/>
                </a:lnTo>
                <a:lnTo>
                  <a:pt x="214313" y="419695"/>
                </a:ln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1714500" y="635000"/>
            <a:ext cx="5080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Workshop BGP untuk Jaringan Kampus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1714500" y="9652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0A4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UMM (AS 65010) — ContainerLab + FRRouting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" name="Google Shape;21;p1"/>
          <p:cNvCxnSpPr/>
          <p:nvPr/>
        </p:nvCxnSpPr>
        <p:spPr>
          <a:xfrm>
            <a:off x="1016000" y="2921000"/>
            <a:ext cx="14224000" cy="0"/>
          </a:xfrm>
          <a:prstGeom prst="straightConnector1">
            <a:avLst/>
          </a:prstGeom>
          <a:noFill/>
          <a:ln cap="flat" cmpd="sng" w="12700">
            <a:solidFill>
              <a:srgbClr val="90A4A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1"/>
          <p:cNvSpPr/>
          <p:nvPr/>
        </p:nvSpPr>
        <p:spPr>
          <a:xfrm>
            <a:off x="1016000" y="3238500"/>
            <a:ext cx="12700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26323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iBGP &amp; BGP Policy — Hari 2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1016000" y="4127500"/>
            <a:ext cx="12700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90A4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Internal BGP, Prefix Filtering, dan Traffic Engineering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" name="Google Shape;24;p1"/>
          <p:cNvCxnSpPr/>
          <p:nvPr/>
        </p:nvCxnSpPr>
        <p:spPr>
          <a:xfrm>
            <a:off x="1016000" y="4762500"/>
            <a:ext cx="14224000" cy="0"/>
          </a:xfrm>
          <a:prstGeom prst="straightConnector1">
            <a:avLst/>
          </a:prstGeom>
          <a:noFill/>
          <a:ln cap="flat" cmpd="sng" w="12700">
            <a:solidFill>
              <a:srgbClr val="90A4A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1"/>
          <p:cNvSpPr/>
          <p:nvPr/>
        </p:nvSpPr>
        <p:spPr>
          <a:xfrm>
            <a:off x="1016000" y="5334000"/>
            <a:ext cx="6350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 Juni 2026 (Sabtu) | 09.00–17.00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" name="Google Shape;26;p1"/>
          <p:cNvCxnSpPr/>
          <p:nvPr/>
        </p:nvCxnSpPr>
        <p:spPr>
          <a:xfrm>
            <a:off x="0" y="9093200"/>
            <a:ext cx="16256000" cy="0"/>
          </a:xfrm>
          <a:prstGeom prst="straightConnector1">
            <a:avLst/>
          </a:prstGeom>
          <a:noFill/>
          <a:ln cap="flat" cmpd="sng" w="50800">
            <a:solidFill>
              <a:srgbClr val="455A6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1"/>
          <p:cNvSpPr/>
          <p:nvPr/>
        </p:nvSpPr>
        <p:spPr>
          <a:xfrm>
            <a:off x="13335000" y="8255000"/>
            <a:ext cx="2286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0A4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BGP WORKSHOP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8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Google Shape;33;p2"/>
          <p:cNvCxnSpPr/>
          <p:nvPr/>
        </p:nvCxnSpPr>
        <p:spPr>
          <a:xfrm>
            <a:off x="0" y="0"/>
            <a:ext cx="16256000" cy="0"/>
          </a:xfrm>
          <a:prstGeom prst="straightConnector1">
            <a:avLst/>
          </a:prstGeom>
          <a:noFill/>
          <a:ln cap="flat" cmpd="sng" w="50800">
            <a:solidFill>
              <a:srgbClr val="455A6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" name="Google Shape;34;p2"/>
          <p:cNvSpPr/>
          <p:nvPr/>
        </p:nvSpPr>
        <p:spPr>
          <a:xfrm>
            <a:off x="1016000" y="635000"/>
            <a:ext cx="381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26323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Agenda Hari 2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1016000" y="1206500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0A4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SCHEDULE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" name="Google Shape;36;p2"/>
          <p:cNvCxnSpPr/>
          <p:nvPr/>
        </p:nvCxnSpPr>
        <p:spPr>
          <a:xfrm>
            <a:off x="1016000" y="1651000"/>
            <a:ext cx="14224000" cy="0"/>
          </a:xfrm>
          <a:prstGeom prst="straightConnector1">
            <a:avLst/>
          </a:prstGeom>
          <a:noFill/>
          <a:ln cap="flat" cmpd="sng" w="12700">
            <a:solidFill>
              <a:srgbClr val="90A4A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" name="Google Shape;37;p2"/>
          <p:cNvSpPr/>
          <p:nvPr/>
        </p:nvSpPr>
        <p:spPr>
          <a:xfrm>
            <a:off x="1016000" y="2032000"/>
            <a:ext cx="8128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2032000" y="2070100"/>
            <a:ext cx="6350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26323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Recap &amp; Review LAB-01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2032000" y="24511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90A4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09.00–10.45 | SESI 0–2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" name="Google Shape;40;p2"/>
          <p:cNvCxnSpPr/>
          <p:nvPr/>
        </p:nvCxnSpPr>
        <p:spPr>
          <a:xfrm>
            <a:off x="1016000" y="2921000"/>
            <a:ext cx="14224000" cy="0"/>
          </a:xfrm>
          <a:prstGeom prst="straightConnector1">
            <a:avLst/>
          </a:prstGeom>
          <a:noFill/>
          <a:ln cap="flat" cmpd="sng" w="12700">
            <a:solidFill>
              <a:srgbClr val="ECEFF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2"/>
          <p:cNvSpPr/>
          <p:nvPr/>
        </p:nvSpPr>
        <p:spPr>
          <a:xfrm>
            <a:off x="1016000" y="3111500"/>
            <a:ext cx="8128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2032000" y="3149600"/>
            <a:ext cx="6350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26323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MOD-03: iBGP — 2 Border Router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2032000" y="35306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90A4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11.00–12.15 | SESI 3–4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" name="Google Shape;44;p2"/>
          <p:cNvCxnSpPr/>
          <p:nvPr/>
        </p:nvCxnSpPr>
        <p:spPr>
          <a:xfrm>
            <a:off x="1016000" y="4000500"/>
            <a:ext cx="14224000" cy="0"/>
          </a:xfrm>
          <a:prstGeom prst="straightConnector1">
            <a:avLst/>
          </a:prstGeom>
          <a:noFill/>
          <a:ln cap="flat" cmpd="sng" w="12700">
            <a:solidFill>
              <a:srgbClr val="ECEFF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2"/>
          <p:cNvSpPr/>
          <p:nvPr/>
        </p:nvSpPr>
        <p:spPr>
          <a:xfrm>
            <a:off x="1016000" y="4191000"/>
            <a:ext cx="8128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2032000" y="4229100"/>
            <a:ext cx="6350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26323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MOD-04: BGP Policy — Prefix Filtering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2032000" y="46101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90A4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13.15–14.55 | SESI 5–6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" name="Google Shape;48;p2"/>
          <p:cNvCxnSpPr/>
          <p:nvPr/>
        </p:nvCxnSpPr>
        <p:spPr>
          <a:xfrm>
            <a:off x="1016000" y="5080000"/>
            <a:ext cx="14224000" cy="0"/>
          </a:xfrm>
          <a:prstGeom prst="straightConnector1">
            <a:avLst/>
          </a:prstGeom>
          <a:noFill/>
          <a:ln cap="flat" cmpd="sng" w="12700">
            <a:solidFill>
              <a:srgbClr val="ECEFF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" name="Google Shape;49;p2"/>
          <p:cNvSpPr/>
          <p:nvPr/>
        </p:nvSpPr>
        <p:spPr>
          <a:xfrm>
            <a:off x="1016000" y="5270500"/>
            <a:ext cx="8128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04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2032000" y="5308600"/>
            <a:ext cx="6350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26323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MOD-05: Multi-homing &amp; Traffic Engineering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2032000" y="56896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90A4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15.10–16.50 | SESI 7–8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" name="Google Shape;52;p2"/>
          <p:cNvCxnSpPr/>
          <p:nvPr/>
        </p:nvCxnSpPr>
        <p:spPr>
          <a:xfrm>
            <a:off x="0" y="9093200"/>
            <a:ext cx="16256000" cy="0"/>
          </a:xfrm>
          <a:prstGeom prst="straightConnector1">
            <a:avLst/>
          </a:prstGeom>
          <a:noFill/>
          <a:ln cap="flat" cmpd="sng" w="50800">
            <a:solidFill>
              <a:srgbClr val="455A6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" name="Google Shape;53;p2"/>
          <p:cNvSpPr/>
          <p:nvPr/>
        </p:nvSpPr>
        <p:spPr>
          <a:xfrm>
            <a:off x="14605000" y="8636000"/>
            <a:ext cx="1016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0A4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 / 32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63238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9" name="Google Shape;59;p3"/>
          <p:cNvCxnSpPr/>
          <p:nvPr/>
        </p:nvCxnSpPr>
        <p:spPr>
          <a:xfrm>
            <a:off x="0" y="0"/>
            <a:ext cx="16256000" cy="0"/>
          </a:xfrm>
          <a:prstGeom prst="straightConnector1">
            <a:avLst/>
          </a:prstGeom>
          <a:noFill/>
          <a:ln cap="flat" cmpd="sng" w="50800">
            <a:solidFill>
              <a:srgbClr val="90A4A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" name="Google Shape;60;p3"/>
          <p:cNvSpPr/>
          <p:nvPr/>
        </p:nvSpPr>
        <p:spPr>
          <a:xfrm>
            <a:off x="1016000" y="2540000"/>
            <a:ext cx="53340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b="0" i="0" lang="en-US" sz="6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SESI 0–2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" name="Google Shape;61;p3"/>
          <p:cNvCxnSpPr/>
          <p:nvPr/>
        </p:nvCxnSpPr>
        <p:spPr>
          <a:xfrm>
            <a:off x="1016000" y="3937000"/>
            <a:ext cx="1016000" cy="0"/>
          </a:xfrm>
          <a:prstGeom prst="straightConnector1">
            <a:avLst/>
          </a:prstGeom>
          <a:noFill/>
          <a:ln cap="flat" cmpd="sng" w="25400">
            <a:solidFill>
              <a:srgbClr val="90A4A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3"/>
          <p:cNvSpPr/>
          <p:nvPr/>
        </p:nvSpPr>
        <p:spPr>
          <a:xfrm>
            <a:off x="1016000" y="4191000"/>
            <a:ext cx="101600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Recap Hari 1 &amp; Review LAB-01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1016000" y="4953000"/>
            <a:ext cx="7620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90A4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09.00–10.45 | 105 menit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" name="Google Shape;64;p3"/>
          <p:cNvCxnSpPr/>
          <p:nvPr/>
        </p:nvCxnSpPr>
        <p:spPr>
          <a:xfrm>
            <a:off x="0" y="9093200"/>
            <a:ext cx="16256000" cy="0"/>
          </a:xfrm>
          <a:prstGeom prst="straightConnector1">
            <a:avLst/>
          </a:prstGeom>
          <a:noFill/>
          <a:ln cap="flat" cmpd="sng" w="50800">
            <a:solidFill>
              <a:srgbClr val="90A4AE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8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0" name="Google Shape;70;p4"/>
          <p:cNvCxnSpPr/>
          <p:nvPr/>
        </p:nvCxnSpPr>
        <p:spPr>
          <a:xfrm>
            <a:off x="0" y="0"/>
            <a:ext cx="16256000" cy="0"/>
          </a:xfrm>
          <a:prstGeom prst="straightConnector1">
            <a:avLst/>
          </a:prstGeom>
          <a:noFill/>
          <a:ln cap="flat" cmpd="sng" w="50800">
            <a:solidFill>
              <a:srgbClr val="455A6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" name="Google Shape;71;p4"/>
          <p:cNvSpPr/>
          <p:nvPr/>
        </p:nvSpPr>
        <p:spPr>
          <a:xfrm>
            <a:off x="1016000" y="2540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0A4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SESI 0 — RECAP HARI 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1016000" y="635000"/>
            <a:ext cx="101600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Recap Hari 1 — Apa yang Sudah Dikerjakan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" name="Google Shape;73;p4"/>
          <p:cNvCxnSpPr/>
          <p:nvPr/>
        </p:nvCxnSpPr>
        <p:spPr>
          <a:xfrm>
            <a:off x="1016000" y="1143000"/>
            <a:ext cx="14224000" cy="0"/>
          </a:xfrm>
          <a:prstGeom prst="straightConnector1">
            <a:avLst/>
          </a:prstGeom>
          <a:noFill/>
          <a:ln cap="flat" cmpd="sng" w="12700">
            <a:solidFill>
              <a:srgbClr val="CFD8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" name="Google Shape;74;p4"/>
          <p:cNvSpPr/>
          <p:nvPr/>
        </p:nvSpPr>
        <p:spPr>
          <a:xfrm>
            <a:off x="1016000" y="1397000"/>
            <a:ext cx="14224000" cy="3302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1270000" y="1587500"/>
            <a:ext cx="13716000" cy="292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Hari 1 — Ringkasan: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</a:t>
            </a:r>
            <a:r>
              <a:rPr b="0" i="0" lang="en-US" sz="18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Setup ContainerLab dan FRRouting di laptop masing-masing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</a:t>
            </a:r>
            <a:r>
              <a:rPr b="0" i="0" lang="en-US" sz="18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MOD-01: Kenapa UMM butuh BGP — 3 upstream, failover, traffic engineering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</a:t>
            </a:r>
            <a:r>
              <a:rPr b="0" i="0" lang="en-US" sz="18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MOD-02: Konfigurasi eBGP di FRR — router bgp, neighbor, address-family, network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</a:t>
            </a:r>
            <a:r>
              <a:rPr b="0" i="0" lang="en-US" sz="18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LAB-01: Peserta konfigurasi umm-border peering ke idren-pop (AS 65010 ↔ AS 65000)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1016000" y="4953000"/>
            <a:ext cx="5080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Status LAB-01 — Checklist Verifikasi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7" name="Google Shape;77;p4"/>
          <p:cNvGraphicFramePr/>
          <p:nvPr/>
        </p:nvGraphicFramePr>
        <p:xfrm>
          <a:off x="1016000" y="5397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{4F551868-BB50-41E4-9F51-36898D543EC5}</a:tableStyleId>
              </a:tblPr>
              <a:tblGrid>
                <a:gridCol w="3982725"/>
                <a:gridCol w="5405125"/>
                <a:gridCol w="4836150"/>
              </a:tblGrid>
              <a:tr h="584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Verifikasi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55A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Perintah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55A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Expected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55A64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Session Established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show bgp summary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State/PfxRcd = angka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Prefix UMM terkirim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show bgp ipv4 unicast neighbors ... advertised-routes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100.72.1.0/24 dan 100.72.2.0/24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FF1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Prefix IDREN diterima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show bgp ipv4 unicast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100.68.0.0/16 ada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Masuk routing table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show ip route bgp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100.68.0.0/16 ada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FF1"/>
                    </a:solidFill>
                  </a:tcPr>
                </a:tc>
              </a:tr>
            </a:tbl>
          </a:graphicData>
        </a:graphic>
      </p:graphicFrame>
      <p:cxnSp>
        <p:nvCxnSpPr>
          <p:cNvPr id="78" name="Google Shape;78;p4"/>
          <p:cNvCxnSpPr/>
          <p:nvPr/>
        </p:nvCxnSpPr>
        <p:spPr>
          <a:xfrm>
            <a:off x="0" y="9093200"/>
            <a:ext cx="16256000" cy="0"/>
          </a:xfrm>
          <a:prstGeom prst="straightConnector1">
            <a:avLst/>
          </a:prstGeom>
          <a:noFill/>
          <a:ln cap="flat" cmpd="sng" w="50800">
            <a:solidFill>
              <a:srgbClr val="455A6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" name="Google Shape;79;p4"/>
          <p:cNvSpPr/>
          <p:nvPr/>
        </p:nvSpPr>
        <p:spPr>
          <a:xfrm>
            <a:off x="14605000" y="8636000"/>
            <a:ext cx="1016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0A4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 / 32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8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5" name="Google Shape;85;p5"/>
          <p:cNvCxnSpPr/>
          <p:nvPr/>
        </p:nvCxnSpPr>
        <p:spPr>
          <a:xfrm>
            <a:off x="0" y="0"/>
            <a:ext cx="16256000" cy="0"/>
          </a:xfrm>
          <a:prstGeom prst="straightConnector1">
            <a:avLst/>
          </a:prstGeom>
          <a:noFill/>
          <a:ln cap="flat" cmpd="sng" w="50800">
            <a:solidFill>
              <a:srgbClr val="455A6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5"/>
          <p:cNvSpPr/>
          <p:nvPr/>
        </p:nvSpPr>
        <p:spPr>
          <a:xfrm>
            <a:off x="1016000" y="2540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0A4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SESI 2 — REVIEW LAB-01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1016000" y="635000"/>
            <a:ext cx="101600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Solusi LAB-01 — Konfigurasi Lengkap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8" name="Google Shape;88;p5"/>
          <p:cNvCxnSpPr/>
          <p:nvPr/>
        </p:nvCxnSpPr>
        <p:spPr>
          <a:xfrm>
            <a:off x="1016000" y="1143000"/>
            <a:ext cx="14224000" cy="0"/>
          </a:xfrm>
          <a:prstGeom prst="straightConnector1">
            <a:avLst/>
          </a:prstGeom>
          <a:noFill/>
          <a:ln cap="flat" cmpd="sng" w="12700">
            <a:solidFill>
              <a:srgbClr val="CFD8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" name="Google Shape;89;p5"/>
          <p:cNvSpPr/>
          <p:nvPr/>
        </p:nvSpPr>
        <p:spPr>
          <a:xfrm>
            <a:off x="1016000" y="1397000"/>
            <a:ext cx="7620000" cy="4699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1270000" y="14986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0A4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Konfigurasi umm-border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1270000" y="1841500"/>
            <a:ext cx="7112000" cy="412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router bgp 65010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 bgp ebgp-requires-policy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bgp router-id 100.64.0.2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neighbor 100.64.0.1 remote-as 65000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neighbor 100.64.0.1 description "eBGP ke IDREN PoP"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!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address-family ipv4 unicast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network 100.72.1.0/24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network 100.72.2.0/24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neighbor 100.64.0.1 activate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exit-address-family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8890000" y="1397000"/>
            <a:ext cx="6350000" cy="2032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9144000" y="14986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0A4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Null Route (wajib!)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9144000" y="1841500"/>
            <a:ext cx="5842000" cy="139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ip route 100.72.1.0/24 null0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ip route 100.72.2.0/24 null0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Tanpa null route → PfxSnt: 0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8890000" y="3683000"/>
            <a:ext cx="6350000" cy="2413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8890000" y="3683000"/>
            <a:ext cx="6350000" cy="50800"/>
          </a:xfrm>
          <a:prstGeom prst="rect">
            <a:avLst/>
          </a:prstGeom>
          <a:solidFill>
            <a:srgbClr val="455A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9144000" y="3873500"/>
            <a:ext cx="584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 Hal Sering Terlewat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9144000" y="4254500"/>
            <a:ext cx="5842000" cy="165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</a:t>
            </a:r>
            <a:r>
              <a:rPr b="0" i="0" lang="en-US" sz="16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no bgp ebgp-requires-policy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</a:t>
            </a:r>
            <a:r>
              <a:rPr b="0" i="0" lang="en-US" sz="16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Null route untuk prefix UMM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</a:t>
            </a:r>
            <a:r>
              <a:rPr b="0" i="0" lang="en-US" sz="16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activate di address-family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Jika lupa salah satu → review tabel common mistakes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9" name="Google Shape;99;p5"/>
          <p:cNvCxnSpPr/>
          <p:nvPr/>
        </p:nvCxnSpPr>
        <p:spPr>
          <a:xfrm>
            <a:off x="0" y="9093200"/>
            <a:ext cx="16256000" cy="0"/>
          </a:xfrm>
          <a:prstGeom prst="straightConnector1">
            <a:avLst/>
          </a:prstGeom>
          <a:noFill/>
          <a:ln cap="flat" cmpd="sng" w="50800">
            <a:solidFill>
              <a:srgbClr val="455A6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" name="Google Shape;100;p5"/>
          <p:cNvSpPr/>
          <p:nvPr/>
        </p:nvSpPr>
        <p:spPr>
          <a:xfrm>
            <a:off x="14605000" y="8636000"/>
            <a:ext cx="1016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0A4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04 / 32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8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Google Shape;106;p6"/>
          <p:cNvCxnSpPr/>
          <p:nvPr/>
        </p:nvCxnSpPr>
        <p:spPr>
          <a:xfrm>
            <a:off x="0" y="0"/>
            <a:ext cx="16256000" cy="0"/>
          </a:xfrm>
          <a:prstGeom prst="straightConnector1">
            <a:avLst/>
          </a:prstGeom>
          <a:noFill/>
          <a:ln cap="flat" cmpd="sng" w="50800">
            <a:solidFill>
              <a:srgbClr val="455A6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7" name="Google Shape;107;p6"/>
          <p:cNvSpPr/>
          <p:nvPr/>
        </p:nvSpPr>
        <p:spPr>
          <a:xfrm>
            <a:off x="1016000" y="2540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0A4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SESI 2 — REVIEW LAB-01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1016000" y="635000"/>
            <a:ext cx="101600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Common Mistakes LAB-01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9" name="Google Shape;109;p6"/>
          <p:cNvCxnSpPr/>
          <p:nvPr/>
        </p:nvCxnSpPr>
        <p:spPr>
          <a:xfrm>
            <a:off x="1016000" y="1143000"/>
            <a:ext cx="14224000" cy="0"/>
          </a:xfrm>
          <a:prstGeom prst="straightConnector1">
            <a:avLst/>
          </a:prstGeom>
          <a:noFill/>
          <a:ln cap="flat" cmpd="sng" w="12700">
            <a:solidFill>
              <a:srgbClr val="CFD8DC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10" name="Google Shape;110;p6"/>
          <p:cNvGraphicFramePr/>
          <p:nvPr/>
        </p:nvGraphicFramePr>
        <p:xfrm>
          <a:off x="1016000" y="1397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{4F551868-BB50-41E4-9F51-36898D543EC5}</a:tableStyleId>
              </a:tblPr>
              <a:tblGrid>
                <a:gridCol w="3129275"/>
                <a:gridCol w="5405125"/>
                <a:gridCol w="5689600"/>
              </a:tblGrid>
              <a:tr h="671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Gejala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55A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Root Cause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55A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Fix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55A64"/>
                    </a:solidFill>
                  </a:tcPr>
                </a:tc>
              </a:tr>
              <a:tr h="671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Session Active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remote-as salah (65099 bukan 65000)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Koreksi ASN, tunggu reconnect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71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Session Active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TCP 179 diblokir firewall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iptables -I INPUT -p tcp --dport 179 -j ACCEPT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FF1"/>
                    </a:solidFill>
                  </a:tcPr>
                </a:tc>
              </a:tr>
              <a:tr h="671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(Policy) di State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Lupa no bgp ebgp-requires-policy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Tambahkan di router bgp 65010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71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PfxSnt: 0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Null route tidak ada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Tambahkan ip route ... null0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FF1"/>
                    </a:solidFill>
                  </a:tcPr>
                </a:tc>
              </a:tr>
              <a:tr h="671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PfxRcd: 0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Session baru establish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clear ip bgp * soft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71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Router ID konflik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Keduanya auto-detect dari interface sama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Set bgp router-id eksplisit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FF1"/>
                    </a:solidFill>
                  </a:tcPr>
                </a:tc>
              </a:tr>
            </a:tbl>
          </a:graphicData>
        </a:graphic>
      </p:graphicFrame>
      <p:sp>
        <p:nvSpPr>
          <p:cNvPr id="111" name="Google Shape;111;p6"/>
          <p:cNvSpPr/>
          <p:nvPr/>
        </p:nvSpPr>
        <p:spPr>
          <a:xfrm>
            <a:off x="1016000" y="6350000"/>
            <a:ext cx="14224000" cy="1905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1270000" y="6477000"/>
            <a:ext cx="3810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Q&amp;A — Pertanyaan Umum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1270000" y="6883400"/>
            <a:ext cx="13716000" cy="12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Q:</a:t>
            </a:r>
            <a:r>
              <a:rPr b="0" i="0" lang="en-US" sz="16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Session Established tapi prefix tidak muncul? → </a:t>
            </a:r>
            <a:r>
              <a:rPr b="1" i="0" lang="en-US" sz="16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A:</a:t>
            </a:r>
            <a:r>
              <a:rPr b="0" i="0" lang="en-US" sz="16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Null route hilang, atau ebgp-requires-policy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Q:</a:t>
            </a:r>
            <a:r>
              <a:rPr b="0" i="0" lang="en-US" sz="16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Beda show bgp ipv4 unicast vs show ip route bgp? → </a:t>
            </a:r>
            <a:r>
              <a:rPr b="1" i="0" lang="en-US" sz="16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A:</a:t>
            </a:r>
            <a:r>
              <a:rPr b="0" i="0" lang="en-US" sz="16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BGP table vs routing table OS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Q:</a:t>
            </a:r>
            <a:r>
              <a:rPr b="0" i="0" lang="en-US" sz="16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Kalau IDREN down? → </a:t>
            </a:r>
            <a:r>
              <a:rPr b="1" i="0" lang="en-US" sz="16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A:</a:t>
            </a:r>
            <a:r>
              <a:rPr b="0" i="0" lang="en-US" sz="16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Hold timer expired (90 detik), session putus, route di-withdraw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" name="Google Shape;114;p6"/>
          <p:cNvCxnSpPr/>
          <p:nvPr/>
        </p:nvCxnSpPr>
        <p:spPr>
          <a:xfrm>
            <a:off x="0" y="9093200"/>
            <a:ext cx="16256000" cy="0"/>
          </a:xfrm>
          <a:prstGeom prst="straightConnector1">
            <a:avLst/>
          </a:prstGeom>
          <a:noFill/>
          <a:ln cap="flat" cmpd="sng" w="50800">
            <a:solidFill>
              <a:srgbClr val="455A6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5" name="Google Shape;115;p6"/>
          <p:cNvSpPr/>
          <p:nvPr/>
        </p:nvSpPr>
        <p:spPr>
          <a:xfrm>
            <a:off x="14605000" y="8636000"/>
            <a:ext cx="1016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0A4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05 / 32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63238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1" name="Google Shape;121;p7"/>
          <p:cNvCxnSpPr/>
          <p:nvPr/>
        </p:nvCxnSpPr>
        <p:spPr>
          <a:xfrm>
            <a:off x="0" y="0"/>
            <a:ext cx="16256000" cy="0"/>
          </a:xfrm>
          <a:prstGeom prst="straightConnector1">
            <a:avLst/>
          </a:prstGeom>
          <a:noFill/>
          <a:ln cap="flat" cmpd="sng" w="50800">
            <a:solidFill>
              <a:srgbClr val="90A4A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2" name="Google Shape;122;p7"/>
          <p:cNvSpPr/>
          <p:nvPr/>
        </p:nvSpPr>
        <p:spPr>
          <a:xfrm>
            <a:off x="1016000" y="2540000"/>
            <a:ext cx="53340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b="0" i="0" lang="en-US" sz="6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SESI 3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3" name="Google Shape;123;p7"/>
          <p:cNvCxnSpPr/>
          <p:nvPr/>
        </p:nvCxnSpPr>
        <p:spPr>
          <a:xfrm>
            <a:off x="1016000" y="3937000"/>
            <a:ext cx="1016000" cy="0"/>
          </a:xfrm>
          <a:prstGeom prst="straightConnector1">
            <a:avLst/>
          </a:prstGeom>
          <a:noFill/>
          <a:ln cap="flat" cmpd="sng" w="25400">
            <a:solidFill>
              <a:srgbClr val="90A4A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4" name="Google Shape;124;p7"/>
          <p:cNvSpPr/>
          <p:nvPr/>
        </p:nvSpPr>
        <p:spPr>
          <a:xfrm>
            <a:off x="1016000" y="4191000"/>
            <a:ext cx="114300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iBGP: Ketika UMM Punya 2 Border Router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1016000" y="4953000"/>
            <a:ext cx="7620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90A4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11.00–11.30 | MOD-03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6" name="Google Shape;126;p7"/>
          <p:cNvCxnSpPr/>
          <p:nvPr/>
        </p:nvCxnSpPr>
        <p:spPr>
          <a:xfrm>
            <a:off x="0" y="9093200"/>
            <a:ext cx="16256000" cy="0"/>
          </a:xfrm>
          <a:prstGeom prst="straightConnector1">
            <a:avLst/>
          </a:prstGeom>
          <a:noFill/>
          <a:ln cap="flat" cmpd="sng" w="50800">
            <a:solidFill>
              <a:srgbClr val="90A4AE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8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"/>
          <p:cNvSpPr/>
          <p:nvPr/>
        </p:nvSpPr>
        <p:spPr>
          <a:xfrm>
            <a:off x="979738" y="1460550"/>
            <a:ext cx="6858000" cy="35559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3" name="Google Shape;133;p8"/>
          <p:cNvCxnSpPr/>
          <p:nvPr/>
        </p:nvCxnSpPr>
        <p:spPr>
          <a:xfrm>
            <a:off x="0" y="0"/>
            <a:ext cx="16256000" cy="0"/>
          </a:xfrm>
          <a:prstGeom prst="straightConnector1">
            <a:avLst/>
          </a:prstGeom>
          <a:noFill/>
          <a:ln cap="flat" cmpd="sng" w="50800">
            <a:solidFill>
              <a:srgbClr val="455A6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4" name="Google Shape;134;p8"/>
          <p:cNvSpPr/>
          <p:nvPr/>
        </p:nvSpPr>
        <p:spPr>
          <a:xfrm>
            <a:off x="1016000" y="2540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0A4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MOD-03 — iBGP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1016000" y="635000"/>
            <a:ext cx="101600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Kapan UMM Butuh iBGP?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6" name="Google Shape;136;p8"/>
          <p:cNvCxnSpPr/>
          <p:nvPr/>
        </p:nvCxnSpPr>
        <p:spPr>
          <a:xfrm>
            <a:off x="1016000" y="1143000"/>
            <a:ext cx="14224000" cy="0"/>
          </a:xfrm>
          <a:prstGeom prst="straightConnector1">
            <a:avLst/>
          </a:prstGeom>
          <a:noFill/>
          <a:ln cap="flat" cmpd="sng" w="12700">
            <a:solidFill>
              <a:srgbClr val="CFD8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7" name="Google Shape;137;p8"/>
          <p:cNvSpPr/>
          <p:nvPr/>
        </p:nvSpPr>
        <p:spPr>
          <a:xfrm>
            <a:off x="1016000" y="1460500"/>
            <a:ext cx="6858000" cy="50800"/>
          </a:xfrm>
          <a:prstGeom prst="rect">
            <a:avLst/>
          </a:prstGeom>
          <a:solidFill>
            <a:srgbClr val="7890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1270000" y="1651000"/>
            <a:ext cx="6350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Single Border — Tidak Butuh iBGP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8382000" y="1460550"/>
            <a:ext cx="6858000" cy="35559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8382000" y="1460500"/>
            <a:ext cx="6858000" cy="50800"/>
          </a:xfrm>
          <a:prstGeom prst="rect">
            <a:avLst/>
          </a:prstGeom>
          <a:solidFill>
            <a:srgbClr val="455A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8636000" y="1651000"/>
            <a:ext cx="6350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Dual Border — Butuh iBGP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2" name="Google Shape;142;p8"/>
          <p:cNvCxnSpPr/>
          <p:nvPr/>
        </p:nvCxnSpPr>
        <p:spPr>
          <a:xfrm>
            <a:off x="1016000" y="5334000"/>
            <a:ext cx="14224000" cy="0"/>
          </a:xfrm>
          <a:prstGeom prst="straightConnector1">
            <a:avLst/>
          </a:prstGeom>
          <a:noFill/>
          <a:ln cap="flat" cmpd="sng" w="12700">
            <a:solidFill>
              <a:srgbClr val="CFD8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3" name="Google Shape;143;p8"/>
          <p:cNvSpPr/>
          <p:nvPr/>
        </p:nvSpPr>
        <p:spPr>
          <a:xfrm>
            <a:off x="1016000" y="5588000"/>
            <a:ext cx="3810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Key Insight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1016000" y="6032500"/>
            <a:ext cx="14224000" cy="21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45720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1800"/>
              <a:buFont typeface="Quattrocento Sans"/>
              <a:buChar char="●"/>
            </a:pPr>
            <a:r>
              <a:rPr b="1" i="0" lang="en-US" sz="18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Tanpa iBGP:</a:t>
            </a:r>
            <a:r>
              <a:rPr b="0" i="0" lang="en-US" sz="18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border-2 tidak tahu route dari IDREN yang datang ke border-1. Traffic dari user yang lewat border-2 tidak bisa mencapai tujuan di IDREN.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1800"/>
              <a:buFont typeface="Quattrocento Sans"/>
              <a:buChar char="●"/>
            </a:pPr>
            <a:r>
              <a:rPr b="1" i="0" lang="en-US" sz="18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Dengan iBGP:</a:t>
            </a:r>
            <a:r>
              <a:rPr b="0" i="0" lang="en-US" sz="18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border-1 berbagi route IDREN ke border-2, dan sebaliknya. Kedua border punya visibilitas penuh ke semua upstream.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800"/>
              <a:buFont typeface="Quattrocento Sans"/>
              <a:buChar char="●"/>
            </a:pPr>
            <a:r>
              <a:rPr b="1" i="0" lang="en-US" sz="18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Rule of thumb:</a:t>
            </a:r>
            <a:r>
              <a:rPr b="0" i="0" lang="en-US" sz="18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Lebih dari 1 border router dengan upstream berbeda → aktifkan iBGP.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5" name="Google Shape;145;p8"/>
          <p:cNvCxnSpPr/>
          <p:nvPr/>
        </p:nvCxnSpPr>
        <p:spPr>
          <a:xfrm>
            <a:off x="0" y="9093200"/>
            <a:ext cx="16256000" cy="0"/>
          </a:xfrm>
          <a:prstGeom prst="straightConnector1">
            <a:avLst/>
          </a:prstGeom>
          <a:noFill/>
          <a:ln cap="flat" cmpd="sng" w="50800">
            <a:solidFill>
              <a:srgbClr val="455A6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6" name="Google Shape;146;p8"/>
          <p:cNvSpPr/>
          <p:nvPr/>
        </p:nvSpPr>
        <p:spPr>
          <a:xfrm>
            <a:off x="14605000" y="8636000"/>
            <a:ext cx="1016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0A4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07 / 32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2598019" y="2214388"/>
            <a:ext cx="1260600" cy="519900"/>
          </a:xfrm>
          <a:prstGeom prst="rect">
            <a:avLst/>
          </a:prstGeom>
          <a:solidFill>
            <a:srgbClr val="0F1D2E"/>
          </a:solidFill>
          <a:ln cap="flat" cmpd="sng" w="10325">
            <a:solidFill>
              <a:srgbClr val="0F1D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575" lIns="73125" spcFirstLastPara="1" rIns="73125" wrap="square" tIns="36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63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2598019" y="2214388"/>
            <a:ext cx="12603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6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Border Router</a:t>
            </a:r>
            <a:endParaRPr b="1" sz="1016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6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 65010</a:t>
            </a:r>
            <a:endParaRPr b="1" sz="1016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1233375" y="3436112"/>
            <a:ext cx="1031400" cy="445500"/>
          </a:xfrm>
          <a:prstGeom prst="rect">
            <a:avLst/>
          </a:prstGeom>
          <a:solidFill>
            <a:srgbClr val="00D4AA"/>
          </a:solidFill>
          <a:ln cap="flat" cmpd="sng" w="10325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575" lIns="73125" spcFirstLastPara="1" rIns="73125" wrap="square" tIns="36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63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1233375" y="3436112"/>
            <a:ext cx="1031400" cy="44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6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IDREN</a:t>
            </a:r>
            <a:endParaRPr b="0" sz="1016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2598019" y="3436112"/>
            <a:ext cx="1260600" cy="445500"/>
          </a:xfrm>
          <a:prstGeom prst="rect">
            <a:avLst/>
          </a:prstGeom>
          <a:solidFill>
            <a:srgbClr val="334E68"/>
          </a:solidFill>
          <a:ln cap="flat" cmpd="sng" w="10325">
            <a:solidFill>
              <a:srgbClr val="334E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575" lIns="73125" spcFirstLastPara="1" rIns="73125" wrap="square" tIns="36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63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2598019" y="3436112"/>
            <a:ext cx="1260600" cy="44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6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ISP Komersial</a:t>
            </a:r>
            <a:endParaRPr b="1" sz="1016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4191866" y="3436112"/>
            <a:ext cx="1031400" cy="445500"/>
          </a:xfrm>
          <a:prstGeom prst="rect">
            <a:avLst/>
          </a:prstGeom>
          <a:solidFill>
            <a:srgbClr val="F59E0B"/>
          </a:solidFill>
          <a:ln cap="flat" cmpd="sng" w="103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575" lIns="73125" spcFirstLastPara="1" rIns="73125" wrap="square" tIns="36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63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4191866" y="3436112"/>
            <a:ext cx="1031400" cy="44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6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IIX</a:t>
            </a:r>
            <a:endParaRPr b="0" sz="1016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5" name="Google Shape;155;p8"/>
          <p:cNvCxnSpPr>
            <a:stCxn id="148" idx="2"/>
            <a:endCxn id="150" idx="0"/>
          </p:cNvCxnSpPr>
          <p:nvPr/>
        </p:nvCxnSpPr>
        <p:spPr>
          <a:xfrm flipH="1">
            <a:off x="1749169" y="2733988"/>
            <a:ext cx="1479000" cy="70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6" name="Google Shape;156;p8"/>
          <p:cNvCxnSpPr>
            <a:stCxn id="148" idx="2"/>
            <a:endCxn id="152" idx="0"/>
          </p:cNvCxnSpPr>
          <p:nvPr/>
        </p:nvCxnSpPr>
        <p:spPr>
          <a:xfrm>
            <a:off x="3228169" y="2733988"/>
            <a:ext cx="300" cy="70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" name="Google Shape;157;p8"/>
          <p:cNvCxnSpPr>
            <a:stCxn id="148" idx="2"/>
            <a:endCxn id="154" idx="0"/>
          </p:cNvCxnSpPr>
          <p:nvPr/>
        </p:nvCxnSpPr>
        <p:spPr>
          <a:xfrm>
            <a:off x="3228169" y="2733988"/>
            <a:ext cx="1479300" cy="70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" name="Google Shape;158;p8"/>
          <p:cNvSpPr/>
          <p:nvPr/>
        </p:nvSpPr>
        <p:spPr>
          <a:xfrm>
            <a:off x="8635994" y="2316690"/>
            <a:ext cx="1260600" cy="519900"/>
          </a:xfrm>
          <a:prstGeom prst="rect">
            <a:avLst/>
          </a:prstGeom>
          <a:solidFill>
            <a:srgbClr val="0F1D2E"/>
          </a:solidFill>
          <a:ln cap="flat" cmpd="sng" w="10325">
            <a:solidFill>
              <a:srgbClr val="0F1D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575" lIns="73125" spcFirstLastPara="1" rIns="73125" wrap="square" tIns="36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63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8635994" y="2316690"/>
            <a:ext cx="12603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6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UMM Campus</a:t>
            </a:r>
            <a:endParaRPr b="1" sz="1016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6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 65010</a:t>
            </a:r>
            <a:endParaRPr b="1" sz="1016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8750600" y="3503137"/>
            <a:ext cx="1031400" cy="445500"/>
          </a:xfrm>
          <a:prstGeom prst="rect">
            <a:avLst/>
          </a:prstGeom>
          <a:solidFill>
            <a:srgbClr val="00D4AA"/>
          </a:solidFill>
          <a:ln cap="flat" cmpd="sng" w="10325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575" lIns="73125" spcFirstLastPara="1" rIns="73125" wrap="square" tIns="36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63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8750600" y="3503137"/>
            <a:ext cx="1031400" cy="44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6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IDREN</a:t>
            </a:r>
            <a:endParaRPr b="0" sz="1016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11560919" y="3503137"/>
            <a:ext cx="1260600" cy="445500"/>
          </a:xfrm>
          <a:prstGeom prst="rect">
            <a:avLst/>
          </a:prstGeom>
          <a:solidFill>
            <a:srgbClr val="334E68"/>
          </a:solidFill>
          <a:ln cap="flat" cmpd="sng" w="10325">
            <a:solidFill>
              <a:srgbClr val="334E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575" lIns="73125" spcFirstLastPara="1" rIns="73125" wrap="square" tIns="36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63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11560919" y="3503137"/>
            <a:ext cx="1260600" cy="44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6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ISP Komersial</a:t>
            </a:r>
            <a:endParaRPr b="1" sz="1016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10229841" y="3503137"/>
            <a:ext cx="1031400" cy="445500"/>
          </a:xfrm>
          <a:prstGeom prst="rect">
            <a:avLst/>
          </a:prstGeom>
          <a:solidFill>
            <a:srgbClr val="F59E0B"/>
          </a:solidFill>
          <a:ln cap="flat" cmpd="sng" w="103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575" lIns="73125" spcFirstLastPara="1" rIns="73125" wrap="square" tIns="36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63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10229841" y="3503137"/>
            <a:ext cx="1031400" cy="44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6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IIX</a:t>
            </a:r>
            <a:endParaRPr b="0" sz="1016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6" name="Google Shape;166;p8"/>
          <p:cNvCxnSpPr>
            <a:stCxn id="159" idx="2"/>
            <a:endCxn id="161" idx="0"/>
          </p:cNvCxnSpPr>
          <p:nvPr/>
        </p:nvCxnSpPr>
        <p:spPr>
          <a:xfrm>
            <a:off x="9266144" y="2836290"/>
            <a:ext cx="300" cy="66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" name="Google Shape;167;p8"/>
          <p:cNvCxnSpPr>
            <a:stCxn id="168" idx="2"/>
            <a:endCxn id="165" idx="0"/>
          </p:cNvCxnSpPr>
          <p:nvPr/>
        </p:nvCxnSpPr>
        <p:spPr>
          <a:xfrm flipH="1">
            <a:off x="10745469" y="2834913"/>
            <a:ext cx="967500" cy="66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" name="Google Shape;169;p8"/>
          <p:cNvCxnSpPr>
            <a:stCxn id="159" idx="3"/>
            <a:endCxn id="168" idx="1"/>
          </p:cNvCxnSpPr>
          <p:nvPr/>
        </p:nvCxnSpPr>
        <p:spPr>
          <a:xfrm flipH="1" rot="10800000">
            <a:off x="9896294" y="2574990"/>
            <a:ext cx="11865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0" name="Google Shape;170;p8"/>
          <p:cNvSpPr/>
          <p:nvPr/>
        </p:nvSpPr>
        <p:spPr>
          <a:xfrm>
            <a:off x="11082819" y="2315313"/>
            <a:ext cx="1260600" cy="519900"/>
          </a:xfrm>
          <a:prstGeom prst="rect">
            <a:avLst/>
          </a:prstGeom>
          <a:solidFill>
            <a:srgbClr val="0F1D2E"/>
          </a:solidFill>
          <a:ln cap="flat" cmpd="sng" w="10325">
            <a:solidFill>
              <a:srgbClr val="0F1D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575" lIns="73125" spcFirstLastPara="1" rIns="73125" wrap="square" tIns="36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63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11082819" y="2315313"/>
            <a:ext cx="12603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6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UMM Campus</a:t>
            </a:r>
            <a:endParaRPr b="1" sz="1016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6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 65010</a:t>
            </a:r>
            <a:endParaRPr b="1" sz="1016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1" name="Google Shape;171;p8"/>
          <p:cNvCxnSpPr>
            <a:stCxn id="168" idx="2"/>
            <a:endCxn id="163" idx="0"/>
          </p:cNvCxnSpPr>
          <p:nvPr/>
        </p:nvCxnSpPr>
        <p:spPr>
          <a:xfrm>
            <a:off x="11712969" y="2834913"/>
            <a:ext cx="478200" cy="66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2" name="Google Shape;172;p8"/>
          <p:cNvSpPr/>
          <p:nvPr/>
        </p:nvSpPr>
        <p:spPr>
          <a:xfrm>
            <a:off x="10124013" y="2397480"/>
            <a:ext cx="7311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lang="en-US" sz="850" strike="noStrik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BGP</a:t>
            </a:r>
            <a:endParaRPr b="0" sz="8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9075638" y="3078518"/>
            <a:ext cx="7311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lang="en-US" sz="850" strike="noStrik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BGP</a:t>
            </a:r>
            <a:endParaRPr b="0" sz="8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10639163" y="3077818"/>
            <a:ext cx="7311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lang="en-US" sz="850" strike="noStrik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BGP</a:t>
            </a:r>
            <a:endParaRPr b="0" sz="8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11779354" y="3077818"/>
            <a:ext cx="7311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lang="en-US" sz="850" strike="noStrik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BGP</a:t>
            </a:r>
            <a:endParaRPr b="0" sz="8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8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1" name="Google Shape;181;p9"/>
          <p:cNvCxnSpPr/>
          <p:nvPr/>
        </p:nvCxnSpPr>
        <p:spPr>
          <a:xfrm>
            <a:off x="0" y="0"/>
            <a:ext cx="16256000" cy="0"/>
          </a:xfrm>
          <a:prstGeom prst="straightConnector1">
            <a:avLst/>
          </a:prstGeom>
          <a:noFill/>
          <a:ln cap="flat" cmpd="sng" w="50800">
            <a:solidFill>
              <a:srgbClr val="455A6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2" name="Google Shape;182;p9"/>
          <p:cNvSpPr/>
          <p:nvPr/>
        </p:nvSpPr>
        <p:spPr>
          <a:xfrm>
            <a:off x="1016000" y="2540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0A4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MOD-03 — iBGP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1016000" y="635000"/>
            <a:ext cx="101600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iBGP vs eBGP — Perbedaan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4" name="Google Shape;184;p9"/>
          <p:cNvCxnSpPr/>
          <p:nvPr/>
        </p:nvCxnSpPr>
        <p:spPr>
          <a:xfrm>
            <a:off x="1016000" y="1143000"/>
            <a:ext cx="14224000" cy="0"/>
          </a:xfrm>
          <a:prstGeom prst="straightConnector1">
            <a:avLst/>
          </a:prstGeom>
          <a:noFill/>
          <a:ln cap="flat" cmpd="sng" w="12700">
            <a:solidFill>
              <a:srgbClr val="CFD8DC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85" name="Google Shape;185;p9"/>
          <p:cNvGraphicFramePr/>
          <p:nvPr/>
        </p:nvGraphicFramePr>
        <p:xfrm>
          <a:off x="1016000" y="1397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{4F551868-BB50-41E4-9F51-36898D543EC5}</a:tableStyleId>
              </a:tblPr>
              <a:tblGrid>
                <a:gridCol w="3556000"/>
                <a:gridCol w="5334000"/>
                <a:gridCol w="5334000"/>
              </a:tblGrid>
              <a:tr h="594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Atribut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55A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eBGP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55A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iBGP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55A64"/>
                    </a:solidFill>
                  </a:tcPr>
                </a:tc>
              </a:tr>
              <a:tr h="594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ASN neighbor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Berbeda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Sama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94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TTL default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 (directly connected)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255 (bisa multi-hop)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FF1"/>
                    </a:solidFill>
                  </a:tcPr>
                </a:tc>
              </a:tr>
              <a:tr h="594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Next-hop behavior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Diubah ke IP lokal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Tidak diubah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94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Split horizon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Tidak ada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Ada — route iBGP tidak dikirim ke iBGP peer lain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FF1"/>
                    </a:solidFill>
                  </a:tcPr>
                </a:tc>
              </a:tr>
              <a:tr h="582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Peer address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Interface IP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Loopback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186" name="Google Shape;186;p9"/>
          <p:cNvCxnSpPr/>
          <p:nvPr/>
        </p:nvCxnSpPr>
        <p:spPr>
          <a:xfrm>
            <a:off x="1016000" y="5270500"/>
            <a:ext cx="14224000" cy="0"/>
          </a:xfrm>
          <a:prstGeom prst="straightConnector1">
            <a:avLst/>
          </a:prstGeom>
          <a:noFill/>
          <a:ln cap="flat" cmpd="sng" w="12700">
            <a:solidFill>
              <a:srgbClr val="CFD8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7" name="Google Shape;187;p9"/>
          <p:cNvSpPr/>
          <p:nvPr/>
        </p:nvSpPr>
        <p:spPr>
          <a:xfrm>
            <a:off x="1016000" y="5524500"/>
            <a:ext cx="3810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Catatan Penting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1016000" y="5969000"/>
            <a:ext cx="14224000" cy="24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45720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1800"/>
              <a:buFont typeface="Quattrocento Sans"/>
              <a:buChar char="●"/>
            </a:pPr>
            <a:r>
              <a:rPr b="1" i="0" lang="en-US" sz="18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remote-as sama dengan AS lokal = iBGP</a:t>
            </a:r>
            <a:r>
              <a:rPr b="0" i="0" lang="en-US" sz="18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Ini cara paling mudah membedakan eBGP vs iBGP dari konfigurasi.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1800"/>
              <a:buFont typeface="Quattrocento Sans"/>
              <a:buChar char="●"/>
            </a:pPr>
            <a:r>
              <a:rPr b="1" i="0" lang="en-US" sz="18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Next-hop tidak berubah → masalah:</a:t>
            </a:r>
            <a:r>
              <a:rPr b="0" i="0" lang="en-US" sz="18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Border-2 menerima route dengan next-hop IDREN yang tidak reachable. </a:t>
            </a:r>
            <a:r>
              <a:rPr b="1" i="0" lang="en-US" sz="18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Solusi: next-hop-self</a:t>
            </a:r>
            <a:r>
              <a:rPr b="0" i="0" lang="en-US" sz="18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border-1 ganti next-hop ke loopback-nya sebelum kirim ke border-2.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1800"/>
              <a:buFont typeface="Quattrocento Sans"/>
              <a:buChar char="●"/>
            </a:pPr>
            <a:r>
              <a:rPr b="1" i="0" lang="en-US" sz="18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Loopback sebagai peer address:</a:t>
            </a:r>
            <a:r>
              <a:rPr b="0" i="0" lang="en-US" sz="18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Interface fisik bisa down, loopback selalu up selama router hidup. iBGP pakai loopback untuk keandalan.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9" name="Google Shape;189;p9"/>
          <p:cNvCxnSpPr/>
          <p:nvPr/>
        </p:nvCxnSpPr>
        <p:spPr>
          <a:xfrm>
            <a:off x="0" y="9093200"/>
            <a:ext cx="16256000" cy="0"/>
          </a:xfrm>
          <a:prstGeom prst="straightConnector1">
            <a:avLst/>
          </a:prstGeom>
          <a:noFill/>
          <a:ln cap="flat" cmpd="sng" w="50800">
            <a:solidFill>
              <a:srgbClr val="455A6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0" name="Google Shape;190;p9"/>
          <p:cNvSpPr/>
          <p:nvPr/>
        </p:nvSpPr>
        <p:spPr>
          <a:xfrm>
            <a:off x="14605000" y="8636000"/>
            <a:ext cx="1016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0A4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08 / 32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8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6" name="Google Shape;196;p10"/>
          <p:cNvCxnSpPr/>
          <p:nvPr/>
        </p:nvCxnSpPr>
        <p:spPr>
          <a:xfrm>
            <a:off x="0" y="0"/>
            <a:ext cx="16256000" cy="0"/>
          </a:xfrm>
          <a:prstGeom prst="straightConnector1">
            <a:avLst/>
          </a:prstGeom>
          <a:noFill/>
          <a:ln cap="flat" cmpd="sng" w="50800">
            <a:solidFill>
              <a:srgbClr val="455A6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7" name="Google Shape;197;p10"/>
          <p:cNvSpPr/>
          <p:nvPr/>
        </p:nvSpPr>
        <p:spPr>
          <a:xfrm>
            <a:off x="1016000" y="2540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0A4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MOD-03 — iBGP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1016000" y="635000"/>
            <a:ext cx="101600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Masalah Next-hop di iBGP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9" name="Google Shape;199;p10"/>
          <p:cNvCxnSpPr/>
          <p:nvPr/>
        </p:nvCxnSpPr>
        <p:spPr>
          <a:xfrm>
            <a:off x="1016000" y="1143000"/>
            <a:ext cx="14224000" cy="0"/>
          </a:xfrm>
          <a:prstGeom prst="straightConnector1">
            <a:avLst/>
          </a:prstGeom>
          <a:noFill/>
          <a:ln cap="flat" cmpd="sng" w="12700">
            <a:solidFill>
              <a:srgbClr val="CFD8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0" name="Google Shape;200;p10"/>
          <p:cNvSpPr/>
          <p:nvPr/>
        </p:nvSpPr>
        <p:spPr>
          <a:xfrm>
            <a:off x="1016000" y="1397000"/>
            <a:ext cx="14224000" cy="3683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1270000" y="14986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0A4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Alur Next-hop Problem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1270000" y="1879600"/>
            <a:ext cx="137160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exabgp-idren (100.64.0.1)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│ advertise 152.118.0.0/16, next-hop = 100.64.0.1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▼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border-1</a:t>
            </a:r>
            <a:r>
              <a:rPr b="0" i="0" lang="en-US" sz="14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(eBGP terima)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│ forward ke border-2 via iBGP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│ next-hop </a:t>
            </a:r>
            <a:r>
              <a:rPr b="1" i="0" lang="en-US" sz="14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TETAP 100.64.0.1</a:t>
            </a:r>
            <a:r>
              <a:rPr b="0" i="0" lang="en-US" sz="14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← border-2 tidak bisa reach!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▼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border-2</a:t>
            </a:r>
            <a:r>
              <a:rPr b="0" i="0" lang="en-US" sz="14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(iBGP terima)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× route tidak masuk routing table — next-hop unreachable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3" name="Google Shape;203;p10"/>
          <p:cNvCxnSpPr/>
          <p:nvPr/>
        </p:nvCxnSpPr>
        <p:spPr>
          <a:xfrm>
            <a:off x="1016000" y="5651500"/>
            <a:ext cx="14224000" cy="0"/>
          </a:xfrm>
          <a:prstGeom prst="straightConnector1">
            <a:avLst/>
          </a:prstGeom>
          <a:noFill/>
          <a:ln cap="flat" cmpd="sng" w="12700">
            <a:solidFill>
              <a:srgbClr val="CFD8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4" name="Google Shape;204;p10"/>
          <p:cNvSpPr/>
          <p:nvPr/>
        </p:nvSpPr>
        <p:spPr>
          <a:xfrm>
            <a:off x="1016000" y="5905500"/>
            <a:ext cx="14224000" cy="2413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1016000" y="5905500"/>
            <a:ext cx="14224000" cy="50800"/>
          </a:xfrm>
          <a:prstGeom prst="rect">
            <a:avLst/>
          </a:prstGeom>
          <a:solidFill>
            <a:srgbClr val="455A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1270000" y="6096000"/>
            <a:ext cx="3810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Solusi: next-hop-self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1270000" y="6540500"/>
            <a:ext cx="13716000" cy="15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Tambahkan di konfigurasi border-1 (iBGP peer ke border-2):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neighbor 100.64.1.2 next-hop-self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Border-1 akan mengganti next-hop menjadi IP loopback-nya (100.64.1.1) sebelum mengirim route ke border-2. Sehingga border-2 bisa reach next-hop dan route masuk routing table.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8" name="Google Shape;208;p10"/>
          <p:cNvCxnSpPr/>
          <p:nvPr/>
        </p:nvCxnSpPr>
        <p:spPr>
          <a:xfrm>
            <a:off x="0" y="9093200"/>
            <a:ext cx="16256000" cy="0"/>
          </a:xfrm>
          <a:prstGeom prst="straightConnector1">
            <a:avLst/>
          </a:prstGeom>
          <a:noFill/>
          <a:ln cap="flat" cmpd="sng" w="50800">
            <a:solidFill>
              <a:srgbClr val="455A6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9" name="Google Shape;209;p10"/>
          <p:cNvSpPr/>
          <p:nvPr/>
        </p:nvSpPr>
        <p:spPr>
          <a:xfrm>
            <a:off x="14605000" y="8636000"/>
            <a:ext cx="1016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0A4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09 / 32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8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5" name="Google Shape;215;p11"/>
          <p:cNvCxnSpPr/>
          <p:nvPr/>
        </p:nvCxnSpPr>
        <p:spPr>
          <a:xfrm>
            <a:off x="0" y="0"/>
            <a:ext cx="16256000" cy="0"/>
          </a:xfrm>
          <a:prstGeom prst="straightConnector1">
            <a:avLst/>
          </a:prstGeom>
          <a:noFill/>
          <a:ln cap="flat" cmpd="sng" w="50800">
            <a:solidFill>
              <a:srgbClr val="455A6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6" name="Google Shape;216;p11"/>
          <p:cNvSpPr/>
          <p:nvPr/>
        </p:nvSpPr>
        <p:spPr>
          <a:xfrm>
            <a:off x="1016000" y="2540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0A4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MOD-03 — iBGP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1"/>
          <p:cNvSpPr/>
          <p:nvPr/>
        </p:nvSpPr>
        <p:spPr>
          <a:xfrm>
            <a:off x="1016000" y="635000"/>
            <a:ext cx="101600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Konfigurasi iBGP — border-1 &amp; border-2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8" name="Google Shape;218;p11"/>
          <p:cNvCxnSpPr/>
          <p:nvPr/>
        </p:nvCxnSpPr>
        <p:spPr>
          <a:xfrm>
            <a:off x="1016000" y="1143000"/>
            <a:ext cx="14224000" cy="0"/>
          </a:xfrm>
          <a:prstGeom prst="straightConnector1">
            <a:avLst/>
          </a:prstGeom>
          <a:noFill/>
          <a:ln cap="flat" cmpd="sng" w="12700">
            <a:solidFill>
              <a:srgbClr val="CFD8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9" name="Google Shape;219;p11"/>
          <p:cNvSpPr/>
          <p:nvPr/>
        </p:nvSpPr>
        <p:spPr>
          <a:xfrm>
            <a:off x="1016000" y="1397000"/>
            <a:ext cx="7112000" cy="5334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1"/>
          <p:cNvSpPr/>
          <p:nvPr/>
        </p:nvSpPr>
        <p:spPr>
          <a:xfrm>
            <a:off x="1270000" y="14986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0A4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border-1 (eBGP + iBGP)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1"/>
          <p:cNvSpPr/>
          <p:nvPr/>
        </p:nvSpPr>
        <p:spPr>
          <a:xfrm>
            <a:off x="1270000" y="1841500"/>
            <a:ext cx="6604000" cy="47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router bgp 65010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 bgp ebgp-requires-policy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bgp router-id 100.64.1.1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neighbor 100.64.0.1 remote-as 65000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neighbor 100.64.0.1 description "eBGP ke IDREN"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neighbor 100.64.1.2 remote-as 65010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neighbor 100.64.1.2 description "iBGP ke border-2"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neighbor 100.64.1.2 update-source lo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!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address-family ipv4 unicast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network 100.72.1.0/24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network 100.72.2.0/24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neighbor 100.64.0.1 activate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neighbor 100.64.1.2 activate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neighbor 100.64.1.2 next-hop-self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exit-address-family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1"/>
          <p:cNvSpPr/>
          <p:nvPr/>
        </p:nvSpPr>
        <p:spPr>
          <a:xfrm>
            <a:off x="8382000" y="1397000"/>
            <a:ext cx="6858000" cy="3810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1"/>
          <p:cNvSpPr/>
          <p:nvPr/>
        </p:nvSpPr>
        <p:spPr>
          <a:xfrm>
            <a:off x="8636000" y="14986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0A4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border-2 (iBGP only)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1"/>
          <p:cNvSpPr/>
          <p:nvPr/>
        </p:nvSpPr>
        <p:spPr>
          <a:xfrm>
            <a:off x="8636000" y="1841500"/>
            <a:ext cx="6350000" cy="32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router bgp 65010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bgp router-id 100.64.1.2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neighbor 100.64.1.1 remote-as 65010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neighbor 100.64.1.1 description "iBGP ke border-1"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neighbor 100.64.1.1 update-source lo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!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address-family ipv4 unicast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neighbor 100.64.1.1 activate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neighbor 100.64.1.1 next-hop-self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exit-address-family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1"/>
          <p:cNvSpPr/>
          <p:nvPr/>
        </p:nvSpPr>
        <p:spPr>
          <a:xfrm>
            <a:off x="8382000" y="5461000"/>
            <a:ext cx="6858000" cy="1270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1"/>
          <p:cNvSpPr/>
          <p:nvPr/>
        </p:nvSpPr>
        <p:spPr>
          <a:xfrm>
            <a:off x="8382000" y="5461000"/>
            <a:ext cx="6858000" cy="50800"/>
          </a:xfrm>
          <a:prstGeom prst="rect">
            <a:avLst/>
          </a:prstGeom>
          <a:solidFill>
            <a:srgbClr val="455A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1"/>
          <p:cNvSpPr/>
          <p:nvPr/>
        </p:nvSpPr>
        <p:spPr>
          <a:xfrm>
            <a:off x="8636000" y="56515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Verifikasi di border-2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1"/>
          <p:cNvSpPr/>
          <p:nvPr/>
        </p:nvSpPr>
        <p:spPr>
          <a:xfrm>
            <a:off x="8636000" y="5969000"/>
            <a:ext cx="63500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show bgp ipv4 unicast → tanda i = iBGP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LocPrf 100 = Local Preference default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9" name="Google Shape;229;p11"/>
          <p:cNvCxnSpPr/>
          <p:nvPr/>
        </p:nvCxnSpPr>
        <p:spPr>
          <a:xfrm>
            <a:off x="0" y="9093200"/>
            <a:ext cx="16256000" cy="0"/>
          </a:xfrm>
          <a:prstGeom prst="straightConnector1">
            <a:avLst/>
          </a:prstGeom>
          <a:noFill/>
          <a:ln cap="flat" cmpd="sng" w="50800">
            <a:solidFill>
              <a:srgbClr val="455A6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0" name="Google Shape;230;p11"/>
          <p:cNvSpPr/>
          <p:nvPr/>
        </p:nvSpPr>
        <p:spPr>
          <a:xfrm>
            <a:off x="14605000" y="8636000"/>
            <a:ext cx="1016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0A4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 / 32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8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6" name="Google Shape;236;p12"/>
          <p:cNvCxnSpPr/>
          <p:nvPr/>
        </p:nvCxnSpPr>
        <p:spPr>
          <a:xfrm>
            <a:off x="0" y="0"/>
            <a:ext cx="16256000" cy="0"/>
          </a:xfrm>
          <a:prstGeom prst="straightConnector1">
            <a:avLst/>
          </a:prstGeom>
          <a:noFill/>
          <a:ln cap="flat" cmpd="sng" w="50800">
            <a:solidFill>
              <a:srgbClr val="455A6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7" name="Google Shape;237;p12"/>
          <p:cNvSpPr/>
          <p:nvPr/>
        </p:nvSpPr>
        <p:spPr>
          <a:xfrm>
            <a:off x="1016000" y="2540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0A4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MOD-03 — iBGP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2"/>
          <p:cNvSpPr/>
          <p:nvPr/>
        </p:nvSpPr>
        <p:spPr>
          <a:xfrm>
            <a:off x="1016000" y="635000"/>
            <a:ext cx="101600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Common Mistakes iBGP + Wrap-up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9" name="Google Shape;239;p12"/>
          <p:cNvCxnSpPr/>
          <p:nvPr/>
        </p:nvCxnSpPr>
        <p:spPr>
          <a:xfrm>
            <a:off x="1016000" y="1143000"/>
            <a:ext cx="14224000" cy="0"/>
          </a:xfrm>
          <a:prstGeom prst="straightConnector1">
            <a:avLst/>
          </a:prstGeom>
          <a:noFill/>
          <a:ln cap="flat" cmpd="sng" w="12700">
            <a:solidFill>
              <a:srgbClr val="CFD8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0" name="Google Shape;240;p12"/>
          <p:cNvSpPr/>
          <p:nvPr/>
        </p:nvSpPr>
        <p:spPr>
          <a:xfrm>
            <a:off x="1016000" y="1460500"/>
            <a:ext cx="4445000" cy="2921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2"/>
          <p:cNvSpPr/>
          <p:nvPr/>
        </p:nvSpPr>
        <p:spPr>
          <a:xfrm>
            <a:off x="1016000" y="1460500"/>
            <a:ext cx="4445000" cy="50800"/>
          </a:xfrm>
          <a:prstGeom prst="rect">
            <a:avLst/>
          </a:prstGeom>
          <a:solidFill>
            <a:srgbClr val="455A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2"/>
          <p:cNvSpPr/>
          <p:nvPr/>
        </p:nvSpPr>
        <p:spPr>
          <a:xfrm>
            <a:off x="1270000" y="1676400"/>
            <a:ext cx="76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2"/>
          <p:cNvSpPr/>
          <p:nvPr/>
        </p:nvSpPr>
        <p:spPr>
          <a:xfrm>
            <a:off x="1270000" y="2120900"/>
            <a:ext cx="3937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Lupa update-source lo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2"/>
          <p:cNvSpPr/>
          <p:nvPr/>
        </p:nvSpPr>
        <p:spPr>
          <a:xfrm>
            <a:off x="1270000" y="2514600"/>
            <a:ext cx="3937000" cy="165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Session connect dari interface fisik. Saat interface down, session iBGP putus.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Fix:</a:t>
            </a:r>
            <a:r>
              <a:rPr b="0" i="0" lang="en-US" sz="15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Selalu gunakan update-source lo untuk iBGP.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2"/>
          <p:cNvSpPr/>
          <p:nvPr/>
        </p:nvSpPr>
        <p:spPr>
          <a:xfrm>
            <a:off x="5905500" y="1460500"/>
            <a:ext cx="4445000" cy="2921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2"/>
          <p:cNvSpPr/>
          <p:nvPr/>
        </p:nvSpPr>
        <p:spPr>
          <a:xfrm>
            <a:off x="5905500" y="1460500"/>
            <a:ext cx="4445000" cy="50800"/>
          </a:xfrm>
          <a:prstGeom prst="rect">
            <a:avLst/>
          </a:prstGeom>
          <a:solidFill>
            <a:srgbClr val="455A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2"/>
          <p:cNvSpPr/>
          <p:nvPr/>
        </p:nvSpPr>
        <p:spPr>
          <a:xfrm>
            <a:off x="6159500" y="1676400"/>
            <a:ext cx="76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2"/>
          <p:cNvSpPr/>
          <p:nvPr/>
        </p:nvSpPr>
        <p:spPr>
          <a:xfrm>
            <a:off x="6159500" y="2120900"/>
            <a:ext cx="3937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Loopback tidak reachable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2"/>
          <p:cNvSpPr/>
          <p:nvPr/>
        </p:nvSpPr>
        <p:spPr>
          <a:xfrm>
            <a:off x="6159500" y="2514600"/>
            <a:ext cx="3937000" cy="165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Session stuck di Active meski konfigurasi sudah benar.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Fix:</a:t>
            </a:r>
            <a:r>
              <a:rPr b="0" i="0" lang="en-US" sz="15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Pastikan loopback border-2 reachable dari border-1 (cek routing).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2"/>
          <p:cNvSpPr/>
          <p:nvPr/>
        </p:nvSpPr>
        <p:spPr>
          <a:xfrm>
            <a:off x="10795000" y="1460500"/>
            <a:ext cx="4445000" cy="2921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2"/>
          <p:cNvSpPr/>
          <p:nvPr/>
        </p:nvSpPr>
        <p:spPr>
          <a:xfrm>
            <a:off x="10795000" y="1460500"/>
            <a:ext cx="4445000" cy="50800"/>
          </a:xfrm>
          <a:prstGeom prst="rect">
            <a:avLst/>
          </a:prstGeom>
          <a:solidFill>
            <a:srgbClr val="455A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2"/>
          <p:cNvSpPr/>
          <p:nvPr/>
        </p:nvSpPr>
        <p:spPr>
          <a:xfrm>
            <a:off x="11049000" y="1676400"/>
            <a:ext cx="76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2"/>
          <p:cNvSpPr/>
          <p:nvPr/>
        </p:nvSpPr>
        <p:spPr>
          <a:xfrm>
            <a:off x="11049000" y="2120900"/>
            <a:ext cx="3937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Lupa next-hop-self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2"/>
          <p:cNvSpPr/>
          <p:nvPr/>
        </p:nvSpPr>
        <p:spPr>
          <a:xfrm>
            <a:off x="11049000" y="2514600"/>
            <a:ext cx="3937000" cy="165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Route diterima border-2 tapi next-hop unreachable → tidak masuk routing table.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Fix:</a:t>
            </a:r>
            <a:r>
              <a:rPr b="0" i="0" lang="en-US" sz="15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Tambahkan next-hop-self di iBGP peer.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5" name="Google Shape;255;p12"/>
          <p:cNvCxnSpPr/>
          <p:nvPr/>
        </p:nvCxnSpPr>
        <p:spPr>
          <a:xfrm>
            <a:off x="1016000" y="4699000"/>
            <a:ext cx="14224000" cy="0"/>
          </a:xfrm>
          <a:prstGeom prst="straightConnector1">
            <a:avLst/>
          </a:prstGeom>
          <a:noFill/>
          <a:ln cap="flat" cmpd="sng" w="12700">
            <a:solidFill>
              <a:srgbClr val="CFD8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6" name="Google Shape;256;p12"/>
          <p:cNvSpPr/>
          <p:nvPr/>
        </p:nvSpPr>
        <p:spPr>
          <a:xfrm>
            <a:off x="1016000" y="4953000"/>
            <a:ext cx="3810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Wrap-up MOD-03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2"/>
          <p:cNvSpPr/>
          <p:nvPr/>
        </p:nvSpPr>
        <p:spPr>
          <a:xfrm>
            <a:off x="1016000" y="5397500"/>
            <a:ext cx="14224000" cy="317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iBGP checklist:</a:t>
            </a:r>
            <a:r>
              <a:rPr b="0" i="0" lang="en-US" sz="18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remote-as sama, pakai loopback, update-source lo, next-hop-self wajib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 router:</a:t>
            </a:r>
            <a:r>
              <a:rPr b="0" i="0" lang="en-US" sz="18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full-mesh = 1 session, tidak perlu Route Reflector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Selanjutnya:</a:t>
            </a:r>
            <a:r>
              <a:rPr b="0" i="0" lang="en-US" sz="18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LAB-02 — konfigurasi iBGP antara border-1 dan border-2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0A4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Coffee break: 10.45–11.00 (15 menit)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8" name="Google Shape;258;p12"/>
          <p:cNvCxnSpPr/>
          <p:nvPr/>
        </p:nvCxnSpPr>
        <p:spPr>
          <a:xfrm>
            <a:off x="0" y="9093200"/>
            <a:ext cx="16256000" cy="0"/>
          </a:xfrm>
          <a:prstGeom prst="straightConnector1">
            <a:avLst/>
          </a:prstGeom>
          <a:noFill/>
          <a:ln cap="flat" cmpd="sng" w="50800">
            <a:solidFill>
              <a:srgbClr val="455A6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9" name="Google Shape;259;p12"/>
          <p:cNvSpPr/>
          <p:nvPr/>
        </p:nvSpPr>
        <p:spPr>
          <a:xfrm>
            <a:off x="14605000" y="8636000"/>
            <a:ext cx="1016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0A4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 / 32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63238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5" name="Google Shape;265;p13"/>
          <p:cNvCxnSpPr/>
          <p:nvPr/>
        </p:nvCxnSpPr>
        <p:spPr>
          <a:xfrm>
            <a:off x="0" y="0"/>
            <a:ext cx="16256000" cy="0"/>
          </a:xfrm>
          <a:prstGeom prst="straightConnector1">
            <a:avLst/>
          </a:prstGeom>
          <a:noFill/>
          <a:ln cap="flat" cmpd="sng" w="50800">
            <a:solidFill>
              <a:srgbClr val="90A4A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6" name="Google Shape;266;p13"/>
          <p:cNvSpPr/>
          <p:nvPr/>
        </p:nvSpPr>
        <p:spPr>
          <a:xfrm>
            <a:off x="1016000" y="2540000"/>
            <a:ext cx="53340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b="0" i="0" lang="en-US" sz="6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SESI 4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7" name="Google Shape;267;p13"/>
          <p:cNvCxnSpPr/>
          <p:nvPr/>
        </p:nvCxnSpPr>
        <p:spPr>
          <a:xfrm>
            <a:off x="1016000" y="3937000"/>
            <a:ext cx="1016000" cy="0"/>
          </a:xfrm>
          <a:prstGeom prst="straightConnector1">
            <a:avLst/>
          </a:prstGeom>
          <a:noFill/>
          <a:ln cap="flat" cmpd="sng" w="25400">
            <a:solidFill>
              <a:srgbClr val="90A4A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8" name="Google Shape;268;p13"/>
          <p:cNvSpPr/>
          <p:nvPr/>
        </p:nvSpPr>
        <p:spPr>
          <a:xfrm>
            <a:off x="1016000" y="4191000"/>
            <a:ext cx="101600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LAB-02: iBGP — 2 Border Router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3"/>
          <p:cNvSpPr/>
          <p:nvPr/>
        </p:nvSpPr>
        <p:spPr>
          <a:xfrm>
            <a:off x="1016000" y="4953000"/>
            <a:ext cx="7620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90A4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11.30–12.15 | 45 menit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0" name="Google Shape;270;p13"/>
          <p:cNvCxnSpPr/>
          <p:nvPr/>
        </p:nvCxnSpPr>
        <p:spPr>
          <a:xfrm>
            <a:off x="0" y="9093200"/>
            <a:ext cx="16256000" cy="0"/>
          </a:xfrm>
          <a:prstGeom prst="straightConnector1">
            <a:avLst/>
          </a:prstGeom>
          <a:noFill/>
          <a:ln cap="flat" cmpd="sng" w="50800">
            <a:solidFill>
              <a:srgbClr val="90A4AE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8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6" name="Google Shape;276;p14"/>
          <p:cNvCxnSpPr/>
          <p:nvPr/>
        </p:nvCxnSpPr>
        <p:spPr>
          <a:xfrm>
            <a:off x="0" y="0"/>
            <a:ext cx="16256000" cy="0"/>
          </a:xfrm>
          <a:prstGeom prst="straightConnector1">
            <a:avLst/>
          </a:prstGeom>
          <a:noFill/>
          <a:ln cap="flat" cmpd="sng" w="50800">
            <a:solidFill>
              <a:srgbClr val="455A6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7" name="Google Shape;277;p14"/>
          <p:cNvSpPr/>
          <p:nvPr/>
        </p:nvSpPr>
        <p:spPr>
          <a:xfrm>
            <a:off x="1016000" y="2540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0A4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SESI 4 — LAB-02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4"/>
          <p:cNvSpPr/>
          <p:nvPr/>
        </p:nvSpPr>
        <p:spPr>
          <a:xfrm>
            <a:off x="1016000" y="635000"/>
            <a:ext cx="101600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LAB-02 — iBGP: 2 Border Router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9" name="Google Shape;279;p14"/>
          <p:cNvCxnSpPr/>
          <p:nvPr/>
        </p:nvCxnSpPr>
        <p:spPr>
          <a:xfrm>
            <a:off x="1016000" y="1143000"/>
            <a:ext cx="14224000" cy="0"/>
          </a:xfrm>
          <a:prstGeom prst="straightConnector1">
            <a:avLst/>
          </a:prstGeom>
          <a:noFill/>
          <a:ln cap="flat" cmpd="sng" w="12700">
            <a:solidFill>
              <a:srgbClr val="CFD8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0" name="Google Shape;280;p14"/>
          <p:cNvSpPr/>
          <p:nvPr/>
        </p:nvSpPr>
        <p:spPr>
          <a:xfrm>
            <a:off x="1016000" y="1397000"/>
            <a:ext cx="14224000" cy="2794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4"/>
          <p:cNvSpPr/>
          <p:nvPr/>
        </p:nvSpPr>
        <p:spPr>
          <a:xfrm>
            <a:off x="1270000" y="14986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0A4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Topologi LAB-02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4"/>
          <p:cNvSpPr/>
          <p:nvPr/>
        </p:nvSpPr>
        <p:spPr>
          <a:xfrm>
            <a:off x="1270000" y="1841500"/>
            <a:ext cx="13716000" cy="21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UMM (AS 65010)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[border-1] ──iBGP (loopback)── [border-2]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lo: 100.64.1.1/32 lo: 100.64.1.2/32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eth1: 100.64.0.2/30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│ eBGP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[exabgp-idren] AS 65000 | ~20 prefix akademik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3" name="Google Shape;283;p14"/>
          <p:cNvCxnSpPr/>
          <p:nvPr/>
        </p:nvCxnSpPr>
        <p:spPr>
          <a:xfrm>
            <a:off x="1016000" y="4191000"/>
            <a:ext cx="14224000" cy="0"/>
          </a:xfrm>
          <a:prstGeom prst="straightConnector1">
            <a:avLst/>
          </a:prstGeom>
          <a:noFill/>
          <a:ln cap="flat" cmpd="sng" w="12700">
            <a:solidFill>
              <a:srgbClr val="CFD8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4" name="Google Shape;284;p14"/>
          <p:cNvSpPr/>
          <p:nvPr/>
        </p:nvSpPr>
        <p:spPr>
          <a:xfrm>
            <a:off x="1016000" y="4381500"/>
            <a:ext cx="5080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Urutan Pengerjaan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4"/>
          <p:cNvSpPr/>
          <p:nvPr/>
        </p:nvSpPr>
        <p:spPr>
          <a:xfrm>
            <a:off x="1016000" y="4800600"/>
            <a:ext cx="6858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</a:t>
            </a:r>
            <a:r>
              <a:rPr b="0" i="0" lang="en-US" sz="16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Deploy: containerlab deploy -t lab02.clab.yml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</a:t>
            </a:r>
            <a:r>
              <a:rPr b="0" i="0" lang="en-US" sz="16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Konfigurasi eBGP border-1 ↔ IDREN PoP (sama seperti LAB-01)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</a:t>
            </a:r>
            <a:r>
              <a:rPr b="0" i="0" lang="en-US" sz="16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Konfigurasi iBGP border-1 ↔ border-2: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update-source lo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next-hop-self di border-1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</a:t>
            </a:r>
            <a:r>
              <a:rPr b="0" i="0" lang="en-US" sz="16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Verifikasi: prefix IDREN muncul di border-2 via iBGP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4"/>
          <p:cNvSpPr/>
          <p:nvPr/>
        </p:nvSpPr>
        <p:spPr>
          <a:xfrm>
            <a:off x="8382000" y="4381500"/>
            <a:ext cx="6858000" cy="38481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4"/>
          <p:cNvSpPr/>
          <p:nvPr/>
        </p:nvSpPr>
        <p:spPr>
          <a:xfrm>
            <a:off x="8382000" y="4381500"/>
            <a:ext cx="6858000" cy="50800"/>
          </a:xfrm>
          <a:prstGeom prst="rect">
            <a:avLst/>
          </a:prstGeom>
          <a:solidFill>
            <a:srgbClr val="455A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4"/>
          <p:cNvSpPr/>
          <p:nvPr/>
        </p:nvSpPr>
        <p:spPr>
          <a:xfrm>
            <a:off x="8636000" y="45720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Target Verifikasi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4"/>
          <p:cNvSpPr/>
          <p:nvPr/>
        </p:nvSpPr>
        <p:spPr>
          <a:xfrm>
            <a:off x="8636000" y="4978400"/>
            <a:ext cx="6350000" cy="311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Session border-1 ↔ exabgp-idren: </a:t>
            </a:r>
            <a:r>
              <a:rPr b="1" i="0" lang="en-US" sz="15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Established</a:t>
            </a:r>
            <a:r>
              <a:rPr b="0" i="0" lang="en-US" sz="15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(eBGP), PfxRcd ~22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Session border-1 ↔ border-2: </a:t>
            </a:r>
            <a:r>
              <a:rPr b="1" i="0" lang="en-US" sz="15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Established</a:t>
            </a:r>
            <a:r>
              <a:rPr b="0" i="0" lang="en-US" sz="15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(iBGP)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Di border-2: show bgp ipv4 unicast → prefix seperti 152.118.0.0/16 dengan tanda i dan next-hop 100.64.1.1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Di border-2: show ip route bgp → 152.118.0.0/16 dengan tanda B i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0" name="Google Shape;290;p14"/>
          <p:cNvCxnSpPr/>
          <p:nvPr/>
        </p:nvCxnSpPr>
        <p:spPr>
          <a:xfrm>
            <a:off x="0" y="9093200"/>
            <a:ext cx="16256000" cy="0"/>
          </a:xfrm>
          <a:prstGeom prst="straightConnector1">
            <a:avLst/>
          </a:prstGeom>
          <a:noFill/>
          <a:ln cap="flat" cmpd="sng" w="50800">
            <a:solidFill>
              <a:srgbClr val="455A6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1" name="Google Shape;291;p14"/>
          <p:cNvSpPr/>
          <p:nvPr/>
        </p:nvSpPr>
        <p:spPr>
          <a:xfrm>
            <a:off x="14605000" y="8636000"/>
            <a:ext cx="1016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0A4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 / 32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63238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7" name="Google Shape;297;p15"/>
          <p:cNvCxnSpPr/>
          <p:nvPr/>
        </p:nvCxnSpPr>
        <p:spPr>
          <a:xfrm>
            <a:off x="0" y="0"/>
            <a:ext cx="16256000" cy="0"/>
          </a:xfrm>
          <a:prstGeom prst="straightConnector1">
            <a:avLst/>
          </a:prstGeom>
          <a:noFill/>
          <a:ln cap="flat" cmpd="sng" w="50800">
            <a:solidFill>
              <a:srgbClr val="90A4A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8" name="Google Shape;298;p15"/>
          <p:cNvSpPr/>
          <p:nvPr/>
        </p:nvSpPr>
        <p:spPr>
          <a:xfrm>
            <a:off x="1016000" y="2540000"/>
            <a:ext cx="53340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b="0" i="0" lang="en-US" sz="6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SESI 5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9" name="Google Shape;299;p15"/>
          <p:cNvCxnSpPr/>
          <p:nvPr/>
        </p:nvCxnSpPr>
        <p:spPr>
          <a:xfrm>
            <a:off x="1016000" y="3937000"/>
            <a:ext cx="1016000" cy="0"/>
          </a:xfrm>
          <a:prstGeom prst="straightConnector1">
            <a:avLst/>
          </a:prstGeom>
          <a:noFill/>
          <a:ln cap="flat" cmpd="sng" w="25400">
            <a:solidFill>
              <a:srgbClr val="90A4A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0" name="Google Shape;300;p15"/>
          <p:cNvSpPr/>
          <p:nvPr/>
        </p:nvSpPr>
        <p:spPr>
          <a:xfrm>
            <a:off x="1016000" y="4191000"/>
            <a:ext cx="101600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BGP Policy: Prefix Filtering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5"/>
          <p:cNvSpPr/>
          <p:nvPr/>
        </p:nvSpPr>
        <p:spPr>
          <a:xfrm>
            <a:off x="1016000" y="4953000"/>
            <a:ext cx="7620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90A4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13.15–13.55 | MOD-04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2" name="Google Shape;302;p15"/>
          <p:cNvCxnSpPr/>
          <p:nvPr/>
        </p:nvCxnSpPr>
        <p:spPr>
          <a:xfrm>
            <a:off x="0" y="9093200"/>
            <a:ext cx="16256000" cy="0"/>
          </a:xfrm>
          <a:prstGeom prst="straightConnector1">
            <a:avLst/>
          </a:prstGeom>
          <a:noFill/>
          <a:ln cap="flat" cmpd="sng" w="50800">
            <a:solidFill>
              <a:srgbClr val="90A4AE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8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8" name="Google Shape;308;p16"/>
          <p:cNvCxnSpPr/>
          <p:nvPr/>
        </p:nvCxnSpPr>
        <p:spPr>
          <a:xfrm>
            <a:off x="0" y="0"/>
            <a:ext cx="16256000" cy="0"/>
          </a:xfrm>
          <a:prstGeom prst="straightConnector1">
            <a:avLst/>
          </a:prstGeom>
          <a:noFill/>
          <a:ln cap="flat" cmpd="sng" w="50800">
            <a:solidFill>
              <a:srgbClr val="455A6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9" name="Google Shape;309;p16"/>
          <p:cNvSpPr/>
          <p:nvPr/>
        </p:nvSpPr>
        <p:spPr>
          <a:xfrm>
            <a:off x="1016000" y="2540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0A4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MOD-04 — BGP POLICY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6"/>
          <p:cNvSpPr/>
          <p:nvPr/>
        </p:nvSpPr>
        <p:spPr>
          <a:xfrm>
            <a:off x="1016000" y="635000"/>
            <a:ext cx="101600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Bahaya Tanpa Policy — Routing Leak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1" name="Google Shape;311;p16"/>
          <p:cNvCxnSpPr/>
          <p:nvPr/>
        </p:nvCxnSpPr>
        <p:spPr>
          <a:xfrm>
            <a:off x="1016000" y="1143000"/>
            <a:ext cx="14224000" cy="0"/>
          </a:xfrm>
          <a:prstGeom prst="straightConnector1">
            <a:avLst/>
          </a:prstGeom>
          <a:noFill/>
          <a:ln cap="flat" cmpd="sng" w="12700">
            <a:solidFill>
              <a:srgbClr val="CFD8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2" name="Google Shape;312;p16"/>
          <p:cNvSpPr/>
          <p:nvPr/>
        </p:nvSpPr>
        <p:spPr>
          <a:xfrm>
            <a:off x="1016000" y="1397000"/>
            <a:ext cx="14224000" cy="2540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6"/>
          <p:cNvSpPr/>
          <p:nvPr/>
        </p:nvSpPr>
        <p:spPr>
          <a:xfrm>
            <a:off x="1270000" y="14986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0A4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Routing Leak Scenario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6"/>
          <p:cNvSpPr/>
          <p:nvPr/>
        </p:nvSpPr>
        <p:spPr>
          <a:xfrm>
            <a:off x="1270000" y="1841500"/>
            <a:ext cx="137160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IDREN ──eBGP── [Border Router UMM] ──eBGP── ISP komersial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↑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(tanpa outbound filter)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mengiklankan SEMUA route ke kedua sisi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5" name="Google Shape;315;p16"/>
          <p:cNvCxnSpPr/>
          <p:nvPr/>
        </p:nvCxnSpPr>
        <p:spPr>
          <a:xfrm>
            <a:off x="1016000" y="4254500"/>
            <a:ext cx="14224000" cy="0"/>
          </a:xfrm>
          <a:prstGeom prst="straightConnector1">
            <a:avLst/>
          </a:prstGeom>
          <a:noFill/>
          <a:ln cap="flat" cmpd="sng" w="12700">
            <a:solidFill>
              <a:srgbClr val="CFD8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6" name="Google Shape;316;p16"/>
          <p:cNvSpPr/>
          <p:nvPr/>
        </p:nvSpPr>
        <p:spPr>
          <a:xfrm>
            <a:off x="1016000" y="4508500"/>
            <a:ext cx="5080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Akibat Routing Leak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6"/>
          <p:cNvSpPr/>
          <p:nvPr/>
        </p:nvSpPr>
        <p:spPr>
          <a:xfrm>
            <a:off x="1016000" y="4953000"/>
            <a:ext cx="14224000" cy="20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</a:t>
            </a:r>
            <a:r>
              <a:rPr b="0" i="0" lang="en-US" sz="18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Tanpa outbound filter: UMM iklankan route IDREN ke ISP, dan sebaliknya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</a:t>
            </a:r>
            <a:r>
              <a:rPr b="0" i="0" lang="en-US" sz="18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Traffic internet pihak lain bisa </a:t>
            </a:r>
            <a:r>
              <a:rPr b="1" i="0" lang="en-US" sz="18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transit lewat jaringan UMM</a:t>
            </a:r>
            <a:r>
              <a:rPr b="0" i="0" lang="en-US" sz="18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→ bandwidth kampus terpakai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</a:t>
            </a:r>
            <a:r>
              <a:rPr b="0" i="0" lang="en-US" sz="18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Kasus lebih serius: UMM iklankan prefix kampus lain yang bukan miliknya → </a:t>
            </a:r>
            <a:r>
              <a:rPr b="1" i="0" lang="en-US" sz="18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blackhole atau routing hijack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6"/>
          <p:cNvSpPr/>
          <p:nvPr/>
        </p:nvSpPr>
        <p:spPr>
          <a:xfrm>
            <a:off x="1016000" y="7366000"/>
            <a:ext cx="14224000" cy="6985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6"/>
          <p:cNvSpPr/>
          <p:nvPr/>
        </p:nvSpPr>
        <p:spPr>
          <a:xfrm>
            <a:off x="1016000" y="7366000"/>
            <a:ext cx="14224000" cy="50800"/>
          </a:xfrm>
          <a:prstGeom prst="rect">
            <a:avLst/>
          </a:prstGeom>
          <a:solidFill>
            <a:srgbClr val="455A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6"/>
          <p:cNvSpPr/>
          <p:nvPr/>
        </p:nvSpPr>
        <p:spPr>
          <a:xfrm>
            <a:off x="1270000" y="7518400"/>
            <a:ext cx="137160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Rule dasar:</a:t>
            </a:r>
            <a:r>
              <a:rPr b="0" i="0" lang="en-US" sz="16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Outbound ke semua upstream — hanya iklankan prefix UMM sendiri (100.72.1.0/24 dan 100.72.2.0/24)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1" name="Google Shape;321;p16"/>
          <p:cNvCxnSpPr/>
          <p:nvPr/>
        </p:nvCxnSpPr>
        <p:spPr>
          <a:xfrm>
            <a:off x="0" y="9093200"/>
            <a:ext cx="16256000" cy="0"/>
          </a:xfrm>
          <a:prstGeom prst="straightConnector1">
            <a:avLst/>
          </a:prstGeom>
          <a:noFill/>
          <a:ln cap="flat" cmpd="sng" w="50800">
            <a:solidFill>
              <a:srgbClr val="455A6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2" name="Google Shape;322;p16"/>
          <p:cNvSpPr/>
          <p:nvPr/>
        </p:nvSpPr>
        <p:spPr>
          <a:xfrm>
            <a:off x="14605000" y="8636000"/>
            <a:ext cx="1016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0A4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 / 32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8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8" name="Google Shape;328;p17"/>
          <p:cNvCxnSpPr/>
          <p:nvPr/>
        </p:nvCxnSpPr>
        <p:spPr>
          <a:xfrm>
            <a:off x="0" y="0"/>
            <a:ext cx="16256000" cy="0"/>
          </a:xfrm>
          <a:prstGeom prst="straightConnector1">
            <a:avLst/>
          </a:prstGeom>
          <a:noFill/>
          <a:ln cap="flat" cmpd="sng" w="50800">
            <a:solidFill>
              <a:srgbClr val="455A6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9" name="Google Shape;329;p17"/>
          <p:cNvSpPr/>
          <p:nvPr/>
        </p:nvSpPr>
        <p:spPr>
          <a:xfrm>
            <a:off x="1016000" y="2540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0A4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MOD-04 — BGP POLICY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7"/>
          <p:cNvSpPr/>
          <p:nvPr/>
        </p:nvSpPr>
        <p:spPr>
          <a:xfrm>
            <a:off x="1016000" y="635000"/>
            <a:ext cx="101600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Tool Filtering — prefix-list &amp; route-map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1" name="Google Shape;331;p17"/>
          <p:cNvCxnSpPr/>
          <p:nvPr/>
        </p:nvCxnSpPr>
        <p:spPr>
          <a:xfrm>
            <a:off x="1016000" y="1143000"/>
            <a:ext cx="14224000" cy="0"/>
          </a:xfrm>
          <a:prstGeom prst="straightConnector1">
            <a:avLst/>
          </a:prstGeom>
          <a:noFill/>
          <a:ln cap="flat" cmpd="sng" w="12700">
            <a:solidFill>
              <a:srgbClr val="CFD8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2" name="Google Shape;332;p17"/>
          <p:cNvSpPr/>
          <p:nvPr/>
        </p:nvSpPr>
        <p:spPr>
          <a:xfrm>
            <a:off x="1016000" y="1397000"/>
            <a:ext cx="7112000" cy="5080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7"/>
          <p:cNvSpPr/>
          <p:nvPr/>
        </p:nvSpPr>
        <p:spPr>
          <a:xfrm>
            <a:off x="1270000" y="14986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0A4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prefix-list (filter only)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7"/>
          <p:cNvSpPr/>
          <p:nvPr/>
        </p:nvSpPr>
        <p:spPr>
          <a:xfrm>
            <a:off x="1270000" y="1841500"/>
            <a:ext cx="6604000" cy="444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ip prefix-list NAMA seq NOMOR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[permit|deny] PREFIX/LEN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[le LEN] [ge LEN]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! Prefix UMM sendiri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ip prefix-list OWN-PREFIX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seq 10 permit 100.72.1.0/24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seq 20 permit 100.72.2.0/24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seq 99 deny any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! Filter terlalu spesifik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ip prefix-list MAX-LEN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seq 10 deny 0.0.0.0/0 ge 25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seq 99 permit any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7"/>
          <p:cNvSpPr/>
          <p:nvPr/>
        </p:nvSpPr>
        <p:spPr>
          <a:xfrm>
            <a:off x="8382000" y="1397000"/>
            <a:ext cx="6858000" cy="5080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7"/>
          <p:cNvSpPr/>
          <p:nvPr/>
        </p:nvSpPr>
        <p:spPr>
          <a:xfrm>
            <a:off x="8636000" y="14986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0A4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route-map (filter + modify)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7"/>
          <p:cNvSpPr/>
          <p:nvPr/>
        </p:nvSpPr>
        <p:spPr>
          <a:xfrm>
            <a:off x="8636000" y="1841500"/>
            <a:ext cx="6350000" cy="444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route-map NAMA permit 10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match ip address prefix-list OWN-PREFIX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set local-preference 200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! Terapkan ke neighbor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router bgp 65010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address-family ipv4 unicast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neighbor 100.64.0.1 route-map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EXPORT-UPSTREAM out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neighbor 100.64.0.1 route-map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IMPORT-COMMON in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exit-address-family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! Perubahan tidak langsung aktif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clear ip bgp X soft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7"/>
          <p:cNvSpPr/>
          <p:nvPr/>
        </p:nvSpPr>
        <p:spPr>
          <a:xfrm>
            <a:off x="1016000" y="6667500"/>
            <a:ext cx="14224000" cy="18415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7"/>
          <p:cNvSpPr/>
          <p:nvPr/>
        </p:nvSpPr>
        <p:spPr>
          <a:xfrm>
            <a:off x="1016000" y="6667500"/>
            <a:ext cx="14224000" cy="50800"/>
          </a:xfrm>
          <a:prstGeom prst="rect">
            <a:avLst/>
          </a:prstGeom>
          <a:solidFill>
            <a:srgbClr val="455A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7"/>
          <p:cNvSpPr/>
          <p:nvPr/>
        </p:nvSpPr>
        <p:spPr>
          <a:xfrm>
            <a:off x="1270000" y="68580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Key Points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7"/>
          <p:cNvSpPr/>
          <p:nvPr/>
        </p:nvSpPr>
        <p:spPr>
          <a:xfrm>
            <a:off x="1270000" y="7239000"/>
            <a:ext cx="13716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le (less/equal): cocok jika mask length ≤ nilai | ge (greater/equal): cocok jika mask length ≥ nilai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Evaluasi dari seq terkecil, berhenti di match pertama | Implicit deny di akhir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permit: prefix lolos | deny: prefix dibuang | Route-map = prefix-list + modifikasi atribut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2" name="Google Shape;342;p17"/>
          <p:cNvCxnSpPr/>
          <p:nvPr/>
        </p:nvCxnSpPr>
        <p:spPr>
          <a:xfrm>
            <a:off x="0" y="9093200"/>
            <a:ext cx="16256000" cy="0"/>
          </a:xfrm>
          <a:prstGeom prst="straightConnector1">
            <a:avLst/>
          </a:prstGeom>
          <a:noFill/>
          <a:ln cap="flat" cmpd="sng" w="50800">
            <a:solidFill>
              <a:srgbClr val="455A6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3" name="Google Shape;343;p17"/>
          <p:cNvSpPr/>
          <p:nvPr/>
        </p:nvSpPr>
        <p:spPr>
          <a:xfrm>
            <a:off x="14605000" y="8636000"/>
            <a:ext cx="1016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0A4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 / 32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8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9" name="Google Shape;349;p18"/>
          <p:cNvCxnSpPr/>
          <p:nvPr/>
        </p:nvCxnSpPr>
        <p:spPr>
          <a:xfrm>
            <a:off x="0" y="0"/>
            <a:ext cx="16256000" cy="0"/>
          </a:xfrm>
          <a:prstGeom prst="straightConnector1">
            <a:avLst/>
          </a:prstGeom>
          <a:noFill/>
          <a:ln cap="flat" cmpd="sng" w="50800">
            <a:solidFill>
              <a:srgbClr val="455A6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0" name="Google Shape;350;p18"/>
          <p:cNvSpPr/>
          <p:nvPr/>
        </p:nvSpPr>
        <p:spPr>
          <a:xfrm>
            <a:off x="1016000" y="2540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0A4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MOD-04 — BGP POLICY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8"/>
          <p:cNvSpPr/>
          <p:nvPr/>
        </p:nvSpPr>
        <p:spPr>
          <a:xfrm>
            <a:off x="1016000" y="635000"/>
            <a:ext cx="101600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Outbound &amp; Inbound Policy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2" name="Google Shape;352;p18"/>
          <p:cNvCxnSpPr/>
          <p:nvPr/>
        </p:nvCxnSpPr>
        <p:spPr>
          <a:xfrm>
            <a:off x="1016000" y="1143000"/>
            <a:ext cx="14224000" cy="0"/>
          </a:xfrm>
          <a:prstGeom prst="straightConnector1">
            <a:avLst/>
          </a:prstGeom>
          <a:noFill/>
          <a:ln cap="flat" cmpd="sng" w="12700">
            <a:solidFill>
              <a:srgbClr val="CFD8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3" name="Google Shape;353;p18"/>
          <p:cNvSpPr/>
          <p:nvPr/>
        </p:nvSpPr>
        <p:spPr>
          <a:xfrm>
            <a:off x="1016000" y="1397000"/>
            <a:ext cx="14224000" cy="2921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8"/>
          <p:cNvSpPr/>
          <p:nvPr/>
        </p:nvSpPr>
        <p:spPr>
          <a:xfrm>
            <a:off x="1016000" y="1397000"/>
            <a:ext cx="14224000" cy="50800"/>
          </a:xfrm>
          <a:prstGeom prst="rect">
            <a:avLst/>
          </a:prstGeom>
          <a:solidFill>
            <a:srgbClr val="455A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8"/>
          <p:cNvSpPr/>
          <p:nvPr/>
        </p:nvSpPr>
        <p:spPr>
          <a:xfrm>
            <a:off x="1270000" y="1549400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Outbound: Hanya Iklankan Prefix Sendiri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8"/>
          <p:cNvSpPr/>
          <p:nvPr/>
        </p:nvSpPr>
        <p:spPr>
          <a:xfrm>
            <a:off x="1270000" y="1930400"/>
            <a:ext cx="13716000" cy="222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ip prefix-list OWN-PREFIX seq 10 permit 100.72.1.0/24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ip prefix-list OWN-PREFIX seq 20 permit 100.72.2.0/24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ip prefix-list OWN-PREFIX seq 99 deny any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route-map EXPORT-UPSTREAM permit 10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match ip address prefix-list OWN-PREFIX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! Terapkan ke SEMUA upstream neighbor dengan route-map ... out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! Verifikasi: show bgp ipv4 unicast neighbors X advertised-routes → hanya 100.72.x.x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8"/>
          <p:cNvSpPr/>
          <p:nvPr/>
        </p:nvSpPr>
        <p:spPr>
          <a:xfrm>
            <a:off x="1016000" y="4572000"/>
            <a:ext cx="14224000" cy="3556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8"/>
          <p:cNvSpPr/>
          <p:nvPr/>
        </p:nvSpPr>
        <p:spPr>
          <a:xfrm>
            <a:off x="1016000" y="4572000"/>
            <a:ext cx="14224000" cy="50800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8"/>
          <p:cNvSpPr/>
          <p:nvPr/>
        </p:nvSpPr>
        <p:spPr>
          <a:xfrm>
            <a:off x="1270000" y="4724400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Inbound: Filter Bogon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60" name="Google Shape;360;p18"/>
          <p:cNvGraphicFramePr/>
          <p:nvPr/>
        </p:nvGraphicFramePr>
        <p:xfrm>
          <a:off x="1270000" y="5143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{4F551868-BB50-41E4-9F51-36898D543EC5}</a:tableStyleId>
              </a:tblPr>
              <a:tblGrid>
                <a:gridCol w="3492500"/>
                <a:gridCol w="2857500"/>
              </a:tblGrid>
              <a:tr h="317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Prefix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55A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Kategori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55A64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10.0.0.0/8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RFC 1918 private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172.16.0.0/12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RFC 1918 private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FF1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192.168.0.0/16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RFC 1918 private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127.0.0.0/8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Loopback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FF1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169.254.0.0/16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Link-local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61" name="Google Shape;361;p18"/>
          <p:cNvSpPr/>
          <p:nvPr/>
        </p:nvSpPr>
        <p:spPr>
          <a:xfrm>
            <a:off x="7874000" y="5143500"/>
            <a:ext cx="71120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ip prefix-list BOGON seq 10 deny 10.0.0.0/8 le 32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ip prefix-list BOGON seq 20 deny 172.16.0.0/12 le 32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ip prefix-list BOGON seq 30 deny 192.168.0.0/16 le 32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ip prefix-list BOGON seq 40 deny 127.0.0.0/8 le 32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ip prefix-list BOGON seq 50 deny 169.254.0.0/16 le 32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ip prefix-list BOGON seq 99 permit any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8"/>
          <p:cNvSpPr/>
          <p:nvPr/>
        </p:nvSpPr>
        <p:spPr>
          <a:xfrm>
            <a:off x="1270000" y="7239000"/>
            <a:ext cx="13716000" cy="6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0A4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Catatan lab:</a:t>
            </a:r>
            <a:r>
              <a:rPr b="0" i="0" lang="en-US" sz="1400" u="none" cap="none" strike="noStrike">
                <a:solidFill>
                  <a:srgbClr val="90A4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100.64.0.0/10 (Shared address space) wajib difilter di produksi. Di LAB-03 tidak diimplementasikan karena peer link lab menggunakan subnet 100.64.x.x — memasukkan ke BOGON akan memutus session BGP.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3" name="Google Shape;363;p18"/>
          <p:cNvCxnSpPr/>
          <p:nvPr/>
        </p:nvCxnSpPr>
        <p:spPr>
          <a:xfrm>
            <a:off x="0" y="9093200"/>
            <a:ext cx="16256000" cy="0"/>
          </a:xfrm>
          <a:prstGeom prst="straightConnector1">
            <a:avLst/>
          </a:prstGeom>
          <a:noFill/>
          <a:ln cap="flat" cmpd="sng" w="50800">
            <a:solidFill>
              <a:srgbClr val="455A6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4" name="Google Shape;364;p18"/>
          <p:cNvSpPr/>
          <p:nvPr/>
        </p:nvSpPr>
        <p:spPr>
          <a:xfrm>
            <a:off x="14605000" y="8636000"/>
            <a:ext cx="1016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0A4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16 / 32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8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0" name="Google Shape;370;p19"/>
          <p:cNvCxnSpPr/>
          <p:nvPr/>
        </p:nvCxnSpPr>
        <p:spPr>
          <a:xfrm>
            <a:off x="0" y="0"/>
            <a:ext cx="16256000" cy="0"/>
          </a:xfrm>
          <a:prstGeom prst="straightConnector1">
            <a:avLst/>
          </a:prstGeom>
          <a:noFill/>
          <a:ln cap="flat" cmpd="sng" w="50800">
            <a:solidFill>
              <a:srgbClr val="455A6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1" name="Google Shape;371;p19"/>
          <p:cNvSpPr/>
          <p:nvPr/>
        </p:nvSpPr>
        <p:spPr>
          <a:xfrm>
            <a:off x="1016000" y="2540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0A4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MOD-04 — BGP POLICY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19"/>
          <p:cNvSpPr/>
          <p:nvPr/>
        </p:nvSpPr>
        <p:spPr>
          <a:xfrm>
            <a:off x="1016000" y="635000"/>
            <a:ext cx="101600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Soft Reset &amp; Verifikasi Policy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3" name="Google Shape;373;p19"/>
          <p:cNvCxnSpPr/>
          <p:nvPr/>
        </p:nvCxnSpPr>
        <p:spPr>
          <a:xfrm>
            <a:off x="1016000" y="1143000"/>
            <a:ext cx="14224000" cy="0"/>
          </a:xfrm>
          <a:prstGeom prst="straightConnector1">
            <a:avLst/>
          </a:prstGeom>
          <a:noFill/>
          <a:ln cap="flat" cmpd="sng" w="12700">
            <a:solidFill>
              <a:srgbClr val="CFD8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4" name="Google Shape;374;p19"/>
          <p:cNvSpPr/>
          <p:nvPr/>
        </p:nvSpPr>
        <p:spPr>
          <a:xfrm>
            <a:off x="1016000" y="1397000"/>
            <a:ext cx="14224000" cy="2413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9"/>
          <p:cNvSpPr/>
          <p:nvPr/>
        </p:nvSpPr>
        <p:spPr>
          <a:xfrm>
            <a:off x="1270000" y="1498600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Tiga Varian clear ip bgp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9"/>
          <p:cNvSpPr/>
          <p:nvPr/>
        </p:nvSpPr>
        <p:spPr>
          <a:xfrm>
            <a:off x="1270000" y="1879600"/>
            <a:ext cx="13716000" cy="18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clear ip bgp 100.64.0.1 soft ← reset inbound + outbound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clear ip bgp 100.64.0.1 soft in ← reapply inbound policy saja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clear ip bgp 100.64.0.1 soft out ← reapply outbound policy saja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Warning:</a:t>
            </a:r>
            <a:r>
              <a:rPr b="0" i="0" lang="en-US" sz="15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clear ip bgp X (tanpa soft) → putus session, ganggu traffic!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9"/>
          <p:cNvSpPr/>
          <p:nvPr/>
        </p:nvSpPr>
        <p:spPr>
          <a:xfrm>
            <a:off x="1016000" y="4000500"/>
            <a:ext cx="14224000" cy="3048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9"/>
          <p:cNvSpPr/>
          <p:nvPr/>
        </p:nvSpPr>
        <p:spPr>
          <a:xfrm>
            <a:off x="1016000" y="4000500"/>
            <a:ext cx="14224000" cy="50800"/>
          </a:xfrm>
          <a:prstGeom prst="rect">
            <a:avLst/>
          </a:prstGeom>
          <a:solidFill>
            <a:srgbClr val="455A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9"/>
          <p:cNvSpPr/>
          <p:nvPr/>
        </p:nvSpPr>
        <p:spPr>
          <a:xfrm>
            <a:off x="1270000" y="4152900"/>
            <a:ext cx="635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soft-reconfiguration inbound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9"/>
          <p:cNvSpPr/>
          <p:nvPr/>
        </p:nvSpPr>
        <p:spPr>
          <a:xfrm>
            <a:off x="1270000" y="4546600"/>
            <a:ext cx="13716000" cy="234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Wajib aktif untuk melihat received-routes: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address-family ipv4 unicast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neighbor 100.64.0.1 soft-reconfiguration inbound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Setelah ubah policy, selalu clear soft: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show bgp ipv4 unicast neighbors X received-routes ← semua yang diterima (sebelum policy)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show bgp ipv4 unicast neighbors X routes ← yang lolos policy inbound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show bgp ipv4 unicast neighbors X advertised-routes ← yang dikirim ke peer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9"/>
          <p:cNvSpPr/>
          <p:nvPr/>
        </p:nvSpPr>
        <p:spPr>
          <a:xfrm>
            <a:off x="1016000" y="7239000"/>
            <a:ext cx="14224000" cy="12065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9"/>
          <p:cNvSpPr/>
          <p:nvPr/>
        </p:nvSpPr>
        <p:spPr>
          <a:xfrm>
            <a:off x="1016000" y="7239000"/>
            <a:ext cx="14224000" cy="50800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9"/>
          <p:cNvSpPr/>
          <p:nvPr/>
        </p:nvSpPr>
        <p:spPr>
          <a:xfrm>
            <a:off x="1270000" y="7391400"/>
            <a:ext cx="13716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soft out:</a:t>
            </a:r>
            <a:r>
              <a:rPr b="0" i="0" lang="en-US" sz="14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kirim ulang Adj-RIB-Out ke peer dengan policy yang sudah diupdate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soft in:</a:t>
            </a:r>
            <a:r>
              <a:rPr b="0" i="0" lang="en-US" sz="14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butuh soft-reconfiguration inbound aktif di konfigurasi neighbor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Rule:</a:t>
            </a:r>
            <a:r>
              <a:rPr b="0" i="0" lang="en-US" sz="14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Setelah ubah route-map atau prefix-list → selalu clear ip bgp X soft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4" name="Google Shape;384;p19"/>
          <p:cNvCxnSpPr/>
          <p:nvPr/>
        </p:nvCxnSpPr>
        <p:spPr>
          <a:xfrm>
            <a:off x="0" y="9093200"/>
            <a:ext cx="16256000" cy="0"/>
          </a:xfrm>
          <a:prstGeom prst="straightConnector1">
            <a:avLst/>
          </a:prstGeom>
          <a:noFill/>
          <a:ln cap="flat" cmpd="sng" w="50800">
            <a:solidFill>
              <a:srgbClr val="455A6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5" name="Google Shape;385;p19"/>
          <p:cNvSpPr/>
          <p:nvPr/>
        </p:nvSpPr>
        <p:spPr>
          <a:xfrm>
            <a:off x="14605000" y="8636000"/>
            <a:ext cx="1016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0A4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17 / 32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8"/>
        </a:solid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1" name="Google Shape;391;p20"/>
          <p:cNvCxnSpPr/>
          <p:nvPr/>
        </p:nvCxnSpPr>
        <p:spPr>
          <a:xfrm>
            <a:off x="0" y="0"/>
            <a:ext cx="16256000" cy="0"/>
          </a:xfrm>
          <a:prstGeom prst="straightConnector1">
            <a:avLst/>
          </a:prstGeom>
          <a:noFill/>
          <a:ln cap="flat" cmpd="sng" w="50800">
            <a:solidFill>
              <a:srgbClr val="455A6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2" name="Google Shape;392;p20"/>
          <p:cNvSpPr/>
          <p:nvPr/>
        </p:nvSpPr>
        <p:spPr>
          <a:xfrm>
            <a:off x="1016000" y="2540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0A4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MOD-04 — BGP POLICY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20"/>
          <p:cNvSpPr/>
          <p:nvPr/>
        </p:nvSpPr>
        <p:spPr>
          <a:xfrm>
            <a:off x="1016000" y="635000"/>
            <a:ext cx="101600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Common Mistakes MOD-04 + Wrap-up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4" name="Google Shape;394;p20"/>
          <p:cNvCxnSpPr/>
          <p:nvPr/>
        </p:nvCxnSpPr>
        <p:spPr>
          <a:xfrm>
            <a:off x="1016000" y="1143000"/>
            <a:ext cx="14224000" cy="0"/>
          </a:xfrm>
          <a:prstGeom prst="straightConnector1">
            <a:avLst/>
          </a:prstGeom>
          <a:noFill/>
          <a:ln cap="flat" cmpd="sng" w="12700">
            <a:solidFill>
              <a:srgbClr val="CFD8DC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395" name="Google Shape;395;p20"/>
          <p:cNvGraphicFramePr/>
          <p:nvPr/>
        </p:nvGraphicFramePr>
        <p:xfrm>
          <a:off x="1016000" y="1397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{4F551868-BB50-41E4-9F51-36898D543EC5}</a:tableStyleId>
              </a:tblPr>
              <a:tblGrid>
                <a:gridCol w="1137925"/>
                <a:gridCol w="4267200"/>
                <a:gridCol w="8818875"/>
              </a:tblGrid>
              <a:tr h="594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#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55A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Kesalahan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55A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Penjelasan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55A64"/>
                    </a:solidFill>
                  </a:tcPr>
                </a:tc>
              </a:tr>
              <a:tr h="594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Route-map implicit deny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Tidak ada permit any di akhir → semua prefix yang tidak match dibuang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94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Lupa soft-reconfig inbound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received-routes kosong, tidak bisa debug policy inbound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FF1"/>
                    </a:solidFill>
                  </a:tcPr>
                </a:tc>
              </a:tr>
              <a:tr h="594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3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Lupa clear soft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Policy tidak langsung aktif setelah ubah prefix-list/route-map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94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4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Prefix-list urutan salah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seq 10 permit any → semua lolos, deny di bawah tidak pernah dievaluasi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FF1"/>
                    </a:solidFill>
                  </a:tcPr>
                </a:tc>
              </a:tr>
              <a:tr h="582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5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Outbound filter tidak lengkap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Hanya pasang ke satu upstream → lupa ke ISP/IIX → masih jadi transit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396" name="Google Shape;396;p20"/>
          <p:cNvCxnSpPr/>
          <p:nvPr/>
        </p:nvCxnSpPr>
        <p:spPr>
          <a:xfrm>
            <a:off x="1016000" y="5270500"/>
            <a:ext cx="14224000" cy="0"/>
          </a:xfrm>
          <a:prstGeom prst="straightConnector1">
            <a:avLst/>
          </a:prstGeom>
          <a:noFill/>
          <a:ln cap="flat" cmpd="sng" w="12700">
            <a:solidFill>
              <a:srgbClr val="CFD8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7" name="Google Shape;397;p20"/>
          <p:cNvSpPr/>
          <p:nvPr/>
        </p:nvSpPr>
        <p:spPr>
          <a:xfrm>
            <a:off x="1016000" y="5524500"/>
            <a:ext cx="3810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Wrap-up MOD-04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20"/>
          <p:cNvSpPr/>
          <p:nvPr/>
        </p:nvSpPr>
        <p:spPr>
          <a:xfrm>
            <a:off x="1016000" y="5969000"/>
            <a:ext cx="1422400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Dua alat:</a:t>
            </a:r>
            <a:r>
              <a:rPr b="0" i="0" lang="en-US" sz="18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prefix-list (filter) + route-map (filter + modifikasi)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Outbound:</a:t>
            </a:r>
            <a:r>
              <a:rPr b="0" i="0" lang="en-US" sz="18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hanya iklankan 100.72.1.0/24 dan 100.72.2.0/24 ke semua upstream — tidak lebih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Inbound:</a:t>
            </a:r>
            <a:r>
              <a:rPr b="0" i="0" lang="en-US" sz="18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buang bogon dan prefix terlalu spesifik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Setelah ubah policy:</a:t>
            </a:r>
            <a:r>
              <a:rPr b="0" i="0" lang="en-US" sz="18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selalu clear ip bgp X soft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0A4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Coffee break: 14.55–15.10 (15 menit)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9" name="Google Shape;399;p20"/>
          <p:cNvCxnSpPr/>
          <p:nvPr/>
        </p:nvCxnSpPr>
        <p:spPr>
          <a:xfrm>
            <a:off x="0" y="9093200"/>
            <a:ext cx="16256000" cy="0"/>
          </a:xfrm>
          <a:prstGeom prst="straightConnector1">
            <a:avLst/>
          </a:prstGeom>
          <a:noFill/>
          <a:ln cap="flat" cmpd="sng" w="50800">
            <a:solidFill>
              <a:srgbClr val="455A6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0" name="Google Shape;400;p20"/>
          <p:cNvSpPr/>
          <p:nvPr/>
        </p:nvSpPr>
        <p:spPr>
          <a:xfrm>
            <a:off x="14605000" y="8636000"/>
            <a:ext cx="1016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0A4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18 / 32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63238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6" name="Google Shape;406;p21"/>
          <p:cNvCxnSpPr/>
          <p:nvPr/>
        </p:nvCxnSpPr>
        <p:spPr>
          <a:xfrm>
            <a:off x="0" y="0"/>
            <a:ext cx="16256000" cy="0"/>
          </a:xfrm>
          <a:prstGeom prst="straightConnector1">
            <a:avLst/>
          </a:prstGeom>
          <a:noFill/>
          <a:ln cap="flat" cmpd="sng" w="50800">
            <a:solidFill>
              <a:srgbClr val="90A4A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7" name="Google Shape;407;p21"/>
          <p:cNvSpPr/>
          <p:nvPr/>
        </p:nvSpPr>
        <p:spPr>
          <a:xfrm>
            <a:off x="1016000" y="2540000"/>
            <a:ext cx="53340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b="0" i="0" lang="en-US" sz="6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SESI 6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8" name="Google Shape;408;p21"/>
          <p:cNvCxnSpPr/>
          <p:nvPr/>
        </p:nvCxnSpPr>
        <p:spPr>
          <a:xfrm>
            <a:off x="1016000" y="3937000"/>
            <a:ext cx="1016000" cy="0"/>
          </a:xfrm>
          <a:prstGeom prst="straightConnector1">
            <a:avLst/>
          </a:prstGeom>
          <a:noFill/>
          <a:ln cap="flat" cmpd="sng" w="25400">
            <a:solidFill>
              <a:srgbClr val="90A4A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9" name="Google Shape;409;p21"/>
          <p:cNvSpPr/>
          <p:nvPr/>
        </p:nvSpPr>
        <p:spPr>
          <a:xfrm>
            <a:off x="1016000" y="4191000"/>
            <a:ext cx="101600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LAB-03: Prefix Filtering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21"/>
          <p:cNvSpPr/>
          <p:nvPr/>
        </p:nvSpPr>
        <p:spPr>
          <a:xfrm>
            <a:off x="1016000" y="4953000"/>
            <a:ext cx="7620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90A4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13.55–14.55 | 60 menit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1" name="Google Shape;411;p21"/>
          <p:cNvCxnSpPr/>
          <p:nvPr/>
        </p:nvCxnSpPr>
        <p:spPr>
          <a:xfrm>
            <a:off x="0" y="9093200"/>
            <a:ext cx="16256000" cy="0"/>
          </a:xfrm>
          <a:prstGeom prst="straightConnector1">
            <a:avLst/>
          </a:prstGeom>
          <a:noFill/>
          <a:ln cap="flat" cmpd="sng" w="50800">
            <a:solidFill>
              <a:srgbClr val="90A4AE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8"/>
        </a:solidFill>
      </p:bgPr>
    </p:bg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7" name="Google Shape;417;p22"/>
          <p:cNvCxnSpPr/>
          <p:nvPr/>
        </p:nvCxnSpPr>
        <p:spPr>
          <a:xfrm>
            <a:off x="0" y="0"/>
            <a:ext cx="16256000" cy="0"/>
          </a:xfrm>
          <a:prstGeom prst="straightConnector1">
            <a:avLst/>
          </a:prstGeom>
          <a:noFill/>
          <a:ln cap="flat" cmpd="sng" w="50800">
            <a:solidFill>
              <a:srgbClr val="455A6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8" name="Google Shape;418;p22"/>
          <p:cNvSpPr/>
          <p:nvPr/>
        </p:nvSpPr>
        <p:spPr>
          <a:xfrm>
            <a:off x="1016000" y="2540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0A4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SESI 6 — LAB-03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22"/>
          <p:cNvSpPr/>
          <p:nvPr/>
        </p:nvSpPr>
        <p:spPr>
          <a:xfrm>
            <a:off x="1016000" y="635000"/>
            <a:ext cx="101600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LAB-03 — Prefix Filtering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0" name="Google Shape;420;p22"/>
          <p:cNvCxnSpPr/>
          <p:nvPr/>
        </p:nvCxnSpPr>
        <p:spPr>
          <a:xfrm>
            <a:off x="1016000" y="1143000"/>
            <a:ext cx="14224000" cy="0"/>
          </a:xfrm>
          <a:prstGeom prst="straightConnector1">
            <a:avLst/>
          </a:prstGeom>
          <a:noFill/>
          <a:ln cap="flat" cmpd="sng" w="12700">
            <a:solidFill>
              <a:srgbClr val="CFD8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1" name="Google Shape;421;p22"/>
          <p:cNvSpPr/>
          <p:nvPr/>
        </p:nvSpPr>
        <p:spPr>
          <a:xfrm>
            <a:off x="1016000" y="1397000"/>
            <a:ext cx="14224000" cy="2032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22"/>
          <p:cNvSpPr/>
          <p:nvPr/>
        </p:nvSpPr>
        <p:spPr>
          <a:xfrm>
            <a:off x="1270000" y="14986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0A4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Topologi Full (4 Upstream)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22"/>
          <p:cNvSpPr/>
          <p:nvPr/>
        </p:nvSpPr>
        <p:spPr>
          <a:xfrm>
            <a:off x="1270000" y="1816100"/>
            <a:ext cx="13716000" cy="1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UMM (AS 65010) [border-1] ←──iBGP──→ [border-2]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eth1→IDREN(AS65000) eth1→ISP-2(AS65101)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eth2→ISP-1(AS65100) eth2→IIX(AS65200)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Prefix: ~20 akademik + ~86 komersial + 1 bogon (192.168.100.0/24)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22"/>
          <p:cNvSpPr/>
          <p:nvPr/>
        </p:nvSpPr>
        <p:spPr>
          <a:xfrm>
            <a:off x="1016000" y="3683000"/>
            <a:ext cx="5080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Urutan Pengerjaan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22"/>
          <p:cNvSpPr/>
          <p:nvPr/>
        </p:nvSpPr>
        <p:spPr>
          <a:xfrm>
            <a:off x="1016000" y="4089400"/>
            <a:ext cx="6858000" cy="43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</a:t>
            </a:r>
            <a:r>
              <a:rPr b="0" i="0" lang="en-US" sz="16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Deploy: containerlab deploy -t lab03.clab.yml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</a:t>
            </a:r>
            <a:r>
              <a:rPr b="0" i="0" lang="en-US" sz="16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Konfigurasi eBGP + iBGP di KEDUA border (+ soft-reconfig inbound)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</a:t>
            </a:r>
            <a:r>
              <a:rPr b="0" i="0" lang="en-US" sz="16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Amati kondisi sebelum policy — 192.168.100.0/24 masuk ke BGP table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</a:t>
            </a:r>
            <a:r>
              <a:rPr b="0" i="0" lang="en-US" sz="16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Pasang outbound filter: hanya prefix UMM ke semua upstream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5.</a:t>
            </a:r>
            <a:r>
              <a:rPr b="0" i="0" lang="en-US" sz="16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Pasang inbound filter: buang bogon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6.</a:t>
            </a:r>
            <a:r>
              <a:rPr b="0" i="0" lang="en-US" sz="16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Verifikasi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22"/>
          <p:cNvSpPr/>
          <p:nvPr/>
        </p:nvSpPr>
        <p:spPr>
          <a:xfrm>
            <a:off x="8382000" y="3683000"/>
            <a:ext cx="6858000" cy="4318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22"/>
          <p:cNvSpPr/>
          <p:nvPr/>
        </p:nvSpPr>
        <p:spPr>
          <a:xfrm>
            <a:off x="8382000" y="3683000"/>
            <a:ext cx="6858000" cy="50800"/>
          </a:xfrm>
          <a:prstGeom prst="rect">
            <a:avLst/>
          </a:prstGeom>
          <a:solidFill>
            <a:srgbClr val="455A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22"/>
          <p:cNvSpPr/>
          <p:nvPr/>
        </p:nvSpPr>
        <p:spPr>
          <a:xfrm>
            <a:off x="8636000" y="38735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Target Verifikasi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22"/>
          <p:cNvSpPr/>
          <p:nvPr/>
        </p:nvSpPr>
        <p:spPr>
          <a:xfrm>
            <a:off x="8636000" y="4292600"/>
            <a:ext cx="6350000" cy="35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Outbound border-1: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show bgp ipv4 unicast neighbors 100.64.0.1 advertised-routes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 Hanya 100.72.1.0/24 dan 100.72.2.0/24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Inbound bogon terfilter: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show bgp ipv4 unicast neighbors 100.64.0.5 received-routes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 192.168.100.0/24 ada di received-routes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show bgp ipv4 unicast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 192.168.100.0/24 TIDAK ada (dibuang)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0" name="Google Shape;430;p22"/>
          <p:cNvCxnSpPr/>
          <p:nvPr/>
        </p:nvCxnSpPr>
        <p:spPr>
          <a:xfrm>
            <a:off x="0" y="9093200"/>
            <a:ext cx="16256000" cy="0"/>
          </a:xfrm>
          <a:prstGeom prst="straightConnector1">
            <a:avLst/>
          </a:prstGeom>
          <a:noFill/>
          <a:ln cap="flat" cmpd="sng" w="50800">
            <a:solidFill>
              <a:srgbClr val="455A6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1" name="Google Shape;431;p22"/>
          <p:cNvSpPr/>
          <p:nvPr/>
        </p:nvSpPr>
        <p:spPr>
          <a:xfrm>
            <a:off x="14605000" y="8636000"/>
            <a:ext cx="1016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0A4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19 / 32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63238"/>
        </a:solidFill>
      </p:bgPr>
    </p:bg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7" name="Google Shape;437;p23"/>
          <p:cNvCxnSpPr/>
          <p:nvPr/>
        </p:nvCxnSpPr>
        <p:spPr>
          <a:xfrm>
            <a:off x="0" y="0"/>
            <a:ext cx="16256000" cy="0"/>
          </a:xfrm>
          <a:prstGeom prst="straightConnector1">
            <a:avLst/>
          </a:prstGeom>
          <a:noFill/>
          <a:ln cap="flat" cmpd="sng" w="50800">
            <a:solidFill>
              <a:srgbClr val="90A4A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8" name="Google Shape;438;p23"/>
          <p:cNvSpPr/>
          <p:nvPr/>
        </p:nvSpPr>
        <p:spPr>
          <a:xfrm>
            <a:off x="1016000" y="2540000"/>
            <a:ext cx="53340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b="0" i="0" lang="en-US" sz="6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SESI 7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9" name="Google Shape;439;p23"/>
          <p:cNvCxnSpPr/>
          <p:nvPr/>
        </p:nvCxnSpPr>
        <p:spPr>
          <a:xfrm>
            <a:off x="1016000" y="3937000"/>
            <a:ext cx="1016000" cy="0"/>
          </a:xfrm>
          <a:prstGeom prst="straightConnector1">
            <a:avLst/>
          </a:prstGeom>
          <a:noFill/>
          <a:ln cap="flat" cmpd="sng" w="25400">
            <a:solidFill>
              <a:srgbClr val="90A4A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0" name="Google Shape;440;p23"/>
          <p:cNvSpPr/>
          <p:nvPr/>
        </p:nvSpPr>
        <p:spPr>
          <a:xfrm>
            <a:off x="1016000" y="4191000"/>
            <a:ext cx="114300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Multi-homing: Traffic Engineering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23"/>
          <p:cNvSpPr/>
          <p:nvPr/>
        </p:nvSpPr>
        <p:spPr>
          <a:xfrm>
            <a:off x="1016000" y="4953000"/>
            <a:ext cx="7620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90A4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15.10–15.50 | MOD-05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2" name="Google Shape;442;p23"/>
          <p:cNvCxnSpPr/>
          <p:nvPr/>
        </p:nvCxnSpPr>
        <p:spPr>
          <a:xfrm>
            <a:off x="0" y="9093200"/>
            <a:ext cx="16256000" cy="0"/>
          </a:xfrm>
          <a:prstGeom prst="straightConnector1">
            <a:avLst/>
          </a:prstGeom>
          <a:noFill/>
          <a:ln cap="flat" cmpd="sng" w="50800">
            <a:solidFill>
              <a:srgbClr val="90A4AE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8"/>
        </a:solidFill>
      </p:bgPr>
    </p:bg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8" name="Google Shape;448;p24"/>
          <p:cNvCxnSpPr/>
          <p:nvPr/>
        </p:nvCxnSpPr>
        <p:spPr>
          <a:xfrm>
            <a:off x="0" y="0"/>
            <a:ext cx="16256000" cy="0"/>
          </a:xfrm>
          <a:prstGeom prst="straightConnector1">
            <a:avLst/>
          </a:prstGeom>
          <a:noFill/>
          <a:ln cap="flat" cmpd="sng" w="50800">
            <a:solidFill>
              <a:srgbClr val="455A6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9" name="Google Shape;449;p24"/>
          <p:cNvSpPr/>
          <p:nvPr/>
        </p:nvSpPr>
        <p:spPr>
          <a:xfrm>
            <a:off x="1016000" y="2540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0A4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MOD-05 — TRAFFIC ENGINEERING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24"/>
          <p:cNvSpPr/>
          <p:nvPr/>
        </p:nvSpPr>
        <p:spPr>
          <a:xfrm>
            <a:off x="1016000" y="635000"/>
            <a:ext cx="114300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Outbound vs Inbound Traffic Engineering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1" name="Google Shape;451;p24"/>
          <p:cNvCxnSpPr/>
          <p:nvPr/>
        </p:nvCxnSpPr>
        <p:spPr>
          <a:xfrm>
            <a:off x="1016000" y="1143000"/>
            <a:ext cx="14224000" cy="0"/>
          </a:xfrm>
          <a:prstGeom prst="straightConnector1">
            <a:avLst/>
          </a:prstGeom>
          <a:noFill/>
          <a:ln cap="flat" cmpd="sng" w="12700">
            <a:solidFill>
              <a:srgbClr val="CFD8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2" name="Google Shape;452;p24"/>
          <p:cNvSpPr/>
          <p:nvPr/>
        </p:nvSpPr>
        <p:spPr>
          <a:xfrm>
            <a:off x="1016000" y="1460500"/>
            <a:ext cx="6858000" cy="2540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24"/>
          <p:cNvSpPr/>
          <p:nvPr/>
        </p:nvSpPr>
        <p:spPr>
          <a:xfrm>
            <a:off x="1016000" y="1460500"/>
            <a:ext cx="6858000" cy="50800"/>
          </a:xfrm>
          <a:prstGeom prst="rect">
            <a:avLst/>
          </a:prstGeom>
          <a:solidFill>
            <a:srgbClr val="455A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24"/>
          <p:cNvSpPr/>
          <p:nvPr/>
        </p:nvSpPr>
        <p:spPr>
          <a:xfrm>
            <a:off x="1270000" y="1651000"/>
            <a:ext cx="6350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Outbound (keluar UMM)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24"/>
          <p:cNvSpPr/>
          <p:nvPr/>
        </p:nvSpPr>
        <p:spPr>
          <a:xfrm>
            <a:off x="1270000" y="2095500"/>
            <a:ext cx="63500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UMM → IDREN / ISP / IIX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Dikendalikan oleh: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Local Preference</a:t>
            </a:r>
            <a:r>
              <a:rPr b="0" i="0" lang="en-US" sz="16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(internal AS)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Lebih tinggi = lebih diutamakan untuk keluar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24"/>
          <p:cNvSpPr/>
          <p:nvPr/>
        </p:nvSpPr>
        <p:spPr>
          <a:xfrm>
            <a:off x="8382000" y="1460500"/>
            <a:ext cx="6858000" cy="2540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24"/>
          <p:cNvSpPr/>
          <p:nvPr/>
        </p:nvSpPr>
        <p:spPr>
          <a:xfrm>
            <a:off x="8382000" y="1460500"/>
            <a:ext cx="6858000" cy="50800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24"/>
          <p:cNvSpPr/>
          <p:nvPr/>
        </p:nvSpPr>
        <p:spPr>
          <a:xfrm>
            <a:off x="8636000" y="1651000"/>
            <a:ext cx="6350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Inbound (masuk ke UMM)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24"/>
          <p:cNvSpPr/>
          <p:nvPr/>
        </p:nvSpPr>
        <p:spPr>
          <a:xfrm>
            <a:off x="8636000" y="2095500"/>
            <a:ext cx="63500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IDREN / ISP / IIX → UMM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Dikendalikan oleh: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AS-path prepending</a:t>
            </a:r>
            <a:r>
              <a:rPr b="0" i="0" lang="en-US" sz="16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(iklankan ke luar)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Lebih pendek = disukai upstream untuk masuk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0" name="Google Shape;460;p24"/>
          <p:cNvCxnSpPr/>
          <p:nvPr/>
        </p:nvCxnSpPr>
        <p:spPr>
          <a:xfrm>
            <a:off x="1016000" y="4318000"/>
            <a:ext cx="14224000" cy="0"/>
          </a:xfrm>
          <a:prstGeom prst="straightConnector1">
            <a:avLst/>
          </a:prstGeom>
          <a:noFill/>
          <a:ln cap="flat" cmpd="sng" w="12700">
            <a:solidFill>
              <a:srgbClr val="CFD8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1" name="Google Shape;461;p24"/>
          <p:cNvSpPr/>
          <p:nvPr/>
        </p:nvSpPr>
        <p:spPr>
          <a:xfrm>
            <a:off x="1016000" y="4572000"/>
            <a:ext cx="5080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Target UMM — Prioritas Upstream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62" name="Google Shape;462;p24"/>
          <p:cNvGraphicFramePr/>
          <p:nvPr/>
        </p:nvGraphicFramePr>
        <p:xfrm>
          <a:off x="1016000" y="5016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{4F551868-BB50-41E4-9F51-36898D543EC5}</a:tableStyleId>
              </a:tblPr>
              <a:tblGrid>
                <a:gridCol w="3129275"/>
                <a:gridCol w="2560325"/>
                <a:gridCol w="3129275"/>
                <a:gridCol w="2560325"/>
                <a:gridCol w="2844800"/>
              </a:tblGrid>
              <a:tr h="635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Upstream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55A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Border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55A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Outbound (LocPrf)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55A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Inbound (Prepend)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55A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Role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55A64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IDREN (AS 65000)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border-1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300 (tertinggi)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No prepend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Primary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IIX (AS 65200)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border-2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200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1× prepend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Secondary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FF1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ISP-1 (AS 65100)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border-1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150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1× prepend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Tertiary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ISP-2 (AS 65101)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border-2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100 (backup)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2× prepend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Backup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FF1"/>
                    </a:solidFill>
                  </a:tcPr>
                </a:tc>
              </a:tr>
            </a:tbl>
          </a:graphicData>
        </a:graphic>
      </p:graphicFrame>
      <p:cxnSp>
        <p:nvCxnSpPr>
          <p:cNvPr id="463" name="Google Shape;463;p24"/>
          <p:cNvCxnSpPr/>
          <p:nvPr/>
        </p:nvCxnSpPr>
        <p:spPr>
          <a:xfrm>
            <a:off x="0" y="9093200"/>
            <a:ext cx="16256000" cy="0"/>
          </a:xfrm>
          <a:prstGeom prst="straightConnector1">
            <a:avLst/>
          </a:prstGeom>
          <a:noFill/>
          <a:ln cap="flat" cmpd="sng" w="50800">
            <a:solidFill>
              <a:srgbClr val="455A6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4" name="Google Shape;464;p24"/>
          <p:cNvSpPr/>
          <p:nvPr/>
        </p:nvSpPr>
        <p:spPr>
          <a:xfrm>
            <a:off x="14605000" y="8636000"/>
            <a:ext cx="1016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0A4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21 / 32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8"/>
        </a:solidFill>
      </p:bgPr>
    </p:bg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0" name="Google Shape;470;p25"/>
          <p:cNvCxnSpPr/>
          <p:nvPr/>
        </p:nvCxnSpPr>
        <p:spPr>
          <a:xfrm>
            <a:off x="0" y="0"/>
            <a:ext cx="16256000" cy="0"/>
          </a:xfrm>
          <a:prstGeom prst="straightConnector1">
            <a:avLst/>
          </a:prstGeom>
          <a:noFill/>
          <a:ln cap="flat" cmpd="sng" w="50800">
            <a:solidFill>
              <a:srgbClr val="455A6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1" name="Google Shape;471;p25"/>
          <p:cNvSpPr/>
          <p:nvPr/>
        </p:nvSpPr>
        <p:spPr>
          <a:xfrm>
            <a:off x="1016000" y="2540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0A4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MOD-05 — TRAFFIC ENGINEERING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25"/>
          <p:cNvSpPr/>
          <p:nvPr/>
        </p:nvSpPr>
        <p:spPr>
          <a:xfrm>
            <a:off x="1016000" y="635000"/>
            <a:ext cx="101600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BGP Best-path Selection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3" name="Google Shape;473;p25"/>
          <p:cNvCxnSpPr/>
          <p:nvPr/>
        </p:nvCxnSpPr>
        <p:spPr>
          <a:xfrm>
            <a:off x="1016000" y="1143000"/>
            <a:ext cx="14224000" cy="0"/>
          </a:xfrm>
          <a:prstGeom prst="straightConnector1">
            <a:avLst/>
          </a:prstGeom>
          <a:noFill/>
          <a:ln cap="flat" cmpd="sng" w="12700">
            <a:solidFill>
              <a:srgbClr val="CFD8DC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474" name="Google Shape;474;p25"/>
          <p:cNvGraphicFramePr/>
          <p:nvPr/>
        </p:nvGraphicFramePr>
        <p:xfrm>
          <a:off x="1016000" y="1397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{4F551868-BB50-41E4-9F51-36898D543EC5}</a:tableStyleId>
              </a:tblPr>
              <a:tblGrid>
                <a:gridCol w="1422400"/>
                <a:gridCol w="4267200"/>
                <a:gridCol w="4267200"/>
                <a:gridCol w="4267200"/>
              </a:tblGrid>
              <a:tr h="50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#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55A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Atribut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55A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Fungsi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55A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Kendalikan?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55A64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Weight (Cisco only)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—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Tidak ada di FRR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Local Preference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Outbound — internal AS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455A64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Ya ✓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FF1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3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Locally originated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Route yang di-generate lokal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—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4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AS-path length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Inbound — dari luar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455A64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Ya ✓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FF1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5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Origin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IGP &gt; EGP &gt; Incomplete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—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6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MED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Hint ke upstream AS yang sama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Terbatas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FF1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7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eBGP &gt; iBGP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Prefer route eksternal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—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8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IGP metric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Cost ke next-hop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—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FF1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9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Router ID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Tie-breaker terakhir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—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75" name="Google Shape;475;p25"/>
          <p:cNvSpPr/>
          <p:nvPr/>
        </p:nvSpPr>
        <p:spPr>
          <a:xfrm>
            <a:off x="1016000" y="6731000"/>
            <a:ext cx="14224000" cy="1778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25"/>
          <p:cNvSpPr/>
          <p:nvPr/>
        </p:nvSpPr>
        <p:spPr>
          <a:xfrm>
            <a:off x="1016000" y="6731000"/>
            <a:ext cx="14224000" cy="50800"/>
          </a:xfrm>
          <a:prstGeom prst="rect">
            <a:avLst/>
          </a:prstGeom>
          <a:solidFill>
            <a:srgbClr val="455A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25"/>
          <p:cNvSpPr/>
          <p:nvPr/>
        </p:nvSpPr>
        <p:spPr>
          <a:xfrm>
            <a:off x="1270000" y="6921500"/>
            <a:ext cx="13716000" cy="1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Local Pref lebih tinggi</a:t>
            </a:r>
            <a:r>
              <a:rPr b="0" i="0" lang="en-US" sz="16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= lebih disukai untuk </a:t>
            </a:r>
            <a:r>
              <a:rPr b="1" i="0" lang="en-US" sz="16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traffic keluar</a:t>
            </a:r>
            <a:r>
              <a:rPr b="0" i="0" lang="en-US" sz="16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(outbound)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AS-path lebih pendek</a:t>
            </a:r>
            <a:r>
              <a:rPr b="0" i="0" lang="en-US" sz="16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= lebih disukai oleh upstream untuk kirim </a:t>
            </a:r>
            <a:r>
              <a:rPr b="1" i="0" lang="en-US" sz="16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traffic ke kita</a:t>
            </a:r>
            <a:r>
              <a:rPr b="0" i="0" lang="en-US" sz="16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(inbound)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Dua atribut yang bisa kita kendalikan: Local Preference (#2) dan AS-path length (#4)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8" name="Google Shape;478;p25"/>
          <p:cNvCxnSpPr/>
          <p:nvPr/>
        </p:nvCxnSpPr>
        <p:spPr>
          <a:xfrm>
            <a:off x="0" y="9093200"/>
            <a:ext cx="16256000" cy="0"/>
          </a:xfrm>
          <a:prstGeom prst="straightConnector1">
            <a:avLst/>
          </a:prstGeom>
          <a:noFill/>
          <a:ln cap="flat" cmpd="sng" w="50800">
            <a:solidFill>
              <a:srgbClr val="455A6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9" name="Google Shape;479;p25"/>
          <p:cNvSpPr/>
          <p:nvPr/>
        </p:nvSpPr>
        <p:spPr>
          <a:xfrm>
            <a:off x="14605000" y="8636000"/>
            <a:ext cx="1016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0A4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22 / 32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8"/>
        </a:solidFill>
      </p:bgPr>
    </p:bg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5" name="Google Shape;485;p26"/>
          <p:cNvCxnSpPr/>
          <p:nvPr/>
        </p:nvCxnSpPr>
        <p:spPr>
          <a:xfrm>
            <a:off x="0" y="0"/>
            <a:ext cx="16256000" cy="0"/>
          </a:xfrm>
          <a:prstGeom prst="straightConnector1">
            <a:avLst/>
          </a:prstGeom>
          <a:noFill/>
          <a:ln cap="flat" cmpd="sng" w="50800">
            <a:solidFill>
              <a:srgbClr val="455A6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6" name="Google Shape;486;p26"/>
          <p:cNvSpPr/>
          <p:nvPr/>
        </p:nvSpPr>
        <p:spPr>
          <a:xfrm>
            <a:off x="1016000" y="2540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0A4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MOD-05 — TRAFFIC ENGINEERING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26"/>
          <p:cNvSpPr/>
          <p:nvPr/>
        </p:nvSpPr>
        <p:spPr>
          <a:xfrm>
            <a:off x="1016000" y="635000"/>
            <a:ext cx="101600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Local Preference — Kontrol Traffic Keluar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8" name="Google Shape;488;p26"/>
          <p:cNvCxnSpPr/>
          <p:nvPr/>
        </p:nvCxnSpPr>
        <p:spPr>
          <a:xfrm>
            <a:off x="1016000" y="1143000"/>
            <a:ext cx="14224000" cy="0"/>
          </a:xfrm>
          <a:prstGeom prst="straightConnector1">
            <a:avLst/>
          </a:prstGeom>
          <a:noFill/>
          <a:ln cap="flat" cmpd="sng" w="12700">
            <a:solidFill>
              <a:srgbClr val="CFD8DC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489" name="Google Shape;489;p26"/>
          <p:cNvGraphicFramePr/>
          <p:nvPr/>
        </p:nvGraphicFramePr>
        <p:xfrm>
          <a:off x="1016000" y="1397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{4F551868-BB50-41E4-9F51-36898D543EC5}</a:tableStyleId>
              </a:tblPr>
              <a:tblGrid>
                <a:gridCol w="3129275"/>
                <a:gridCol w="2560325"/>
                <a:gridCol w="4267200"/>
                <a:gridCol w="426720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Upstream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55A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Border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55A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Route-map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55A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Local Preference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55A6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IDREN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border-1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IMPORT-FROM-IDREN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300 (primary)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IIX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border-2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IMPORT-FROM-IIX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200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F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ISP-1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border-1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IMPORT-FROM-ISP1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150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ISP-2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border-2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IMPORT-FROM-ISP2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100 (backup)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FF1"/>
                    </a:solidFill>
                  </a:tcPr>
                </a:tc>
              </a:tr>
            </a:tbl>
          </a:graphicData>
        </a:graphic>
      </p:graphicFrame>
      <p:cxnSp>
        <p:nvCxnSpPr>
          <p:cNvPr id="490" name="Google Shape;490;p26"/>
          <p:cNvCxnSpPr/>
          <p:nvPr/>
        </p:nvCxnSpPr>
        <p:spPr>
          <a:xfrm>
            <a:off x="1016000" y="3937000"/>
            <a:ext cx="14224000" cy="0"/>
          </a:xfrm>
          <a:prstGeom prst="straightConnector1">
            <a:avLst/>
          </a:prstGeom>
          <a:noFill/>
          <a:ln cap="flat" cmpd="sng" w="12700">
            <a:solidFill>
              <a:srgbClr val="CFD8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1" name="Google Shape;491;p26"/>
          <p:cNvSpPr/>
          <p:nvPr/>
        </p:nvSpPr>
        <p:spPr>
          <a:xfrm>
            <a:off x="1016000" y="4127500"/>
            <a:ext cx="7112000" cy="3937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26"/>
          <p:cNvSpPr/>
          <p:nvPr/>
        </p:nvSpPr>
        <p:spPr>
          <a:xfrm>
            <a:off x="1270000" y="42291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0A4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border-1 (IDREN=300, ISP-1=150)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26"/>
          <p:cNvSpPr/>
          <p:nvPr/>
        </p:nvSpPr>
        <p:spPr>
          <a:xfrm>
            <a:off x="1270000" y="4572000"/>
            <a:ext cx="6604000" cy="33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route-map IMPORT-FROM-IDREN permit 10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set local-preference 300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route-map IMPORT-FROM-ISP1 permit 10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set local-preference 150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router bgp 65010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address-family ipv4 unicast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neighbor 100.64.0.1 route-map IMPORT-FROM-IDREN in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neighbor 100.64.0.5 route-map IMPORT-FROM-ISP1 in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26"/>
          <p:cNvSpPr/>
          <p:nvPr/>
        </p:nvSpPr>
        <p:spPr>
          <a:xfrm>
            <a:off x="8382000" y="4127500"/>
            <a:ext cx="6858000" cy="3937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26"/>
          <p:cNvSpPr/>
          <p:nvPr/>
        </p:nvSpPr>
        <p:spPr>
          <a:xfrm>
            <a:off x="8636000" y="42291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0A4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border-2 (IIX=200, ISP-2=100)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26"/>
          <p:cNvSpPr/>
          <p:nvPr/>
        </p:nvSpPr>
        <p:spPr>
          <a:xfrm>
            <a:off x="8636000" y="4572000"/>
            <a:ext cx="6350000" cy="33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route-map IMPORT-FROM-ISP2 permit 10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set local-preference 100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route-map IMPORT-FROM-IIX permit 10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set local-preference 200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router bgp 65010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address-family ipv4 unicast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neighbor 100.64.0.9 route-map IMPORT-FROM-ISP2 in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neighbor 100.64.0.13 route-map IMPORT-FROM-IIX in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7" name="Google Shape;497;p26"/>
          <p:cNvCxnSpPr/>
          <p:nvPr/>
        </p:nvCxnSpPr>
        <p:spPr>
          <a:xfrm>
            <a:off x="0" y="9093200"/>
            <a:ext cx="16256000" cy="0"/>
          </a:xfrm>
          <a:prstGeom prst="straightConnector1">
            <a:avLst/>
          </a:prstGeom>
          <a:noFill/>
          <a:ln cap="flat" cmpd="sng" w="50800">
            <a:solidFill>
              <a:srgbClr val="455A6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8" name="Google Shape;498;p26"/>
          <p:cNvSpPr/>
          <p:nvPr/>
        </p:nvSpPr>
        <p:spPr>
          <a:xfrm>
            <a:off x="14605000" y="8636000"/>
            <a:ext cx="1016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0A4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23 / 32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8"/>
        </a:solid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4" name="Google Shape;504;p27"/>
          <p:cNvCxnSpPr/>
          <p:nvPr/>
        </p:nvCxnSpPr>
        <p:spPr>
          <a:xfrm>
            <a:off x="0" y="0"/>
            <a:ext cx="16256000" cy="0"/>
          </a:xfrm>
          <a:prstGeom prst="straightConnector1">
            <a:avLst/>
          </a:prstGeom>
          <a:noFill/>
          <a:ln cap="flat" cmpd="sng" w="50800">
            <a:solidFill>
              <a:srgbClr val="455A6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5" name="Google Shape;505;p27"/>
          <p:cNvSpPr/>
          <p:nvPr/>
        </p:nvSpPr>
        <p:spPr>
          <a:xfrm>
            <a:off x="1016000" y="2540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0A4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MOD-05 — TRAFFIC ENGINEERING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27"/>
          <p:cNvSpPr/>
          <p:nvPr/>
        </p:nvSpPr>
        <p:spPr>
          <a:xfrm>
            <a:off x="1016000" y="635000"/>
            <a:ext cx="114300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AS-path Prepending — Kontrol Traffic Masuk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7" name="Google Shape;507;p27"/>
          <p:cNvCxnSpPr/>
          <p:nvPr/>
        </p:nvCxnSpPr>
        <p:spPr>
          <a:xfrm>
            <a:off x="1016000" y="1143000"/>
            <a:ext cx="14224000" cy="0"/>
          </a:xfrm>
          <a:prstGeom prst="straightConnector1">
            <a:avLst/>
          </a:prstGeom>
          <a:noFill/>
          <a:ln cap="flat" cmpd="sng" w="12700">
            <a:solidFill>
              <a:srgbClr val="CFD8DC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508" name="Google Shape;508;p27"/>
          <p:cNvGraphicFramePr/>
          <p:nvPr/>
        </p:nvGraphicFramePr>
        <p:xfrm>
          <a:off x="1016000" y="1397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{4F551868-BB50-41E4-9F51-36898D543EC5}</a:tableStyleId>
              </a:tblPr>
              <a:tblGrid>
                <a:gridCol w="2844800"/>
                <a:gridCol w="2275850"/>
                <a:gridCol w="2275850"/>
                <a:gridCol w="682752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Upstream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55A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Border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55A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Prepend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55A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AS-path yang Dilihat Upstream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55A6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IDREN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border-1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—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65010 (pendek = disukai)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ISP-1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border-1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1×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65010 65010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F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IIX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border-2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1×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65010 65010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ISP-2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border-2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2×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747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65010 65010 65010 (backup)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FF1"/>
                    </a:solidFill>
                  </a:tcPr>
                </a:tc>
              </a:tr>
            </a:tbl>
          </a:graphicData>
        </a:graphic>
      </p:graphicFrame>
      <p:cxnSp>
        <p:nvCxnSpPr>
          <p:cNvPr id="509" name="Google Shape;509;p27"/>
          <p:cNvCxnSpPr/>
          <p:nvPr/>
        </p:nvCxnSpPr>
        <p:spPr>
          <a:xfrm>
            <a:off x="1016000" y="3937000"/>
            <a:ext cx="14224000" cy="0"/>
          </a:xfrm>
          <a:prstGeom prst="straightConnector1">
            <a:avLst/>
          </a:prstGeom>
          <a:noFill/>
          <a:ln cap="flat" cmpd="sng" w="12700">
            <a:solidFill>
              <a:srgbClr val="CFD8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0" name="Google Shape;510;p27"/>
          <p:cNvSpPr/>
          <p:nvPr/>
        </p:nvSpPr>
        <p:spPr>
          <a:xfrm>
            <a:off x="1016000" y="4127500"/>
            <a:ext cx="7112000" cy="3937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27"/>
          <p:cNvSpPr/>
          <p:nvPr/>
        </p:nvSpPr>
        <p:spPr>
          <a:xfrm>
            <a:off x="1270000" y="42291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0A4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border-1 (IDREN + ISP-1)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27"/>
          <p:cNvSpPr/>
          <p:nvPr/>
        </p:nvSpPr>
        <p:spPr>
          <a:xfrm>
            <a:off x="1270000" y="4572000"/>
            <a:ext cx="6604000" cy="33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route-map EXPORT-TO-IDREN permit 10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match ip address prefix-list OWN-PREFIX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! tidak ada prepend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route-map EXPORT-TO-ISP1 permit 10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match ip address prefix-list OWN-PREFIX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set as-path prepend 65010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! AS-path ke ISP-1: 65010 65010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27"/>
          <p:cNvSpPr/>
          <p:nvPr/>
        </p:nvSpPr>
        <p:spPr>
          <a:xfrm>
            <a:off x="8382000" y="4127500"/>
            <a:ext cx="6858000" cy="3937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27"/>
          <p:cNvSpPr/>
          <p:nvPr/>
        </p:nvSpPr>
        <p:spPr>
          <a:xfrm>
            <a:off x="8636000" y="42291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0A4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border-2 (IIX + ISP-2)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27"/>
          <p:cNvSpPr/>
          <p:nvPr/>
        </p:nvSpPr>
        <p:spPr>
          <a:xfrm>
            <a:off x="8636000" y="4572000"/>
            <a:ext cx="6350000" cy="33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route-map EXPORT-TO-IIX permit 10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match ip address prefix-list OWN-PREFIX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set as-path prepend 65010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route-map EXPORT-TO-ISP2 permit 10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match ip address prefix-list OWN-PREFIX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set as-path prepend 65010 65010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! AS-path ke ISP-2: 65010 65010 65010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6" name="Google Shape;516;p27"/>
          <p:cNvCxnSpPr/>
          <p:nvPr/>
        </p:nvCxnSpPr>
        <p:spPr>
          <a:xfrm>
            <a:off x="0" y="9093200"/>
            <a:ext cx="16256000" cy="0"/>
          </a:xfrm>
          <a:prstGeom prst="straightConnector1">
            <a:avLst/>
          </a:prstGeom>
          <a:noFill/>
          <a:ln cap="flat" cmpd="sng" w="50800">
            <a:solidFill>
              <a:srgbClr val="455A6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7" name="Google Shape;517;p27"/>
          <p:cNvSpPr/>
          <p:nvPr/>
        </p:nvSpPr>
        <p:spPr>
          <a:xfrm>
            <a:off x="14605000" y="8636000"/>
            <a:ext cx="1016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0A4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24 / 32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8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3" name="Google Shape;523;p28"/>
          <p:cNvCxnSpPr/>
          <p:nvPr/>
        </p:nvCxnSpPr>
        <p:spPr>
          <a:xfrm>
            <a:off x="0" y="0"/>
            <a:ext cx="16256000" cy="0"/>
          </a:xfrm>
          <a:prstGeom prst="straightConnector1">
            <a:avLst/>
          </a:prstGeom>
          <a:noFill/>
          <a:ln cap="flat" cmpd="sng" w="50800">
            <a:solidFill>
              <a:srgbClr val="455A6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4" name="Google Shape;524;p28"/>
          <p:cNvSpPr/>
          <p:nvPr/>
        </p:nvSpPr>
        <p:spPr>
          <a:xfrm>
            <a:off x="1016000" y="2540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0A4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MOD-05 — TRAFFIC ENGINEERING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28"/>
          <p:cNvSpPr/>
          <p:nvPr/>
        </p:nvSpPr>
        <p:spPr>
          <a:xfrm>
            <a:off x="1016000" y="635000"/>
            <a:ext cx="101600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Failover Otomatis &amp; Preview Hari 3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6" name="Google Shape;526;p28"/>
          <p:cNvCxnSpPr/>
          <p:nvPr/>
        </p:nvCxnSpPr>
        <p:spPr>
          <a:xfrm>
            <a:off x="1016000" y="1143000"/>
            <a:ext cx="14224000" cy="0"/>
          </a:xfrm>
          <a:prstGeom prst="straightConnector1">
            <a:avLst/>
          </a:prstGeom>
          <a:noFill/>
          <a:ln cap="flat" cmpd="sng" w="12700">
            <a:solidFill>
              <a:srgbClr val="CFD8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7" name="Google Shape;527;p28"/>
          <p:cNvSpPr/>
          <p:nvPr/>
        </p:nvSpPr>
        <p:spPr>
          <a:xfrm>
            <a:off x="1016000" y="1397000"/>
            <a:ext cx="6858000" cy="2921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28"/>
          <p:cNvSpPr/>
          <p:nvPr/>
        </p:nvSpPr>
        <p:spPr>
          <a:xfrm>
            <a:off x="1016000" y="1397000"/>
            <a:ext cx="6858000" cy="50800"/>
          </a:xfrm>
          <a:prstGeom prst="rect">
            <a:avLst/>
          </a:prstGeom>
          <a:solidFill>
            <a:srgbClr val="455A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28"/>
          <p:cNvSpPr/>
          <p:nvPr/>
        </p:nvSpPr>
        <p:spPr>
          <a:xfrm>
            <a:off x="1270000" y="15494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Normal (overlap prefix)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28"/>
          <p:cNvSpPr/>
          <p:nvPr/>
        </p:nvSpPr>
        <p:spPr>
          <a:xfrm>
            <a:off x="1270000" y="1968500"/>
            <a:ext cx="6350000" cy="21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Prefix 100.121.0.0/16 tersedia dari: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ISP-1 via border-1 (</a:t>
            </a:r>
            <a:r>
              <a:rPr b="1" i="0" lang="en-US" sz="16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LocPrf 150</a:t>
            </a:r>
            <a:r>
              <a:rPr b="0" i="0" lang="en-US" sz="16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ISP-2 via border-2 (</a:t>
            </a:r>
            <a:r>
              <a:rPr b="1" i="0" lang="en-US" sz="16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LocPrf 100</a:t>
            </a:r>
            <a:r>
              <a:rPr b="0" i="0" lang="en-US" sz="16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ISP-1 menang</a:t>
            </a:r>
            <a:r>
              <a:rPr b="0" i="0" lang="en-US" sz="16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traffic keluar lewat border-1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28"/>
          <p:cNvSpPr/>
          <p:nvPr/>
        </p:nvSpPr>
        <p:spPr>
          <a:xfrm>
            <a:off x="8382000" y="1397000"/>
            <a:ext cx="6858000" cy="2921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28"/>
          <p:cNvSpPr/>
          <p:nvPr/>
        </p:nvSpPr>
        <p:spPr>
          <a:xfrm>
            <a:off x="8382000" y="1397000"/>
            <a:ext cx="6858000" cy="50800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28"/>
          <p:cNvSpPr/>
          <p:nvPr/>
        </p:nvSpPr>
        <p:spPr>
          <a:xfrm>
            <a:off x="8636000" y="15494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Failover (ISP-1 down)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28"/>
          <p:cNvSpPr/>
          <p:nvPr/>
        </p:nvSpPr>
        <p:spPr>
          <a:xfrm>
            <a:off x="8636000" y="1968500"/>
            <a:ext cx="6350000" cy="21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neighbor 100.64.0.5 shutdown di border-1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ISP-1 path hilang dari BGP table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100.121.0.0/16 beralih ke ISP-2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Hold timer 90 detik (default)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BGP best-path re-selection otomatis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5" name="Google Shape;535;p28"/>
          <p:cNvCxnSpPr/>
          <p:nvPr/>
        </p:nvCxnSpPr>
        <p:spPr>
          <a:xfrm>
            <a:off x="1016000" y="4635500"/>
            <a:ext cx="14224000" cy="0"/>
          </a:xfrm>
          <a:prstGeom prst="straightConnector1">
            <a:avLst/>
          </a:prstGeom>
          <a:noFill/>
          <a:ln cap="flat" cmpd="sng" w="12700">
            <a:solidFill>
              <a:srgbClr val="CFD8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6" name="Google Shape;536;p28"/>
          <p:cNvSpPr/>
          <p:nvPr/>
        </p:nvSpPr>
        <p:spPr>
          <a:xfrm>
            <a:off x="1016000" y="4826000"/>
            <a:ext cx="3810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Demo Failover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28"/>
          <p:cNvSpPr/>
          <p:nvPr/>
        </p:nvSpPr>
        <p:spPr>
          <a:xfrm>
            <a:off x="1016000" y="5245100"/>
            <a:ext cx="6858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neighbor 100.64.0.5 shutdown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Tunggu 90 detik → show bgp ipv4 unicast 100.121.0.0/16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Path ISP-2 (LocPrf 100) sekarang menang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28"/>
          <p:cNvSpPr/>
          <p:nvPr/>
        </p:nvSpPr>
        <p:spPr>
          <a:xfrm>
            <a:off x="8382000" y="4826000"/>
            <a:ext cx="6858000" cy="20955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28"/>
          <p:cNvSpPr/>
          <p:nvPr/>
        </p:nvSpPr>
        <p:spPr>
          <a:xfrm>
            <a:off x="8382000" y="4826000"/>
            <a:ext cx="6858000" cy="50800"/>
          </a:xfrm>
          <a:prstGeom prst="rect">
            <a:avLst/>
          </a:prstGeom>
          <a:solidFill>
            <a:srgbClr val="455A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28"/>
          <p:cNvSpPr/>
          <p:nvPr/>
        </p:nvSpPr>
        <p:spPr>
          <a:xfrm>
            <a:off x="8636000" y="50165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Preview Hari 3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28"/>
          <p:cNvSpPr/>
          <p:nvPr/>
        </p:nvSpPr>
        <p:spPr>
          <a:xfrm>
            <a:off x="8636000" y="5397500"/>
            <a:ext cx="6350000" cy="142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BGP Community: tagging &amp; conditional policy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MOD-06: Troubleshooting methodology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LAB-05: Diagnosa broken BGP session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Post-test &amp; Penutupan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2" name="Google Shape;542;p28"/>
          <p:cNvCxnSpPr/>
          <p:nvPr/>
        </p:nvCxnSpPr>
        <p:spPr>
          <a:xfrm>
            <a:off x="1016000" y="7048500"/>
            <a:ext cx="14224000" cy="0"/>
          </a:xfrm>
          <a:prstGeom prst="straightConnector1">
            <a:avLst/>
          </a:prstGeom>
          <a:noFill/>
          <a:ln cap="flat" cmpd="sng" w="12700">
            <a:solidFill>
              <a:srgbClr val="CFD8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3" name="Google Shape;543;p28"/>
          <p:cNvSpPr/>
          <p:nvPr/>
        </p:nvSpPr>
        <p:spPr>
          <a:xfrm>
            <a:off x="1016000" y="7239000"/>
            <a:ext cx="5080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Common Mistakes MOD-05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28"/>
          <p:cNvSpPr/>
          <p:nvPr/>
        </p:nvSpPr>
        <p:spPr>
          <a:xfrm>
            <a:off x="1016000" y="7620000"/>
            <a:ext cx="142240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Local Pref lebih tinggi = traffic </a:t>
            </a:r>
            <a:r>
              <a:rPr b="1" i="0" lang="en-US" sz="15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keluar</a:t>
            </a:r>
            <a:r>
              <a:rPr b="0" i="0" lang="en-US" sz="15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(bukan masuk) — sering tertukar!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AS-path prepend mempengaruhi path yang diiklankan → traffic </a:t>
            </a:r>
            <a:r>
              <a:rPr b="1" i="0" lang="en-US" sz="15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masuk</a:t>
            </a:r>
            <a:r>
              <a:rPr b="0" i="0" lang="en-US" sz="15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(bukan keluar)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Lupa clear soft in setelah ubah IMPORT / clear soft out setelah ubah EXPORT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5" name="Google Shape;545;p28"/>
          <p:cNvCxnSpPr/>
          <p:nvPr/>
        </p:nvCxnSpPr>
        <p:spPr>
          <a:xfrm>
            <a:off x="0" y="9093200"/>
            <a:ext cx="16256000" cy="0"/>
          </a:xfrm>
          <a:prstGeom prst="straightConnector1">
            <a:avLst/>
          </a:prstGeom>
          <a:noFill/>
          <a:ln cap="flat" cmpd="sng" w="50800">
            <a:solidFill>
              <a:srgbClr val="455A6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6" name="Google Shape;546;p28"/>
          <p:cNvSpPr/>
          <p:nvPr/>
        </p:nvSpPr>
        <p:spPr>
          <a:xfrm>
            <a:off x="14605000" y="8636000"/>
            <a:ext cx="1016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0A4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25 / 32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63238"/>
        </a:solidFill>
      </p:bgPr>
    </p:bg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2" name="Google Shape;552;p29"/>
          <p:cNvCxnSpPr/>
          <p:nvPr/>
        </p:nvCxnSpPr>
        <p:spPr>
          <a:xfrm>
            <a:off x="0" y="0"/>
            <a:ext cx="16256000" cy="0"/>
          </a:xfrm>
          <a:prstGeom prst="straightConnector1">
            <a:avLst/>
          </a:prstGeom>
          <a:noFill/>
          <a:ln cap="flat" cmpd="sng" w="50800">
            <a:solidFill>
              <a:srgbClr val="90A4A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3" name="Google Shape;553;p29"/>
          <p:cNvSpPr/>
          <p:nvPr/>
        </p:nvSpPr>
        <p:spPr>
          <a:xfrm>
            <a:off x="1016000" y="2540000"/>
            <a:ext cx="53340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b="0" i="0" lang="en-US" sz="6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SESI 8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4" name="Google Shape;554;p29"/>
          <p:cNvCxnSpPr/>
          <p:nvPr/>
        </p:nvCxnSpPr>
        <p:spPr>
          <a:xfrm>
            <a:off x="1016000" y="3937000"/>
            <a:ext cx="1016000" cy="0"/>
          </a:xfrm>
          <a:prstGeom prst="straightConnector1">
            <a:avLst/>
          </a:prstGeom>
          <a:noFill/>
          <a:ln cap="flat" cmpd="sng" w="25400">
            <a:solidFill>
              <a:srgbClr val="90A4A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5" name="Google Shape;555;p29"/>
          <p:cNvSpPr/>
          <p:nvPr/>
        </p:nvSpPr>
        <p:spPr>
          <a:xfrm>
            <a:off x="1016000" y="4191000"/>
            <a:ext cx="114300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LAB-04: Multi-homing — Traffic Engineering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29"/>
          <p:cNvSpPr/>
          <p:nvPr/>
        </p:nvSpPr>
        <p:spPr>
          <a:xfrm>
            <a:off x="1016000" y="4953000"/>
            <a:ext cx="7620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90A4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15.50–16.50 | 60 menit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7" name="Google Shape;557;p29"/>
          <p:cNvCxnSpPr/>
          <p:nvPr/>
        </p:nvCxnSpPr>
        <p:spPr>
          <a:xfrm>
            <a:off x="0" y="9093200"/>
            <a:ext cx="16256000" cy="0"/>
          </a:xfrm>
          <a:prstGeom prst="straightConnector1">
            <a:avLst/>
          </a:prstGeom>
          <a:noFill/>
          <a:ln cap="flat" cmpd="sng" w="50800">
            <a:solidFill>
              <a:srgbClr val="90A4AE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8"/>
        </a:solidFill>
      </p:bgPr>
    </p:bg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3" name="Google Shape;563;p30"/>
          <p:cNvCxnSpPr/>
          <p:nvPr/>
        </p:nvCxnSpPr>
        <p:spPr>
          <a:xfrm>
            <a:off x="0" y="0"/>
            <a:ext cx="16256000" cy="0"/>
          </a:xfrm>
          <a:prstGeom prst="straightConnector1">
            <a:avLst/>
          </a:prstGeom>
          <a:noFill/>
          <a:ln cap="flat" cmpd="sng" w="50800">
            <a:solidFill>
              <a:srgbClr val="455A6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4" name="Google Shape;564;p30"/>
          <p:cNvSpPr/>
          <p:nvPr/>
        </p:nvSpPr>
        <p:spPr>
          <a:xfrm>
            <a:off x="1016000" y="2540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0A4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SESI 8 — LAB-04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30"/>
          <p:cNvSpPr/>
          <p:nvPr/>
        </p:nvSpPr>
        <p:spPr>
          <a:xfrm>
            <a:off x="1016000" y="635000"/>
            <a:ext cx="114300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LAB-04 — Multi-homing: Traffic Engineering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6" name="Google Shape;566;p30"/>
          <p:cNvCxnSpPr/>
          <p:nvPr/>
        </p:nvCxnSpPr>
        <p:spPr>
          <a:xfrm>
            <a:off x="1016000" y="1143000"/>
            <a:ext cx="14224000" cy="0"/>
          </a:xfrm>
          <a:prstGeom prst="straightConnector1">
            <a:avLst/>
          </a:prstGeom>
          <a:noFill/>
          <a:ln cap="flat" cmpd="sng" w="12700">
            <a:solidFill>
              <a:srgbClr val="CFD8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7" name="Google Shape;567;p30"/>
          <p:cNvSpPr/>
          <p:nvPr/>
        </p:nvSpPr>
        <p:spPr>
          <a:xfrm>
            <a:off x="1016000" y="1397000"/>
            <a:ext cx="7112000" cy="5080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30"/>
          <p:cNvSpPr/>
          <p:nvPr/>
        </p:nvSpPr>
        <p:spPr>
          <a:xfrm>
            <a:off x="1016000" y="1397000"/>
            <a:ext cx="7112000" cy="50800"/>
          </a:xfrm>
          <a:prstGeom prst="rect">
            <a:avLst/>
          </a:prstGeom>
          <a:solidFill>
            <a:srgbClr val="455A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30"/>
          <p:cNvSpPr/>
          <p:nvPr/>
        </p:nvSpPr>
        <p:spPr>
          <a:xfrm>
            <a:off x="1270000" y="15494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Urutan Pengerjaan (7 Step)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30"/>
          <p:cNvSpPr/>
          <p:nvPr/>
        </p:nvSpPr>
        <p:spPr>
          <a:xfrm>
            <a:off x="1270000" y="1968500"/>
            <a:ext cx="6604000" cy="43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</a:t>
            </a:r>
            <a:r>
              <a:rPr b="0" i="0" lang="en-US" sz="15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Deploy: containerlab deploy -t lab04.clab.yml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</a:t>
            </a:r>
            <a:r>
              <a:rPr b="0" i="0" lang="en-US" sz="15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eBGP + iBGP di KEDUA border + outbound filter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</a:t>
            </a:r>
            <a:r>
              <a:rPr b="0" i="0" lang="en-US" sz="15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Amati tanpa local-pref — 100.121.0.0/16 path mana yang menang?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</a:t>
            </a:r>
            <a:r>
              <a:rPr b="0" i="0" lang="en-US" sz="15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Pasang Local Preference: IDREN=300, IIX=200, ISP-1=150, ISP-2=100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5.</a:t>
            </a:r>
            <a:r>
              <a:rPr b="0" i="0" lang="en-US" sz="15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Pasang AS-path prepending: IDREN no prepend, ISP-1/IIX 1×, ISP-2 2×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6.</a:t>
            </a:r>
            <a:r>
              <a:rPr b="0" i="0" lang="en-US" sz="15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AS-path filter: prefix universitas langsung dari IDREN → LocPrf 350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7.</a:t>
            </a:r>
            <a:r>
              <a:rPr b="0" i="0" lang="en-US" sz="15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Simulasi failover: shutdown ISP-1 → amati re-selection (~10 detik)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30"/>
          <p:cNvSpPr/>
          <p:nvPr/>
        </p:nvSpPr>
        <p:spPr>
          <a:xfrm>
            <a:off x="8382000" y="1397000"/>
            <a:ext cx="6858000" cy="5080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30"/>
          <p:cNvSpPr/>
          <p:nvPr/>
        </p:nvSpPr>
        <p:spPr>
          <a:xfrm>
            <a:off x="8382000" y="1397000"/>
            <a:ext cx="6858000" cy="50800"/>
          </a:xfrm>
          <a:prstGeom prst="rect">
            <a:avLst/>
          </a:prstGeom>
          <a:solidFill>
            <a:srgbClr val="455A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30"/>
          <p:cNvSpPr/>
          <p:nvPr/>
        </p:nvSpPr>
        <p:spPr>
          <a:xfrm>
            <a:off x="8636000" y="15494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Target Verifikasi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30"/>
          <p:cNvSpPr/>
          <p:nvPr/>
        </p:nvSpPr>
        <p:spPr>
          <a:xfrm>
            <a:off x="8636000" y="1968500"/>
            <a:ext cx="6350000" cy="43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Local Pref: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show bgp ipv4 unicast 100.121.0.0/16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 Path ISP-1 (LocPrf 150) menang atas ISP-2 (100)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AS-path prepend: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show bgp ipv4 unicast neighbors 100.64.0.5 advertised-routes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 AS-path ke ISP-1: 65010 65010 (2 entri)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AS-path filter (Step 6):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show bgp ipv4 unicast 152.118.0.0/16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 IDREN path: LocPrf 350 (best)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Failover: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neighbor 100.64.0.5 shutdown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 Path ISP-2 via border-2 menang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5" name="Google Shape;575;p30"/>
          <p:cNvCxnSpPr/>
          <p:nvPr/>
        </p:nvCxnSpPr>
        <p:spPr>
          <a:xfrm>
            <a:off x="0" y="9093200"/>
            <a:ext cx="16256000" cy="0"/>
          </a:xfrm>
          <a:prstGeom prst="straightConnector1">
            <a:avLst/>
          </a:prstGeom>
          <a:noFill/>
          <a:ln cap="flat" cmpd="sng" w="50800">
            <a:solidFill>
              <a:srgbClr val="455A6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6" name="Google Shape;576;p30"/>
          <p:cNvSpPr/>
          <p:nvPr/>
        </p:nvSpPr>
        <p:spPr>
          <a:xfrm>
            <a:off x="14605000" y="8636000"/>
            <a:ext cx="1016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0A4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26 / 32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8"/>
        </a:solidFill>
      </p:bgPr>
    </p:bg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2" name="Google Shape;582;p31"/>
          <p:cNvCxnSpPr/>
          <p:nvPr/>
        </p:nvCxnSpPr>
        <p:spPr>
          <a:xfrm>
            <a:off x="0" y="0"/>
            <a:ext cx="16256000" cy="0"/>
          </a:xfrm>
          <a:prstGeom prst="straightConnector1">
            <a:avLst/>
          </a:prstGeom>
          <a:noFill/>
          <a:ln cap="flat" cmpd="sng" w="50800">
            <a:solidFill>
              <a:srgbClr val="455A6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3" name="Google Shape;583;p31"/>
          <p:cNvSpPr/>
          <p:nvPr/>
        </p:nvSpPr>
        <p:spPr>
          <a:xfrm>
            <a:off x="1016000" y="2540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0A4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SESI 9 — REVIEW &amp; WRAP-UP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31"/>
          <p:cNvSpPr/>
          <p:nvPr/>
        </p:nvSpPr>
        <p:spPr>
          <a:xfrm>
            <a:off x="1016000" y="635000"/>
            <a:ext cx="101600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Review &amp; Wrap-up Hari 2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5" name="Google Shape;585;p31"/>
          <p:cNvCxnSpPr/>
          <p:nvPr/>
        </p:nvCxnSpPr>
        <p:spPr>
          <a:xfrm>
            <a:off x="1016000" y="1143000"/>
            <a:ext cx="14224000" cy="0"/>
          </a:xfrm>
          <a:prstGeom prst="straightConnector1">
            <a:avLst/>
          </a:prstGeom>
          <a:noFill/>
          <a:ln cap="flat" cmpd="sng" w="12700">
            <a:solidFill>
              <a:srgbClr val="CFD8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6" name="Google Shape;586;p31"/>
          <p:cNvSpPr/>
          <p:nvPr/>
        </p:nvSpPr>
        <p:spPr>
          <a:xfrm>
            <a:off x="1016000" y="1460500"/>
            <a:ext cx="4445000" cy="3302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31"/>
          <p:cNvSpPr/>
          <p:nvPr/>
        </p:nvSpPr>
        <p:spPr>
          <a:xfrm>
            <a:off x="1016000" y="1460500"/>
            <a:ext cx="4445000" cy="50800"/>
          </a:xfrm>
          <a:prstGeom prst="rect">
            <a:avLst/>
          </a:prstGeom>
          <a:solidFill>
            <a:srgbClr val="455A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31"/>
          <p:cNvSpPr/>
          <p:nvPr/>
        </p:nvSpPr>
        <p:spPr>
          <a:xfrm>
            <a:off x="1270000" y="1676400"/>
            <a:ext cx="76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31"/>
          <p:cNvSpPr/>
          <p:nvPr/>
        </p:nvSpPr>
        <p:spPr>
          <a:xfrm>
            <a:off x="1270000" y="2120900"/>
            <a:ext cx="3937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LAB-02 — iBGP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31"/>
          <p:cNvSpPr/>
          <p:nvPr/>
        </p:nvSpPr>
        <p:spPr>
          <a:xfrm>
            <a:off x="1270000" y="2514600"/>
            <a:ext cx="3937000" cy="20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Kunci: update-source lo + next-hop-self di border-1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Yang paling sering gagal: loopback tidak reachable → session Active meski config benar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31"/>
          <p:cNvSpPr/>
          <p:nvPr/>
        </p:nvSpPr>
        <p:spPr>
          <a:xfrm>
            <a:off x="5905500" y="1460500"/>
            <a:ext cx="4445000" cy="3302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31"/>
          <p:cNvSpPr/>
          <p:nvPr/>
        </p:nvSpPr>
        <p:spPr>
          <a:xfrm>
            <a:off x="5905500" y="1460500"/>
            <a:ext cx="4445000" cy="50800"/>
          </a:xfrm>
          <a:prstGeom prst="rect">
            <a:avLst/>
          </a:prstGeom>
          <a:solidFill>
            <a:srgbClr val="455A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31"/>
          <p:cNvSpPr/>
          <p:nvPr/>
        </p:nvSpPr>
        <p:spPr>
          <a:xfrm>
            <a:off x="6159500" y="1676400"/>
            <a:ext cx="76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31"/>
          <p:cNvSpPr/>
          <p:nvPr/>
        </p:nvSpPr>
        <p:spPr>
          <a:xfrm>
            <a:off x="6159500" y="2120900"/>
            <a:ext cx="3937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LAB-03 — Prefix Filtering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31"/>
          <p:cNvSpPr/>
          <p:nvPr/>
        </p:nvSpPr>
        <p:spPr>
          <a:xfrm>
            <a:off x="6159500" y="2514600"/>
            <a:ext cx="3937000" cy="20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Kunci: route-map implicit deny — selalu ada permit any di akhir prefix-list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Lupa clear soft setelah ubah policy → perubahan tidak berlaku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31"/>
          <p:cNvSpPr/>
          <p:nvPr/>
        </p:nvSpPr>
        <p:spPr>
          <a:xfrm>
            <a:off x="10795000" y="1460500"/>
            <a:ext cx="4445000" cy="3302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31"/>
          <p:cNvSpPr/>
          <p:nvPr/>
        </p:nvSpPr>
        <p:spPr>
          <a:xfrm>
            <a:off x="10795000" y="1460500"/>
            <a:ext cx="4445000" cy="50800"/>
          </a:xfrm>
          <a:prstGeom prst="rect">
            <a:avLst/>
          </a:prstGeom>
          <a:solidFill>
            <a:srgbClr val="455A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31"/>
          <p:cNvSpPr/>
          <p:nvPr/>
        </p:nvSpPr>
        <p:spPr>
          <a:xfrm>
            <a:off x="11049000" y="1676400"/>
            <a:ext cx="76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31"/>
          <p:cNvSpPr/>
          <p:nvPr/>
        </p:nvSpPr>
        <p:spPr>
          <a:xfrm>
            <a:off x="11049000" y="2120900"/>
            <a:ext cx="3937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LAB-04 — Multi-homing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31"/>
          <p:cNvSpPr/>
          <p:nvPr/>
        </p:nvSpPr>
        <p:spPr>
          <a:xfrm>
            <a:off x="11049000" y="2514600"/>
            <a:ext cx="3937000" cy="20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Kunci: Local Pref = keluar, AS-path prepend = masuk — jangan tertukar!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Konfigurasi di KEDUA border (border-1: IDREN=300/350-univ, ISP-1=150; border-2: IIX=200, ISP-2=100)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Step 6: bgp as-path access-list UNIV-ID-DIRECT → prefix universitas langsung LocPrf 350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1" name="Google Shape;601;p31"/>
          <p:cNvCxnSpPr/>
          <p:nvPr/>
        </p:nvCxnSpPr>
        <p:spPr>
          <a:xfrm>
            <a:off x="1016000" y="5080000"/>
            <a:ext cx="14224000" cy="0"/>
          </a:xfrm>
          <a:prstGeom prst="straightConnector1">
            <a:avLst/>
          </a:prstGeom>
          <a:noFill/>
          <a:ln cap="flat" cmpd="sng" w="12700">
            <a:solidFill>
              <a:srgbClr val="CFD8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2" name="Google Shape;602;p31"/>
          <p:cNvSpPr/>
          <p:nvPr/>
        </p:nvSpPr>
        <p:spPr>
          <a:xfrm>
            <a:off x="1016000" y="5334000"/>
            <a:ext cx="5080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Ringkasan Hari 2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31"/>
          <p:cNvSpPr/>
          <p:nvPr/>
        </p:nvSpPr>
        <p:spPr>
          <a:xfrm>
            <a:off x="1016000" y="5086795"/>
            <a:ext cx="14223900" cy="25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45720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1800"/>
              <a:buFont typeface="Quattrocento Sans"/>
              <a:buChar char="●"/>
            </a:pPr>
            <a:r>
              <a:rPr b="1" i="0" lang="en-US" sz="18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iBGP:</a:t>
            </a:r>
            <a:r>
              <a:rPr b="0" i="0" lang="en-US" sz="18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remote-as sama, loopback peering, update-source lo, next-hop-self wajib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1800"/>
              <a:buFont typeface="Quattrocento Sans"/>
              <a:buChar char="●"/>
            </a:pPr>
            <a:r>
              <a:rPr b="1" i="0" lang="en-US" sz="18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BGP Policy:</a:t>
            </a:r>
            <a:r>
              <a:rPr b="0" i="0" lang="en-US" sz="18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prefix-list + route-map, outbound filter (hanya prefix sendiri), inbound bogon filter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1800"/>
              <a:buFont typeface="Quattrocento Sans"/>
              <a:buChar char="●"/>
            </a:pPr>
            <a:r>
              <a:rPr b="1" i="0" lang="en-US" sz="18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Multi-homing:</a:t>
            </a:r>
            <a:r>
              <a:rPr b="0" i="0" lang="en-US" sz="18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Local Preference (outbound), AS-path prepending (inbound), failover otomatis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4" name="Google Shape;604;p31"/>
          <p:cNvCxnSpPr/>
          <p:nvPr/>
        </p:nvCxnSpPr>
        <p:spPr>
          <a:xfrm>
            <a:off x="0" y="9093200"/>
            <a:ext cx="16256000" cy="0"/>
          </a:xfrm>
          <a:prstGeom prst="straightConnector1">
            <a:avLst/>
          </a:prstGeom>
          <a:noFill/>
          <a:ln cap="flat" cmpd="sng" w="50800">
            <a:solidFill>
              <a:srgbClr val="455A6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5" name="Google Shape;605;p31"/>
          <p:cNvSpPr/>
          <p:nvPr/>
        </p:nvSpPr>
        <p:spPr>
          <a:xfrm>
            <a:off x="14605000" y="8636000"/>
            <a:ext cx="1016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0A4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28 / 33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63238"/>
        </a:solidFill>
      </p:bgPr>
    </p:bg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1" name="Google Shape;611;p32"/>
          <p:cNvCxnSpPr/>
          <p:nvPr/>
        </p:nvCxnSpPr>
        <p:spPr>
          <a:xfrm>
            <a:off x="0" y="0"/>
            <a:ext cx="16256000" cy="0"/>
          </a:xfrm>
          <a:prstGeom prst="straightConnector1">
            <a:avLst/>
          </a:prstGeom>
          <a:noFill/>
          <a:ln cap="flat" cmpd="sng" w="50800">
            <a:solidFill>
              <a:srgbClr val="90A4A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2" name="Google Shape;612;p32"/>
          <p:cNvSpPr/>
          <p:nvPr/>
        </p:nvSpPr>
        <p:spPr>
          <a:xfrm>
            <a:off x="7413625" y="2159000"/>
            <a:ext cx="1428750" cy="1270000"/>
          </a:xfrm>
          <a:custGeom>
            <a:rect b="b" l="l" r="r" t="t"/>
            <a:pathLst>
              <a:path extrusionOk="0" h="1270000" w="1428750">
                <a:moveTo>
                  <a:pt x="615156" y="218281"/>
                </a:moveTo>
                <a:lnTo>
                  <a:pt x="813594" y="218281"/>
                </a:lnTo>
                <a:lnTo>
                  <a:pt x="813594" y="337344"/>
                </a:lnTo>
                <a:lnTo>
                  <a:pt x="615156" y="337344"/>
                </a:lnTo>
                <a:lnTo>
                  <a:pt x="615156" y="218281"/>
                </a:lnTo>
                <a:close/>
                <a:moveTo>
                  <a:pt x="595313" y="79375"/>
                </a:moveTo>
                <a:cubicBezTo>
                  <a:pt x="529580" y="79375"/>
                  <a:pt x="476250" y="132705"/>
                  <a:pt x="476250" y="198438"/>
                </a:cubicBezTo>
                <a:lnTo>
                  <a:pt x="476250" y="357188"/>
                </a:lnTo>
                <a:cubicBezTo>
                  <a:pt x="476250" y="422920"/>
                  <a:pt x="529580" y="476250"/>
                  <a:pt x="595313" y="476250"/>
                </a:cubicBezTo>
                <a:lnTo>
                  <a:pt x="635000" y="476250"/>
                </a:lnTo>
                <a:lnTo>
                  <a:pt x="635000" y="555625"/>
                </a:lnTo>
                <a:lnTo>
                  <a:pt x="79375" y="555625"/>
                </a:lnTo>
                <a:cubicBezTo>
                  <a:pt x="35471" y="555625"/>
                  <a:pt x="0" y="591096"/>
                  <a:pt x="0" y="635000"/>
                </a:cubicBezTo>
                <a:cubicBezTo>
                  <a:pt x="0" y="678904"/>
                  <a:pt x="35471" y="714375"/>
                  <a:pt x="79375" y="714375"/>
                </a:cubicBezTo>
                <a:lnTo>
                  <a:pt x="317500" y="714375"/>
                </a:lnTo>
                <a:lnTo>
                  <a:pt x="317500" y="793750"/>
                </a:lnTo>
                <a:lnTo>
                  <a:pt x="277813" y="793750"/>
                </a:lnTo>
                <a:cubicBezTo>
                  <a:pt x="212080" y="793750"/>
                  <a:pt x="158750" y="847080"/>
                  <a:pt x="158750" y="912813"/>
                </a:cubicBezTo>
                <a:lnTo>
                  <a:pt x="158750" y="1071563"/>
                </a:lnTo>
                <a:cubicBezTo>
                  <a:pt x="158750" y="1137295"/>
                  <a:pt x="212080" y="1190625"/>
                  <a:pt x="277813" y="1190625"/>
                </a:cubicBezTo>
                <a:lnTo>
                  <a:pt x="515937" y="1190625"/>
                </a:lnTo>
                <a:cubicBezTo>
                  <a:pt x="581670" y="1190625"/>
                  <a:pt x="635000" y="1137295"/>
                  <a:pt x="635000" y="1071563"/>
                </a:cubicBezTo>
                <a:lnTo>
                  <a:pt x="635000" y="912813"/>
                </a:lnTo>
                <a:cubicBezTo>
                  <a:pt x="635000" y="847080"/>
                  <a:pt x="581670" y="793750"/>
                  <a:pt x="515937" y="793750"/>
                </a:cubicBezTo>
                <a:lnTo>
                  <a:pt x="476250" y="793750"/>
                </a:lnTo>
                <a:lnTo>
                  <a:pt x="476250" y="714375"/>
                </a:lnTo>
                <a:lnTo>
                  <a:pt x="952500" y="714375"/>
                </a:lnTo>
                <a:lnTo>
                  <a:pt x="952500" y="793750"/>
                </a:lnTo>
                <a:lnTo>
                  <a:pt x="912813" y="793750"/>
                </a:lnTo>
                <a:cubicBezTo>
                  <a:pt x="847080" y="793750"/>
                  <a:pt x="793750" y="847080"/>
                  <a:pt x="793750" y="912813"/>
                </a:cubicBezTo>
                <a:lnTo>
                  <a:pt x="793750" y="1071563"/>
                </a:lnTo>
                <a:cubicBezTo>
                  <a:pt x="793750" y="1137295"/>
                  <a:pt x="847080" y="1190625"/>
                  <a:pt x="912813" y="1190625"/>
                </a:cubicBezTo>
                <a:lnTo>
                  <a:pt x="1150938" y="1190625"/>
                </a:lnTo>
                <a:cubicBezTo>
                  <a:pt x="1216670" y="1190625"/>
                  <a:pt x="1270000" y="1137295"/>
                  <a:pt x="1270000" y="1071563"/>
                </a:cubicBezTo>
                <a:lnTo>
                  <a:pt x="1270000" y="912813"/>
                </a:lnTo>
                <a:cubicBezTo>
                  <a:pt x="1270000" y="847080"/>
                  <a:pt x="1216670" y="793750"/>
                  <a:pt x="1150938" y="793750"/>
                </a:cubicBezTo>
                <a:lnTo>
                  <a:pt x="1111250" y="793750"/>
                </a:lnTo>
                <a:lnTo>
                  <a:pt x="1111250" y="714375"/>
                </a:lnTo>
                <a:lnTo>
                  <a:pt x="1349375" y="714375"/>
                </a:lnTo>
                <a:cubicBezTo>
                  <a:pt x="1393279" y="714375"/>
                  <a:pt x="1428750" y="678904"/>
                  <a:pt x="1428750" y="635000"/>
                </a:cubicBezTo>
                <a:cubicBezTo>
                  <a:pt x="1428750" y="591096"/>
                  <a:pt x="1393279" y="555625"/>
                  <a:pt x="1349375" y="555625"/>
                </a:cubicBezTo>
                <a:lnTo>
                  <a:pt x="793750" y="555625"/>
                </a:lnTo>
                <a:lnTo>
                  <a:pt x="793750" y="476250"/>
                </a:lnTo>
                <a:lnTo>
                  <a:pt x="833438" y="476250"/>
                </a:lnTo>
                <a:cubicBezTo>
                  <a:pt x="899170" y="476250"/>
                  <a:pt x="952500" y="422920"/>
                  <a:pt x="952500" y="357188"/>
                </a:cubicBezTo>
                <a:lnTo>
                  <a:pt x="952500" y="198438"/>
                </a:lnTo>
                <a:cubicBezTo>
                  <a:pt x="952500" y="132705"/>
                  <a:pt x="899170" y="79375"/>
                  <a:pt x="833438" y="79375"/>
                </a:cubicBezTo>
                <a:lnTo>
                  <a:pt x="595313" y="79375"/>
                </a:lnTo>
                <a:close/>
                <a:moveTo>
                  <a:pt x="1111250" y="932656"/>
                </a:moveTo>
                <a:lnTo>
                  <a:pt x="1131094" y="932656"/>
                </a:lnTo>
                <a:lnTo>
                  <a:pt x="1131094" y="1051719"/>
                </a:lnTo>
                <a:lnTo>
                  <a:pt x="932656" y="1051719"/>
                </a:lnTo>
                <a:lnTo>
                  <a:pt x="932656" y="932656"/>
                </a:lnTo>
                <a:lnTo>
                  <a:pt x="1111250" y="932656"/>
                </a:lnTo>
                <a:close/>
                <a:moveTo>
                  <a:pt x="476250" y="932656"/>
                </a:moveTo>
                <a:lnTo>
                  <a:pt x="496094" y="932656"/>
                </a:lnTo>
                <a:lnTo>
                  <a:pt x="496094" y="1051719"/>
                </a:lnTo>
                <a:lnTo>
                  <a:pt x="297656" y="1051719"/>
                </a:lnTo>
                <a:lnTo>
                  <a:pt x="297656" y="932656"/>
                </a:lnTo>
                <a:lnTo>
                  <a:pt x="476250" y="932656"/>
                </a:lnTo>
                <a:close/>
              </a:path>
            </a:pathLst>
          </a:custGeom>
          <a:solidFill>
            <a:srgbClr val="FFFFFF">
              <a:alpha val="627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32"/>
          <p:cNvSpPr/>
          <p:nvPr/>
        </p:nvSpPr>
        <p:spPr>
          <a:xfrm>
            <a:off x="3048000" y="3810000"/>
            <a:ext cx="10160000" cy="6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Hari 2 — Selesai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32"/>
          <p:cNvSpPr/>
          <p:nvPr/>
        </p:nvSpPr>
        <p:spPr>
          <a:xfrm>
            <a:off x="3048000" y="4635500"/>
            <a:ext cx="10160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0A4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SEE YOU TOMORROW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5" name="Google Shape;615;p32"/>
          <p:cNvCxnSpPr/>
          <p:nvPr/>
        </p:nvCxnSpPr>
        <p:spPr>
          <a:xfrm>
            <a:off x="6350000" y="5270500"/>
            <a:ext cx="3556000" cy="0"/>
          </a:xfrm>
          <a:prstGeom prst="straightConnector1">
            <a:avLst/>
          </a:prstGeom>
          <a:noFill/>
          <a:ln cap="flat" cmpd="sng" w="12700">
            <a:solidFill>
              <a:srgbClr val="90A4A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6" name="Google Shape;616;p32"/>
          <p:cNvSpPr/>
          <p:nvPr/>
        </p:nvSpPr>
        <p:spPr>
          <a:xfrm>
            <a:off x="3048000" y="5588000"/>
            <a:ext cx="10160000" cy="1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90A4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Jangan hapus lab dulu — containerlab destroy setelah diverifikasi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90A4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Lab yang belum selesai bisa dikerjakan malam ini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90A4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Pertanyaan → group chat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7" name="Google Shape;617;p32"/>
          <p:cNvCxnSpPr/>
          <p:nvPr/>
        </p:nvCxnSpPr>
        <p:spPr>
          <a:xfrm>
            <a:off x="0" y="9093200"/>
            <a:ext cx="16256000" cy="0"/>
          </a:xfrm>
          <a:prstGeom prst="straightConnector1">
            <a:avLst/>
          </a:prstGeom>
          <a:noFill/>
          <a:ln cap="flat" cmpd="sng" w="50800">
            <a:solidFill>
              <a:srgbClr val="90A4A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8" name="Google Shape;618;p32"/>
          <p:cNvSpPr/>
          <p:nvPr/>
        </p:nvSpPr>
        <p:spPr>
          <a:xfrm>
            <a:off x="14605000" y="8636000"/>
            <a:ext cx="1016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0A4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29 / 33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3" name="Google Shape;563;p30"/>
          <p:cNvCxnSpPr/>
          <p:nvPr/>
        </p:nvCxnSpPr>
        <p:spPr>
          <a:xfrm>
            <a:off x="0" y="0"/>
            <a:ext cx="16256000" cy="0"/>
          </a:xfrm>
          <a:prstGeom prst="straightConnector1">
            <a:avLst/>
          </a:prstGeom>
          <a:noFill/>
          <a:ln cap="flat" cmpd="sng" w="50800">
            <a:solidFill>
              <a:srgbClr val="455A6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4" name="Google Shape;564;p30"/>
          <p:cNvSpPr/>
          <p:nvPr/>
        </p:nvSpPr>
        <p:spPr>
          <a:xfrm>
            <a:off x="1016000" y="2540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>
              <a:rPr b="0" i="0" lang="en-US" sz="1200" u="none" cap="none" strike="noStrike">
                <a:solidFill>
                  <a:srgbClr val="90A4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SESI 8 — LAB-04</a:t>
            </a:r>
          </a:p>
        </p:txBody>
      </p:sp>
      <p:sp>
        <p:nvSpPr>
          <p:cNvPr id="565" name="Google Shape;565;p30"/>
          <p:cNvSpPr/>
          <p:nvPr/>
        </p:nvSpPr>
        <p:spPr>
          <a:xfrm>
            <a:off x="1016000" y="635000"/>
            <a:ext cx="114300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>
              <a:rPr b="1" i="0" lang="en-US" sz="28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LAB-04 — Step 6: AS-path Filter UNIV-ID-DIRECT</a:t>
            </a:r>
          </a:p>
        </p:txBody>
      </p:sp>
      <p:cxnSp>
        <p:nvCxnSpPr>
          <p:cNvPr id="566" name="Google Shape;566;p30"/>
          <p:cNvCxnSpPr/>
          <p:nvPr/>
        </p:nvCxnSpPr>
        <p:spPr>
          <a:xfrm>
            <a:off x="1016000" y="1143000"/>
            <a:ext cx="14224000" cy="0"/>
          </a:xfrm>
          <a:prstGeom prst="straightConnector1">
            <a:avLst/>
          </a:prstGeom>
          <a:noFill/>
          <a:ln cap="flat" cmpd="sng" w="12700">
            <a:solidFill>
              <a:srgbClr val="CFD8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7" name="Google Shape;567;p30"/>
          <p:cNvSpPr/>
          <p:nvPr/>
        </p:nvSpPr>
        <p:spPr>
          <a:xfrm>
            <a:off x="1016000" y="1397000"/>
            <a:ext cx="7112000" cy="5080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30"/>
          <p:cNvSpPr/>
          <p:nvPr/>
        </p:nvSpPr>
        <p:spPr>
          <a:xfrm>
            <a:off x="1016000" y="1397000"/>
            <a:ext cx="7112000" cy="50800"/>
          </a:xfrm>
          <a:prstGeom prst="rect">
            <a:avLst/>
          </a:prstGeom>
          <a:solidFill>
            <a:srgbClr val="455A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30"/>
          <p:cNvSpPr/>
          <p:nvPr/>
        </p:nvSpPr>
        <p:spPr>
          <a:xfrm>
            <a:off x="1270000" y="15494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>
              <a:rPr b="1" i="0" lang="en-US" sz="16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Konfigurasi border-1</a:t>
            </a:r>
          </a:p>
        </p:txBody>
      </p:sp>
      <p:sp>
        <p:nvSpPr>
          <p:cNvPr id="570" name="Google Shape;570;p30"/>
          <p:cNvSpPr/>
          <p:nvPr/>
        </p:nvSpPr>
        <p:spPr>
          <a:xfrm>
            <a:off x="1270000" y="1968500"/>
            <a:ext cx="6604000" cy="43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>
              <a:rPr b="1" i="0" lang="en-US" sz="11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configure terminal</a:t>
            </a: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>
              <a:rPr b="1" i="0" lang="en-US" sz="11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! ASN universitas Indonesia anggota IDREN</a:t>
            </a: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>
              <a:rPr b="1" i="0" lang="en-US" sz="11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bgp as-path access-list UNIV-ID-DIRECT permit</a:t>
            </a: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>
              <a:rPr b="1" i="0" lang="en-US" sz="11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^(7642|7654|24855|45166|45974|45958|45997)$</a:t>
            </a: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>
              <a:rPr b="1" i="0" lang="en-US" sz="11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 route-map IMPORT-FROM-IDREN permit 10</a:t>
            </a: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>
              <a:rPr b="1" i="0" lang="en-US" sz="11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route-map IMPORT-FROM-IDREN permit 10</a:t>
            </a: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>
              <a:rPr b="1" i="0" lang="en-US" sz="11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match as-path UNIV-ID-DIRECT</a:t>
            </a: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>
              <a:rPr b="1" i="0" lang="en-US" sz="11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set local-preference 350</a:t>
            </a: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>
              <a:rPr b="1" i="0" lang="en-US" sz="11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route-map IMPORT-FROM-IDREN permit 20</a:t>
            </a: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>
              <a:rPr b="1" i="0" lang="en-US" sz="11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set local-preference 300</a:t>
            </a: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>
              <a:rPr b="1" i="0" lang="en-US" sz="11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</a:t>
            </a: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>
              <a:rPr b="1" i="0" lang="en-US" sz="11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write memory</a:t>
            </a: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>
              <a:rPr b="1" i="0" lang="en-US" sz="11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clear ip bgp 100.64.0.1 soft in</a:t>
            </a:r>
          </a:p>
        </p:txBody>
      </p:sp>
      <p:sp>
        <p:nvSpPr>
          <p:cNvPr id="571" name="Google Shape;571;p30"/>
          <p:cNvSpPr/>
          <p:nvPr/>
        </p:nvSpPr>
        <p:spPr>
          <a:xfrm>
            <a:off x="8382000" y="1397000"/>
            <a:ext cx="6858000" cy="5080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30"/>
          <p:cNvSpPr/>
          <p:nvPr/>
        </p:nvSpPr>
        <p:spPr>
          <a:xfrm>
            <a:off x="8382000" y="1397000"/>
            <a:ext cx="6858000" cy="50800"/>
          </a:xfrm>
          <a:prstGeom prst="rect">
            <a:avLst/>
          </a:prstGeom>
          <a:solidFill>
            <a:srgbClr val="455A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30"/>
          <p:cNvSpPr/>
          <p:nvPr/>
        </p:nvSpPr>
        <p:spPr>
          <a:xfrm>
            <a:off x="8636000" y="15494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>
              <a:rPr b="1" i="0" lang="en-US" sz="1600" u="none" cap="none" strike="noStrike">
                <a:solidFill>
                  <a:srgbClr val="455A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Verifikasi Step 6</a:t>
            </a:r>
          </a:p>
        </p:txBody>
      </p:sp>
      <p:sp>
        <p:nvSpPr>
          <p:cNvPr id="574" name="Google Shape;574;p30"/>
          <p:cNvSpPr/>
          <p:nvPr/>
        </p:nvSpPr>
        <p:spPr>
          <a:xfrm>
            <a:off x="8636000" y="1968500"/>
            <a:ext cx="6350000" cy="43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>
              <a:rPr b="1" i="0" lang="en-US" sz="11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show bgp ipv4 unicast 152.118.0.0/16</a:t>
            </a: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>
              <a:rPr b="1" i="0" lang="en-US" sz="11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 IDREN (AS-path 7642): localpref 350, best ✓</a:t>
            </a: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>
              <a:rPr b="1" i="0" lang="en-US" sz="11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 ISP-1 (AS-path 7713 23700 7642): localpref 150 ✓</a:t>
            </a: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>
              <a:rPr b="1" i="0" lang="en-US" sz="11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show bgp ipv4 unicast regexp</a:t>
            </a: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>
              <a:rPr b="1" i="0" lang="en-US" sz="11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^(7642|7654|24855|45166|45974|45958|45997)$</a:t>
            </a: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>
              <a:rPr b="1" i="0" lang="en-US" sz="11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 6+ prefix universitas, LocPrf 350 ✓</a:t>
            </a: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>
              <a:rPr b="1" i="0" lang="en-US" sz="11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 border-2 (iBGP):</a:t>
            </a: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>
              <a:rPr b="1" i="0" lang="en-US" sz="11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show bgp ipv4 unicast 152.118.0.0/16</a:t>
            </a: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>
              <a:rPr b="1" i="0" lang="en-US" sz="1100" u="none" cap="none" strike="noStrike">
                <a:solidFill>
                  <a:srgbClr val="3747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 localpref 350, internal, best ✓</a:t>
            </a:r>
          </a:p>
        </p:txBody>
      </p:sp>
      <p:cxnSp>
        <p:nvCxnSpPr>
          <p:cNvPr id="575" name="Google Shape;575;p30"/>
          <p:cNvCxnSpPr/>
          <p:nvPr/>
        </p:nvCxnSpPr>
        <p:spPr>
          <a:xfrm>
            <a:off x="0" y="9093200"/>
            <a:ext cx="16256000" cy="0"/>
          </a:xfrm>
          <a:prstGeom prst="straightConnector1">
            <a:avLst/>
          </a:prstGeom>
          <a:noFill/>
          <a:ln cap="flat" cmpd="sng" w="50800">
            <a:solidFill>
              <a:srgbClr val="455A6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6" name="Google Shape;576;p30"/>
          <p:cNvSpPr/>
          <p:nvPr/>
        </p:nvSpPr>
        <p:spPr>
          <a:xfrm>
            <a:off x="14605000" y="8636000"/>
            <a:ext cx="1016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>
              <a:rPr b="0" i="0" lang="en-US" sz="1400" u="none" cap="none" strike="noStrike">
                <a:solidFill>
                  <a:srgbClr val="90A4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27 / 33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